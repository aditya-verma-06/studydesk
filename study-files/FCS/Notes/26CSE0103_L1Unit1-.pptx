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47" r:id="rId42"/>
    <p:sldId id="348" r:id="rId43"/>
    <p:sldId id="349" r:id="rId44"/>
    <p:sldId id="350" r:id="rId45"/>
    <p:sldId id="351" r:id="rId46"/>
    <p:sldId id="352" r:id="rId47"/>
    <p:sldId id="296" r:id="rId4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bUv45kTsf9Hh6oT/0lCdKDDgQ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D73854-553D-466A-B30C-B7EB81928990}">
  <a:tblStyle styleId="{46D73854-553D-466A-B30C-B7EB81928990}" styleName="Table_0">
    <a:wholeTbl>
      <a:tcTxStyle b="off" i="off">
        <a:font>
          <a:latin typeface="Arial"/>
          <a:ea typeface="Arial"/>
          <a:cs typeface="Arial"/>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3"/>
              </a:solidFill>
              <a:prstDash val="solid"/>
              <a:round/>
              <a:headEnd type="none" w="sm" len="sm"/>
              <a:tailEnd type="none" w="sm" len="sm"/>
            </a:ln>
          </a:top>
        </a:tcBdr>
        <a:fill>
          <a:solidFill>
            <a:srgbClr val="EFF3E9"/>
          </a:solidFill>
        </a:fill>
      </a:tcStyle>
    </a:lastRow>
    <a:seCell>
      <a:tcTxStyle/>
      <a:tcStyle>
        <a:tcBdr/>
      </a:tcStyle>
    </a:seCell>
    <a:swCell>
      <a:tcTxStyle/>
      <a:tcStyle>
        <a:tcBdr/>
      </a:tcStyle>
    </a:swCell>
    <a:firstRow>
      <a:tcTxStyle b="on" i="off"/>
      <a:tcStyle>
        <a:tcBdr/>
        <a:fill>
          <a:solidFill>
            <a:srgbClr val="EFF3E9"/>
          </a:solidFill>
        </a:fill>
      </a:tcStyle>
    </a:firstRow>
    <a:neCell>
      <a:tcTxStyle/>
      <a:tcStyle>
        <a:tcBdr/>
      </a:tcStyle>
    </a:neCell>
    <a:nwCell>
      <a:tcTxStyle/>
      <a:tcStyle>
        <a:tcBdr/>
      </a:tcStyle>
    </a:nwCell>
  </a:tblStyle>
  <a:tblStyle styleId="{AC9043A2-BFE7-45F1-85D9-B2EE3EF69A1F}" styleName="Table_1">
    <a:wholeTbl>
      <a:tcTxStyle b="off" i="off">
        <a:font>
          <a:latin typeface="Arial"/>
          <a:ea typeface="Arial"/>
          <a:cs typeface="Arial"/>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FF3E9"/>
          </a:solidFill>
        </a:fill>
      </a:tcStyle>
    </a:band1H>
    <a:band2H>
      <a:tcTxStyle/>
      <a:tcStyle>
        <a:tcBdr/>
      </a:tcStyle>
    </a:band2H>
    <a:band1V>
      <a:tcTxStyle/>
      <a:tcStyle>
        <a:tcBdr/>
        <a:fill>
          <a:solidFill>
            <a:srgbClr val="EFF3E9"/>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3"/>
          </a:solidFill>
        </a:fill>
      </a:tcStyle>
    </a:firstRow>
    <a:neCell>
      <a:tcTxStyle/>
      <a:tcStyle>
        <a:tcBdr/>
      </a:tcStyle>
    </a:neCell>
    <a:nwCell>
      <a:tcTxStyle/>
      <a:tcStyle>
        <a:tcBdr/>
      </a:tcStyle>
    </a:nwCell>
  </a:tblStyle>
  <a:tblStyle styleId="{199520CF-0242-41DD-9577-A889C43BBA71}"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4" name="Google Shape;4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1" name="Google Shape;5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 name="Google Shape;5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4" name="Google Shape;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0" name="Google Shape;7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7" name="Google Shape;7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84" name="Google Shape;8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2" name="Google Shape;9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9" name="Google Shape;9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06" name="Google Shape;1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3" name="Google Shape;11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0" name="Google Shape;12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4" name="Google Shape;14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49" name="Google Shape;14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57" name="Google Shape;15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64" name="Google Shape;16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71" name="Google Shape;17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78" name="Google Shape;17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6" name="Google Shape;186;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4" name="Google Shape;194;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02" name="Google Shape;202;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10" name="Google Shape;2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16" name="Google Shape;21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24" name="Google Shape;22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2" name="Google Shape;232;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0" name="Google Shape;240;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6" name="Google Shape;24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7" name="Google Shape;267;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3" name="Google Shape;27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81" name="Google Shape;281;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99" name="Google Shape;29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14" name="Google Shape;31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20" name="Google Shape;320;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0" name="Google Shape;330;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37" name="Google Shape;337;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45" name="Google Shape;345;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56" name="Google Shape;356;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1" name="Google Shape;411;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7" name="Google Shape;417;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6"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36"/>
          <p:cNvGrpSpPr/>
          <p:nvPr/>
        </p:nvGrpSpPr>
        <p:grpSpPr>
          <a:xfrm>
            <a:off x="6146800" y="0"/>
            <a:ext cx="2997200" cy="876300"/>
            <a:chOff x="6096000" y="3924300"/>
            <a:chExt cx="2997200" cy="876300"/>
          </a:xfrm>
        </p:grpSpPr>
        <p:sp>
          <p:nvSpPr>
            <p:cNvPr id="27" name="Google Shape;27;p3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36"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36"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3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3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3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9" name="Google Shape;39;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6"/>
        <p:cNvGrpSpPr/>
        <p:nvPr/>
      </p:nvGrpSpPr>
      <p:grpSpPr>
        <a:xfrm>
          <a:off x="0" y="0"/>
          <a:ext cx="0" cy="0"/>
          <a:chOff x="0" y="0"/>
          <a:chExt cx="0" cy="0"/>
        </a:xfrm>
      </p:grpSpPr>
      <p:sp>
        <p:nvSpPr>
          <p:cNvPr id="27" name="Google Shape;27;p27"/>
          <p:cNvSpPr/>
          <p:nvPr/>
        </p:nvSpPr>
        <p:spPr>
          <a:xfrm>
            <a:off x="0" y="0"/>
            <a:ext cx="9144000" cy="838200"/>
          </a:xfrm>
          <a:custGeom>
            <a:avLst/>
            <a:gdLst/>
            <a:ahLst/>
            <a:cxnLst/>
            <a:rect l="l" t="t" r="r" b="b"/>
            <a:pathLst>
              <a:path w="9144000" h="838200" extrusionOk="0">
                <a:moveTo>
                  <a:pt x="9144000" y="0"/>
                </a:moveTo>
                <a:lnTo>
                  <a:pt x="0" y="0"/>
                </a:lnTo>
                <a:lnTo>
                  <a:pt x="0" y="838200"/>
                </a:lnTo>
                <a:lnTo>
                  <a:pt x="9144000" y="838200"/>
                </a:lnTo>
                <a:lnTo>
                  <a:pt x="9144000" y="0"/>
                </a:lnTo>
                <a:close/>
              </a:path>
            </a:pathLst>
          </a:custGeom>
          <a:solidFill>
            <a:srgbClr val="FF33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27"/>
          <p:cNvPicPr preferRelativeResize="0"/>
          <p:nvPr/>
        </p:nvPicPr>
        <p:blipFill rotWithShape="1">
          <a:blip r:embed="rId2">
            <a:alphaModFix/>
          </a:blip>
          <a:srcRect/>
          <a:stretch/>
        </p:blipFill>
        <p:spPr>
          <a:xfrm>
            <a:off x="0" y="6755891"/>
            <a:ext cx="8993886" cy="101346"/>
          </a:xfrm>
          <a:prstGeom prst="rect">
            <a:avLst/>
          </a:prstGeom>
          <a:noFill/>
          <a:ln>
            <a:noFill/>
          </a:ln>
        </p:spPr>
      </p:pic>
      <p:pic>
        <p:nvPicPr>
          <p:cNvPr id="29" name="Google Shape;29;p27"/>
          <p:cNvPicPr preferRelativeResize="0"/>
          <p:nvPr/>
        </p:nvPicPr>
        <p:blipFill rotWithShape="1">
          <a:blip r:embed="rId3">
            <a:alphaModFix/>
          </a:blip>
          <a:srcRect/>
          <a:stretch/>
        </p:blipFill>
        <p:spPr>
          <a:xfrm>
            <a:off x="6553199" y="228600"/>
            <a:ext cx="2057400" cy="635508"/>
          </a:xfrm>
          <a:prstGeom prst="rect">
            <a:avLst/>
          </a:prstGeom>
          <a:noFill/>
          <a:ln>
            <a:noFill/>
          </a:ln>
        </p:spPr>
      </p:pic>
      <p:sp>
        <p:nvSpPr>
          <p:cNvPr id="30" name="Google Shape;30;p27"/>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t>‹#›</a:t>
            </a:fld>
            <a:endParaRPr sz="1800">
              <a:latin typeface="Calibri"/>
              <a:ea typeface="Calibri"/>
              <a:cs typeface="Calibri"/>
              <a:sym typeface="Calibri"/>
            </a:endParaRPr>
          </a:p>
        </p:txBody>
      </p:sp>
    </p:spTree>
    <p:extLst>
      <p:ext uri="{BB962C8B-B14F-4D97-AF65-F5344CB8AC3E}">
        <p14:creationId xmlns:p14="http://schemas.microsoft.com/office/powerpoint/2010/main" val="85989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5"/>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35"/>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35"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35"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35"/>
          <p:cNvGrpSpPr/>
          <p:nvPr/>
        </p:nvGrpSpPr>
        <p:grpSpPr>
          <a:xfrm>
            <a:off x="6146800" y="0"/>
            <a:ext cx="2997200" cy="876300"/>
            <a:chOff x="6096000" y="3924300"/>
            <a:chExt cx="2997200" cy="876300"/>
          </a:xfrm>
        </p:grpSpPr>
        <p:sp>
          <p:nvSpPr>
            <p:cNvPr id="20" name="Google Shape;20;p3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35"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3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35"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digital-logic/microcontroller-and-its-type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g"/><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image" Target="../media/image33.png"/><Relationship Id="rId7" Type="http://schemas.openxmlformats.org/officeDocument/2006/relationships/image" Target="../media/image37.jp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6.jp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jpg"/><Relationship Id="rId4" Type="http://schemas.openxmlformats.org/officeDocument/2006/relationships/image" Target="../media/image34.png"/><Relationship Id="rId9" Type="http://schemas.openxmlformats.org/officeDocument/2006/relationships/image" Target="../media/image39.png"/></Relationships>
</file>

<file path=ppt/slides/_rels/slide3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p:nvPr/>
        </p:nvSpPr>
        <p:spPr>
          <a:xfrm>
            <a:off x="1219200" y="914400"/>
            <a:ext cx="6553200" cy="1981200"/>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Foundations of Computer Science (26CSE0103)</a:t>
            </a:r>
            <a:endParaRPr sz="3200" b="1" i="0" u="none" strike="noStrike" cap="none">
              <a:solidFill>
                <a:srgbClr val="3A30FA"/>
              </a:solidFill>
              <a:latin typeface="Calibri"/>
              <a:ea typeface="Calibri"/>
              <a:cs typeface="Calibri"/>
              <a:sym typeface="Calibri"/>
            </a:endParaRPr>
          </a:p>
        </p:txBody>
      </p:sp>
      <p:sp>
        <p:nvSpPr>
          <p:cNvPr id="47" name="Google Shape;47;p1"/>
          <p:cNvSpPr txBox="1"/>
          <p:nvPr/>
        </p:nvSpPr>
        <p:spPr>
          <a:xfrm>
            <a:off x="2318999" y="3530300"/>
            <a:ext cx="4406265" cy="110795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Prepared By: Dr. Tajinder Kaur</a:t>
            </a:r>
            <a:endParaRPr sz="2200" b="1" i="0" u="none" strike="noStrike" cap="none">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2200"/>
              <a:buFont typeface="Arial"/>
              <a:buNone/>
            </a:pPr>
            <a:endParaRPr sz="2200" b="1" i="0" u="none" strike="noStrike" cap="none">
              <a:solidFill>
                <a:schemeClr val="dk1"/>
              </a:solidFill>
              <a:latin typeface="Times New Roman"/>
              <a:ea typeface="Times New Roman"/>
              <a:cs typeface="Times New Roman"/>
              <a:sym typeface="Times New Roman"/>
            </a:endParaRPr>
          </a:p>
        </p:txBody>
      </p:sp>
      <p:sp>
        <p:nvSpPr>
          <p:cNvPr id="48" name="Google Shape;48;p1"/>
          <p:cNvSpPr txBox="1"/>
          <p:nvPr/>
        </p:nvSpPr>
        <p:spPr>
          <a:xfrm>
            <a:off x="1731675" y="5609050"/>
            <a:ext cx="61512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Institute of Engineering and Technology,</a:t>
            </a:r>
            <a:endParaRPr sz="1800" b="1" i="0"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Punjab</a:t>
            </a:r>
            <a:endParaRPr sz="18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2"/>
          <p:cNvSpPr txBox="1"/>
          <p:nvPr/>
        </p:nvSpPr>
        <p:spPr>
          <a:xfrm>
            <a:off x="167148" y="115669"/>
            <a:ext cx="4739149" cy="5539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chemeClr val="dk1"/>
                </a:solidFill>
                <a:latin typeface="Calibri"/>
                <a:ea typeface="Calibri"/>
                <a:cs typeface="Calibri"/>
                <a:sym typeface="Calibri"/>
              </a:rPr>
              <a:t>Contents</a:t>
            </a:r>
            <a:endParaRPr sz="3000" b="1" i="0" u="none" strike="noStrike" cap="none">
              <a:solidFill>
                <a:schemeClr val="dk1"/>
              </a:solidFill>
              <a:latin typeface="Calibri"/>
              <a:ea typeface="Calibri"/>
              <a:cs typeface="Calibri"/>
              <a:sym typeface="Calibri"/>
            </a:endParaRPr>
          </a:p>
        </p:txBody>
      </p:sp>
      <p:sp>
        <p:nvSpPr>
          <p:cNvPr id="54" name="Google Shape;54;p12"/>
          <p:cNvSpPr txBox="1">
            <a:spLocks noGrp="1"/>
          </p:cNvSpPr>
          <p:nvPr>
            <p:ph type="ctrTitle"/>
          </p:nvPr>
        </p:nvSpPr>
        <p:spPr>
          <a:xfrm>
            <a:off x="167148" y="1351935"/>
            <a:ext cx="6253316" cy="1023682"/>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sz="2400" b="1">
                <a:solidFill>
                  <a:schemeClr val="dk1"/>
                </a:solidFill>
                <a:latin typeface="Calibri"/>
                <a:ea typeface="Calibri"/>
                <a:cs typeface="Calibri"/>
                <a:sym typeface="Calibri"/>
              </a:rPr>
              <a:t>UNIT-1 -</a:t>
            </a:r>
            <a:r>
              <a:rPr lang="en-US" sz="2800" b="1">
                <a:solidFill>
                  <a:schemeClr val="dk1"/>
                </a:solidFill>
                <a:latin typeface="Calibri"/>
                <a:ea typeface="Calibri"/>
                <a:cs typeface="Calibri"/>
                <a:sym typeface="Calibri"/>
              </a:rPr>
              <a:t>Introduction to Computers</a:t>
            </a:r>
            <a:br>
              <a:rPr lang="en-US" sz="2800" b="1">
                <a:solidFill>
                  <a:schemeClr val="dk1"/>
                </a:solidFill>
                <a:latin typeface="Calibri"/>
                <a:ea typeface="Calibri"/>
                <a:cs typeface="Calibri"/>
                <a:sym typeface="Calibri"/>
              </a:rPr>
            </a:br>
            <a:endParaRPr sz="2400" b="1">
              <a:solidFill>
                <a:schemeClr val="dk1"/>
              </a:solidFill>
              <a:latin typeface="Calibri"/>
              <a:ea typeface="Calibri"/>
              <a:cs typeface="Calibri"/>
              <a:sym typeface="Calibri"/>
            </a:endParaRPr>
          </a:p>
        </p:txBody>
      </p:sp>
      <p:sp>
        <p:nvSpPr>
          <p:cNvPr id="55" name="Google Shape;55;p12"/>
          <p:cNvSpPr txBox="1">
            <a:spLocks noGrp="1"/>
          </p:cNvSpPr>
          <p:nvPr>
            <p:ph type="subTitle" idx="1"/>
          </p:nvPr>
        </p:nvSpPr>
        <p:spPr>
          <a:xfrm>
            <a:off x="442451" y="2198637"/>
            <a:ext cx="7718323" cy="3443951"/>
          </a:xfrm>
          <a:prstGeom prst="rect">
            <a:avLst/>
          </a:prstGeom>
          <a:noFill/>
          <a:ln>
            <a:noFill/>
          </a:ln>
        </p:spPr>
        <p:txBody>
          <a:bodyPr spcFirstLastPara="1" wrap="square" lIns="91425" tIns="45700" rIns="91425" bIns="45700" anchor="t" anchorCtr="0">
            <a:normAutofit/>
          </a:bodyPr>
          <a:lstStyle/>
          <a:p>
            <a:pPr marL="457200" lvl="0" indent="-431800" algn="just" rtl="0">
              <a:lnSpc>
                <a:spcPct val="170000"/>
              </a:lnSpc>
              <a:spcBef>
                <a:spcPts val="640"/>
              </a:spcBef>
              <a:spcAft>
                <a:spcPts val="0"/>
              </a:spcAft>
              <a:buSzPts val="3200"/>
              <a:buFont typeface="Noto Sans Symbols"/>
              <a:buChar char="▪"/>
            </a:pPr>
            <a:r>
              <a:rPr lang="en-US" sz="1600">
                <a:solidFill>
                  <a:schemeClr val="dk1"/>
                </a:solidFill>
                <a:latin typeface="Calibri"/>
                <a:ea typeface="Calibri"/>
                <a:cs typeface="Calibri"/>
                <a:sym typeface="Calibri"/>
              </a:rPr>
              <a:t>Characteristics, </a:t>
            </a:r>
            <a:endParaRPr/>
          </a:p>
          <a:p>
            <a:pPr marL="457200" lvl="0" indent="-431800" algn="just" rtl="0">
              <a:lnSpc>
                <a:spcPct val="170000"/>
              </a:lnSpc>
              <a:spcBef>
                <a:spcPts val="640"/>
              </a:spcBef>
              <a:spcAft>
                <a:spcPts val="0"/>
              </a:spcAft>
              <a:buSzPts val="3200"/>
              <a:buFont typeface="Noto Sans Symbols"/>
              <a:buChar char="▪"/>
            </a:pPr>
            <a:r>
              <a:rPr lang="en-US" sz="1600">
                <a:solidFill>
                  <a:schemeClr val="dk1"/>
                </a:solidFill>
                <a:latin typeface="Calibri"/>
                <a:ea typeface="Calibri"/>
                <a:cs typeface="Calibri"/>
                <a:sym typeface="Calibri"/>
              </a:rPr>
              <a:t>Applications in daily life (Education, Healthcare, Banking, Engineering), </a:t>
            </a:r>
            <a:endParaRPr/>
          </a:p>
          <a:p>
            <a:pPr marL="457200" lvl="0" indent="-431800" algn="just" rtl="0">
              <a:lnSpc>
                <a:spcPct val="170000"/>
              </a:lnSpc>
              <a:spcBef>
                <a:spcPts val="640"/>
              </a:spcBef>
              <a:spcAft>
                <a:spcPts val="0"/>
              </a:spcAft>
              <a:buSzPts val="3200"/>
              <a:buFont typeface="Noto Sans Symbols"/>
              <a:buChar char="▪"/>
            </a:pPr>
            <a:r>
              <a:rPr lang="en-US" sz="1600">
                <a:solidFill>
                  <a:schemeClr val="dk1"/>
                </a:solidFill>
                <a:latin typeface="Calibri"/>
                <a:ea typeface="Calibri"/>
                <a:cs typeface="Calibri"/>
                <a:sym typeface="Calibri"/>
              </a:rPr>
              <a:t>Evolution and Generations of Computers (Generations I–V). </a:t>
            </a:r>
            <a:endParaRPr/>
          </a:p>
          <a:p>
            <a:pPr marL="457200" lvl="0" indent="-431800" algn="just" rtl="0">
              <a:lnSpc>
                <a:spcPct val="170000"/>
              </a:lnSpc>
              <a:spcBef>
                <a:spcPts val="640"/>
              </a:spcBef>
              <a:spcAft>
                <a:spcPts val="0"/>
              </a:spcAft>
              <a:buSzPts val="3200"/>
              <a:buFont typeface="Noto Sans Symbols"/>
              <a:buChar char="▪"/>
            </a:pPr>
            <a:r>
              <a:rPr lang="en-US" sz="1600">
                <a:solidFill>
                  <a:schemeClr val="dk1"/>
                </a:solidFill>
                <a:latin typeface="Calibri"/>
                <a:ea typeface="Calibri"/>
                <a:cs typeface="Calibri"/>
                <a:sym typeface="Calibri"/>
              </a:rPr>
              <a:t>Block Diagram of a Computer System: Functional units - input, output, memory, CPU, ALU, Control Unit, and CPU Registers, description of data bus, address bus, control bus, component interaction.</a:t>
            </a:r>
            <a:endParaRPr/>
          </a:p>
          <a:p>
            <a:pPr marL="457200" lvl="0" indent="-228600" algn="just" rtl="0">
              <a:lnSpc>
                <a:spcPct val="100000"/>
              </a:lnSpc>
              <a:spcBef>
                <a:spcPts val="640"/>
              </a:spcBef>
              <a:spcAft>
                <a:spcPts val="0"/>
              </a:spcAft>
              <a:buSzPts val="3200"/>
              <a:buFont typeface="Noto Sans Symbols"/>
              <a:buNone/>
            </a:pPr>
            <a:endParaRPr sz="16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2"/>
          <p:cNvPicPr preferRelativeResize="0"/>
          <p:nvPr/>
        </p:nvPicPr>
        <p:blipFill rotWithShape="1">
          <a:blip r:embed="rId3">
            <a:alphaModFix/>
          </a:blip>
          <a:srcRect/>
          <a:stretch/>
        </p:blipFill>
        <p:spPr>
          <a:xfrm>
            <a:off x="203200" y="848360"/>
            <a:ext cx="8737600" cy="5825067"/>
          </a:xfrm>
          <a:prstGeom prst="rect">
            <a:avLst/>
          </a:prstGeom>
          <a:noFill/>
          <a:ln>
            <a:noFill/>
          </a:ln>
        </p:spPr>
      </p:pic>
      <p:sp>
        <p:nvSpPr>
          <p:cNvPr id="61" name="Google Shape;61;p2"/>
          <p:cNvSpPr txBox="1"/>
          <p:nvPr/>
        </p:nvSpPr>
        <p:spPr>
          <a:xfrm>
            <a:off x="224912" y="0"/>
            <a:ext cx="548640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3000" b="1" i="0" u="none" strike="noStrike" cap="none">
                <a:solidFill>
                  <a:schemeClr val="dk1"/>
                </a:solidFill>
                <a:latin typeface="Calibri"/>
                <a:ea typeface="Calibri"/>
                <a:cs typeface="Calibri"/>
                <a:sym typeface="Calibri"/>
              </a:rPr>
              <a:t>Computer?</a:t>
            </a:r>
            <a:endParaRPr sz="3000" b="1"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67" name="Google Shape;67;p13"/>
          <p:cNvSpPr txBox="1"/>
          <p:nvPr/>
        </p:nvSpPr>
        <p:spPr>
          <a:xfrm>
            <a:off x="405580" y="1046480"/>
            <a:ext cx="8332839" cy="513986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 computer is an electronic machine that takes data as input, processes it, and gives the result as output. It works according to instructions (programs) given by the user and performs calculations, data analysis, file management, graphic design, internet browsing, and many other tasks quickly and accurately.</a:t>
            </a:r>
            <a:endParaRPr/>
          </a:p>
          <a:p>
            <a:pPr marL="0" marR="0" lvl="0" indent="0" algn="just" rtl="0">
              <a:lnSpc>
                <a:spcPct val="100000"/>
              </a:lnSpc>
              <a:spcBef>
                <a:spcPts val="60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just" rtl="0">
              <a:lnSpc>
                <a:spcPct val="100000"/>
              </a:lnSpc>
              <a:spcBef>
                <a:spcPts val="60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The working system of a computer depends on </a:t>
            </a:r>
            <a:endParaRPr/>
          </a:p>
          <a:p>
            <a:pPr marL="342900" marR="0" lvl="0" indent="-342900" algn="just" rtl="0">
              <a:lnSpc>
                <a:spcPct val="100000"/>
              </a:lnSpc>
              <a:spcBef>
                <a:spcPts val="600"/>
              </a:spcBef>
              <a:spcAft>
                <a:spcPts val="0"/>
              </a:spcAft>
              <a:buClr>
                <a:srgbClr val="000000"/>
              </a:buClr>
              <a:buSzPts val="1800"/>
              <a:buFont typeface="Arial"/>
              <a:buChar char="•"/>
            </a:pPr>
            <a:r>
              <a:rPr lang="en-US" sz="1800" b="0" i="0" u="none" strike="noStrike" cap="none">
                <a:solidFill>
                  <a:srgbClr val="000000"/>
                </a:solidFill>
                <a:latin typeface="Calibri"/>
                <a:ea typeface="Calibri"/>
                <a:cs typeface="Calibri"/>
                <a:sym typeface="Calibri"/>
              </a:rPr>
              <a:t>Hardware (physical parts like monitor, keyboard, CPU) </a:t>
            </a:r>
            <a:endParaRPr/>
          </a:p>
          <a:p>
            <a:pPr marL="342900" marR="0" lvl="0" indent="-342900" algn="just" rtl="0">
              <a:lnSpc>
                <a:spcPct val="100000"/>
              </a:lnSpc>
              <a:spcBef>
                <a:spcPts val="600"/>
              </a:spcBef>
              <a:spcAft>
                <a:spcPts val="0"/>
              </a:spcAft>
              <a:buClr>
                <a:srgbClr val="000000"/>
              </a:buClr>
              <a:buSzPts val="1800"/>
              <a:buFont typeface="Arial"/>
              <a:buChar char="•"/>
            </a:pPr>
            <a:r>
              <a:rPr lang="en-US" sz="1800" b="0" i="0" u="none" strike="noStrike" cap="none">
                <a:solidFill>
                  <a:srgbClr val="000000"/>
                </a:solidFill>
                <a:latin typeface="Calibri"/>
                <a:ea typeface="Calibri"/>
                <a:cs typeface="Calibri"/>
                <a:sym typeface="Calibri"/>
              </a:rPr>
              <a:t>Software (programs and applications).</a:t>
            </a:r>
            <a:endParaRPr/>
          </a:p>
          <a:p>
            <a:pPr marL="0" marR="0" lvl="0" indent="0" algn="just" rtl="0">
              <a:lnSpc>
                <a:spcPct val="100000"/>
              </a:lnSpc>
              <a:spcBef>
                <a:spcPts val="600"/>
              </a:spcBef>
              <a:spcAft>
                <a:spcPts val="0"/>
              </a:spcAft>
              <a:buNone/>
            </a:pPr>
            <a:r>
              <a:rPr lang="en-US" sz="1800" b="1" i="0" u="none" strike="noStrike" cap="none">
                <a:solidFill>
                  <a:srgbClr val="000000"/>
                </a:solidFill>
                <a:latin typeface="Calibri"/>
                <a:ea typeface="Calibri"/>
                <a:cs typeface="Calibri"/>
                <a:sym typeface="Calibri"/>
              </a:rPr>
              <a:t>Hardware</a:t>
            </a:r>
            <a:endParaRPr/>
          </a:p>
          <a:p>
            <a:pPr marL="0" marR="0" lvl="0" indent="0" algn="just" rtl="0">
              <a:lnSpc>
                <a:spcPct val="100000"/>
              </a:lnSpc>
              <a:spcBef>
                <a:spcPts val="600"/>
              </a:spcBef>
              <a:spcAft>
                <a:spcPts val="0"/>
              </a:spcAft>
              <a:buNone/>
            </a:pPr>
            <a:r>
              <a:rPr lang="en-US" sz="1800" b="0" i="0" u="none" strike="noStrike" cap="none">
                <a:solidFill>
                  <a:srgbClr val="000000"/>
                </a:solidFill>
                <a:latin typeface="Calibri"/>
                <a:ea typeface="Calibri"/>
                <a:cs typeface="Calibri"/>
                <a:sym typeface="Calibri"/>
              </a:rPr>
              <a:t>Hardware provides the physical infrastructure. The central processing unit (CPU), the mouse, storage and other components are examples of hardware components. The hardware components are the real component parts of a computer.</a:t>
            </a:r>
            <a:endParaRPr/>
          </a:p>
          <a:p>
            <a:pPr marL="0" marR="0" lvl="0" indent="0" algn="just" rtl="0">
              <a:lnSpc>
                <a:spcPct val="100000"/>
              </a:lnSpc>
              <a:spcBef>
                <a:spcPts val="600"/>
              </a:spcBef>
              <a:spcAft>
                <a:spcPts val="0"/>
              </a:spcAft>
              <a:buNone/>
            </a:pPr>
            <a:r>
              <a:rPr lang="en-US" sz="1800" b="1" i="0" u="none" strike="noStrike" cap="none">
                <a:solidFill>
                  <a:srgbClr val="000000"/>
                </a:solidFill>
                <a:latin typeface="Calibri"/>
                <a:ea typeface="Calibri"/>
                <a:cs typeface="Calibri"/>
                <a:sym typeface="Calibri"/>
              </a:rPr>
              <a:t>Software</a:t>
            </a:r>
            <a:endParaRPr/>
          </a:p>
          <a:p>
            <a:pPr marL="0" marR="0" lvl="0" indent="0" algn="just" rtl="0">
              <a:lnSpc>
                <a:spcPct val="100000"/>
              </a:lnSpc>
              <a:spcBef>
                <a:spcPts val="600"/>
              </a:spcBef>
              <a:spcAft>
                <a:spcPts val="0"/>
              </a:spcAft>
              <a:buNone/>
            </a:pPr>
            <a:r>
              <a:rPr lang="en-US" sz="1800" b="0" i="0" u="none" strike="noStrike" cap="none">
                <a:solidFill>
                  <a:srgbClr val="000000"/>
                </a:solidFill>
                <a:latin typeface="Calibri"/>
                <a:ea typeface="Calibri"/>
                <a:cs typeface="Calibri"/>
                <a:sym typeface="Calibri"/>
              </a:rPr>
              <a:t>Software instructs the hardware on what tasks to perform. Software components of a computer are the set of instructions which we store and execute on our system, which are known as software components.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Characteristics of a computer</a:t>
            </a:r>
            <a:endParaRPr b="1">
              <a:solidFill>
                <a:schemeClr val="dk1"/>
              </a:solidFill>
              <a:latin typeface="Calibri"/>
              <a:ea typeface="Calibri"/>
              <a:cs typeface="Calibri"/>
              <a:sym typeface="Calibri"/>
            </a:endParaRPr>
          </a:p>
        </p:txBody>
      </p:sp>
      <p:pic>
        <p:nvPicPr>
          <p:cNvPr id="73" name="Google Shape;73;p3" descr="Characteristics of a computer system"/>
          <p:cNvPicPr preferRelativeResize="0"/>
          <p:nvPr/>
        </p:nvPicPr>
        <p:blipFill rotWithShape="1">
          <a:blip r:embed="rId3">
            <a:alphaModFix/>
          </a:blip>
          <a:srcRect/>
          <a:stretch/>
        </p:blipFill>
        <p:spPr>
          <a:xfrm>
            <a:off x="191729" y="914401"/>
            <a:ext cx="8484911" cy="5570640"/>
          </a:xfrm>
          <a:prstGeom prst="rect">
            <a:avLst/>
          </a:prstGeom>
          <a:noFill/>
          <a:ln>
            <a:noFill/>
          </a:ln>
        </p:spPr>
      </p:pic>
      <p:sp>
        <p:nvSpPr>
          <p:cNvPr id="74" name="Google Shape;74;p3"/>
          <p:cNvSpPr txBox="1"/>
          <p:nvPr/>
        </p:nvSpPr>
        <p:spPr>
          <a:xfrm>
            <a:off x="2458720" y="6315764"/>
            <a:ext cx="4632960"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Fig.1.1 Characteristics of a Computer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subTitle" idx="1"/>
          </p:nvPr>
        </p:nvSpPr>
        <p:spPr>
          <a:xfrm>
            <a:off x="533400" y="1371600"/>
            <a:ext cx="808949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80" name="Google Shape;80;p4"/>
          <p:cNvSpPr txBox="1"/>
          <p:nvPr/>
        </p:nvSpPr>
        <p:spPr>
          <a:xfrm>
            <a:off x="118650" y="845725"/>
            <a:ext cx="8750700" cy="3504900"/>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640"/>
              </a:spcBef>
              <a:spcAft>
                <a:spcPts val="0"/>
              </a:spcAft>
              <a:buClr>
                <a:srgbClr val="888888"/>
              </a:buClr>
              <a:buSzPct val="133333"/>
              <a:buFont typeface="Arial"/>
              <a:buNone/>
            </a:pPr>
            <a:r>
              <a:rPr lang="en-US" sz="2400" b="1" i="0" u="none" strike="noStrike" cap="none">
                <a:solidFill>
                  <a:schemeClr val="dk1"/>
                </a:solidFill>
                <a:latin typeface="Calibri"/>
                <a:ea typeface="Calibri"/>
                <a:cs typeface="Calibri"/>
                <a:sym typeface="Calibri"/>
              </a:rPr>
              <a:t>Speed</a:t>
            </a:r>
            <a:endParaRPr/>
          </a:p>
          <a:p>
            <a:pPr marL="457200" marR="0" lvl="0" indent="-401320" algn="just" rtl="0">
              <a:lnSpc>
                <a:spcPct val="100000"/>
              </a:lnSpc>
              <a:spcBef>
                <a:spcPts val="640"/>
              </a:spcBef>
              <a:spcAft>
                <a:spcPts val="0"/>
              </a:spcAft>
              <a:buClr>
                <a:srgbClr val="888888"/>
              </a:buClr>
              <a:buSzPct val="160000"/>
              <a:buFont typeface="Noto Sans Symbols"/>
              <a:buChar char="▪"/>
            </a:pPr>
            <a:r>
              <a:rPr lang="en-US" sz="2000" b="0" i="0" u="none" strike="noStrike" cap="none">
                <a:solidFill>
                  <a:schemeClr val="dk1"/>
                </a:solidFill>
                <a:latin typeface="Calibri"/>
                <a:ea typeface="Calibri"/>
                <a:cs typeface="Calibri"/>
                <a:sym typeface="Calibri"/>
              </a:rPr>
              <a:t>Computers perform calculations and tasks very quickly.</a:t>
            </a:r>
            <a:endParaRPr/>
          </a:p>
          <a:p>
            <a:pPr marL="457200" marR="0" lvl="0" indent="-401320" algn="just" rtl="0">
              <a:lnSpc>
                <a:spcPct val="100000"/>
              </a:lnSpc>
              <a:spcBef>
                <a:spcPts val="640"/>
              </a:spcBef>
              <a:spcAft>
                <a:spcPts val="0"/>
              </a:spcAft>
              <a:buClr>
                <a:srgbClr val="888888"/>
              </a:buClr>
              <a:buSzPct val="160000"/>
              <a:buFont typeface="Noto Sans Symbols"/>
              <a:buChar char="▪"/>
            </a:pPr>
            <a:r>
              <a:rPr lang="en-US" sz="2000" b="0" i="0" u="none" strike="noStrike" cap="none">
                <a:solidFill>
                  <a:schemeClr val="dk1"/>
                </a:solidFill>
                <a:latin typeface="Calibri"/>
                <a:ea typeface="Calibri"/>
                <a:cs typeface="Calibri"/>
                <a:sym typeface="Calibri"/>
              </a:rPr>
              <a:t>They can process millions of instructions in seconds.</a:t>
            </a:r>
            <a:endParaRPr/>
          </a:p>
          <a:p>
            <a:pPr marL="457200" marR="0" lvl="0" indent="-401320" algn="just" rtl="0">
              <a:lnSpc>
                <a:spcPct val="100000"/>
              </a:lnSpc>
              <a:spcBef>
                <a:spcPts val="640"/>
              </a:spcBef>
              <a:spcAft>
                <a:spcPts val="0"/>
              </a:spcAft>
              <a:buClr>
                <a:srgbClr val="888888"/>
              </a:buClr>
              <a:buSzPct val="160000"/>
              <a:buFont typeface="Noto Sans Symbols"/>
              <a:buChar char="▪"/>
            </a:pPr>
            <a:r>
              <a:rPr lang="en-US" sz="2000" b="0" i="0" u="none" strike="noStrike" cap="none">
                <a:solidFill>
                  <a:schemeClr val="dk1"/>
                </a:solidFill>
                <a:latin typeface="Calibri"/>
                <a:ea typeface="Calibri"/>
                <a:cs typeface="Calibri"/>
                <a:sym typeface="Calibri"/>
              </a:rPr>
              <a:t>Compared to humans, computers complete large tasks in much less time.</a:t>
            </a:r>
            <a:endParaRPr/>
          </a:p>
          <a:p>
            <a:pPr marL="0" marR="0" lvl="0" indent="0" algn="just" rtl="0">
              <a:lnSpc>
                <a:spcPct val="100000"/>
              </a:lnSpc>
              <a:spcBef>
                <a:spcPts val="640"/>
              </a:spcBef>
              <a:spcAft>
                <a:spcPts val="0"/>
              </a:spcAft>
              <a:buClr>
                <a:srgbClr val="888888"/>
              </a:buClr>
              <a:buSzPct val="133333"/>
              <a:buFont typeface="Arial"/>
              <a:buNone/>
            </a:pPr>
            <a:r>
              <a:rPr lang="en-US" sz="2400" b="1" i="0" u="none" strike="noStrike" cap="none">
                <a:solidFill>
                  <a:schemeClr val="dk1"/>
                </a:solidFill>
                <a:latin typeface="Calibri"/>
                <a:ea typeface="Calibri"/>
                <a:cs typeface="Calibri"/>
                <a:sym typeface="Calibri"/>
              </a:rPr>
              <a:t>Accuracy</a:t>
            </a:r>
            <a:endParaRPr/>
          </a:p>
          <a:p>
            <a:pPr marL="457200" marR="0" lvl="0" indent="-401320" algn="just" rtl="0">
              <a:lnSpc>
                <a:spcPct val="100000"/>
              </a:lnSpc>
              <a:spcBef>
                <a:spcPts val="640"/>
              </a:spcBef>
              <a:spcAft>
                <a:spcPts val="0"/>
              </a:spcAft>
              <a:buClr>
                <a:srgbClr val="888888"/>
              </a:buClr>
              <a:buSzPct val="160000"/>
              <a:buFont typeface="Noto Sans Symbols"/>
              <a:buChar char="▪"/>
            </a:pPr>
            <a:r>
              <a:rPr lang="en-US" sz="2000" b="0" i="0" u="none" strike="noStrike" cap="none">
                <a:solidFill>
                  <a:schemeClr val="dk1"/>
                </a:solidFill>
                <a:latin typeface="Calibri"/>
                <a:ea typeface="Calibri"/>
                <a:cs typeface="Calibri"/>
                <a:sym typeface="Calibri"/>
              </a:rPr>
              <a:t>Computers work free from errors.</a:t>
            </a:r>
            <a:endParaRPr/>
          </a:p>
          <a:p>
            <a:pPr marL="457200" marR="0" lvl="0" indent="-401320" algn="just" rtl="0">
              <a:lnSpc>
                <a:spcPct val="100000"/>
              </a:lnSpc>
              <a:spcBef>
                <a:spcPts val="640"/>
              </a:spcBef>
              <a:spcAft>
                <a:spcPts val="0"/>
              </a:spcAft>
              <a:buClr>
                <a:srgbClr val="888888"/>
              </a:buClr>
              <a:buSzPct val="160000"/>
              <a:buFont typeface="Noto Sans Symbols"/>
              <a:buChar char="▪"/>
            </a:pPr>
            <a:r>
              <a:rPr lang="en-US" sz="2000" b="0" i="0" u="none" strike="noStrike" cap="none">
                <a:solidFill>
                  <a:schemeClr val="dk1"/>
                </a:solidFill>
                <a:latin typeface="Calibri"/>
                <a:ea typeface="Calibri"/>
                <a:cs typeface="Calibri"/>
                <a:sym typeface="Calibri"/>
              </a:rPr>
              <a:t>If the input and program are correct, there is no mistake in the output.</a:t>
            </a:r>
            <a:endParaRPr/>
          </a:p>
          <a:p>
            <a:pPr marL="457200" marR="0" lvl="0" indent="-401320" algn="just" rtl="0">
              <a:lnSpc>
                <a:spcPct val="100000"/>
              </a:lnSpc>
              <a:spcBef>
                <a:spcPts val="640"/>
              </a:spcBef>
              <a:spcAft>
                <a:spcPts val="0"/>
              </a:spcAft>
              <a:buClr>
                <a:srgbClr val="888888"/>
              </a:buClr>
              <a:buSzPct val="160000"/>
              <a:buFont typeface="Noto Sans Symbols"/>
              <a:buChar char="▪"/>
            </a:pPr>
            <a:r>
              <a:rPr lang="en-US" sz="2000" b="0" i="0" u="none" strike="noStrike" cap="none">
                <a:solidFill>
                  <a:schemeClr val="dk1"/>
                </a:solidFill>
                <a:latin typeface="Calibri"/>
                <a:ea typeface="Calibri"/>
                <a:cs typeface="Calibri"/>
                <a:sym typeface="Calibri"/>
              </a:rPr>
              <a:t>It provides 100% accuracy in mathematical and logical operations.</a:t>
            </a:r>
            <a:endParaRPr/>
          </a:p>
          <a:p>
            <a:pPr marL="0" marR="0" lvl="0" indent="0" algn="just" rtl="0">
              <a:lnSpc>
                <a:spcPct val="100000"/>
              </a:lnSpc>
              <a:spcBef>
                <a:spcPts val="640"/>
              </a:spcBef>
              <a:spcAft>
                <a:spcPts val="0"/>
              </a:spcAft>
              <a:buClr>
                <a:srgbClr val="888888"/>
              </a:buClr>
              <a:buSzPct val="160000"/>
              <a:buFont typeface="Arial"/>
              <a:buNone/>
            </a:pPr>
            <a:endParaRPr sz="2000" b="0" i="0" u="none" strike="noStrike" cap="none">
              <a:solidFill>
                <a:schemeClr val="dk1"/>
              </a:solidFill>
              <a:latin typeface="Calibri"/>
              <a:ea typeface="Calibri"/>
              <a:cs typeface="Calibri"/>
              <a:sym typeface="Calibri"/>
            </a:endParaRPr>
          </a:p>
        </p:txBody>
      </p:sp>
      <p:sp>
        <p:nvSpPr>
          <p:cNvPr id="81" name="Google Shape;81;p4"/>
          <p:cNvSpPr txBox="1"/>
          <p:nvPr/>
        </p:nvSpPr>
        <p:spPr>
          <a:xfrm>
            <a:off x="118650" y="4621382"/>
            <a:ext cx="8750700" cy="1770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libri"/>
                <a:ea typeface="Calibri"/>
                <a:cs typeface="Calibri"/>
                <a:sym typeface="Calibri"/>
              </a:rPr>
              <a:t>Storage Capacity</a:t>
            </a:r>
            <a:endParaRPr/>
          </a:p>
          <a:p>
            <a:pPr marL="457200" marR="0" lvl="0" indent="-457200" algn="just" rtl="0">
              <a:lnSpc>
                <a:spcPct val="100000"/>
              </a:lnSpc>
              <a:spcBef>
                <a:spcPts val="60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Computers have the ability to store large amounts of data.</a:t>
            </a:r>
            <a:endParaRPr/>
          </a:p>
          <a:p>
            <a:pPr marL="457200" marR="0" lvl="0" indent="-457200" algn="just" rtl="0">
              <a:lnSpc>
                <a:spcPct val="100000"/>
              </a:lnSpc>
              <a:spcBef>
                <a:spcPts val="120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Data can be stored using hard disks, SSDs, pen drives, cloud storage, etc.</a:t>
            </a:r>
            <a:endParaRPr/>
          </a:p>
          <a:p>
            <a:pPr marL="457200" marR="0" lvl="0" indent="-457200" algn="just" rtl="0">
              <a:lnSpc>
                <a:spcPct val="100000"/>
              </a:lnSpc>
              <a:spcBef>
                <a:spcPts val="120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Data is safely kept for a long time and can be accessed easily when needed.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subTitle" idx="1"/>
          </p:nvPr>
        </p:nvSpPr>
        <p:spPr>
          <a:xfrm>
            <a:off x="356420" y="154858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87" name="Google Shape;87;p5"/>
          <p:cNvSpPr txBox="1"/>
          <p:nvPr/>
        </p:nvSpPr>
        <p:spPr>
          <a:xfrm>
            <a:off x="585013" y="3385248"/>
            <a:ext cx="7762575" cy="178510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i="0" u="none" strike="noStrike" cap="none">
                <a:solidFill>
                  <a:srgbClr val="000000"/>
                </a:solidFill>
                <a:latin typeface="Calibri"/>
                <a:ea typeface="Calibri"/>
                <a:cs typeface="Calibri"/>
                <a:sym typeface="Calibri"/>
              </a:rPr>
              <a:t>Automatic</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A computer is an automatic machine that works by itself without human intervention.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Once it started tasks, it carry out the task without human help until it is finished.</a:t>
            </a:r>
            <a:endParaRPr sz="1200" b="0" i="0" u="none" strike="noStrike" cap="none">
              <a:solidFill>
                <a:srgbClr val="000000"/>
              </a:solidFill>
              <a:latin typeface="Calibri"/>
              <a:ea typeface="Calibri"/>
              <a:cs typeface="Calibri"/>
              <a:sym typeface="Calibri"/>
            </a:endParaRPr>
          </a:p>
        </p:txBody>
      </p:sp>
      <p:sp>
        <p:nvSpPr>
          <p:cNvPr id="88" name="Google Shape;88;p5"/>
          <p:cNvSpPr txBox="1"/>
          <p:nvPr/>
        </p:nvSpPr>
        <p:spPr>
          <a:xfrm>
            <a:off x="585013" y="897546"/>
            <a:ext cx="7924807" cy="270843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Diligence</a:t>
            </a:r>
            <a:r>
              <a:rPr lang="en-US" sz="1800" b="0" i="0" u="none" strike="noStrike" cap="none">
                <a:solidFill>
                  <a:srgbClr val="000000"/>
                </a:solidFill>
                <a:latin typeface="Calibri"/>
                <a:ea typeface="Calibri"/>
                <a:cs typeface="Calibri"/>
                <a:sym typeface="Calibri"/>
              </a:rPr>
              <a:t>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Unlike human beings, a computer never gets tired and does not lose its concentration.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It can continuously work with a great accuracy for hours, creating no error and without rumbling.</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1" i="1" u="none" strike="noStrike" cap="none">
                <a:solidFill>
                  <a:srgbClr val="000000"/>
                </a:solidFill>
                <a:latin typeface="Calibri"/>
                <a:ea typeface="Calibri"/>
                <a:cs typeface="Calibri"/>
                <a:sym typeface="Calibri"/>
              </a:rPr>
              <a:t>e.g. </a:t>
            </a:r>
            <a:r>
              <a:rPr lang="en-US" sz="2000" b="0" i="0" u="none" strike="noStrike" cap="none">
                <a:solidFill>
                  <a:srgbClr val="000000"/>
                </a:solidFill>
                <a:latin typeface="Calibri"/>
                <a:ea typeface="Calibri"/>
                <a:cs typeface="Calibri"/>
                <a:sym typeface="Calibri"/>
              </a:rPr>
              <a:t>if hundred million calculations have to be performed, a computer machine will perform the last one with exactly the same accuracy and speed as it did the first one.</a:t>
            </a:r>
            <a:endParaRPr/>
          </a:p>
        </p:txBody>
      </p:sp>
      <p:sp>
        <p:nvSpPr>
          <p:cNvPr id="89" name="Google Shape;89;p5"/>
          <p:cNvSpPr txBox="1"/>
          <p:nvPr/>
        </p:nvSpPr>
        <p:spPr>
          <a:xfrm>
            <a:off x="585014" y="5170352"/>
            <a:ext cx="7762574" cy="13234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Versatility</a:t>
            </a:r>
            <a:endParaRPr sz="2000" b="0" i="0" u="none" strike="noStrike" cap="none">
              <a:solidFill>
                <a:srgbClr val="000000"/>
              </a:solidFill>
              <a:latin typeface="Calibri"/>
              <a:ea typeface="Calibri"/>
              <a:cs typeface="Calibri"/>
              <a:sym typeface="Calibri"/>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It is capable of performing multitasks at a time simultaneously.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For example, we can use it to play music, as well as write a letter in the MS Office simultaneously.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6"/>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95" name="Google Shape;95;p6"/>
          <p:cNvSpPr txBox="1"/>
          <p:nvPr/>
        </p:nvSpPr>
        <p:spPr>
          <a:xfrm>
            <a:off x="533399" y="1371600"/>
            <a:ext cx="8153400" cy="13234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Power of Remembering</a:t>
            </a:r>
            <a:r>
              <a:rPr lang="en-US" sz="2000" b="0" i="0" u="none" strike="noStrike" cap="none">
                <a:solidFill>
                  <a:srgbClr val="000000"/>
                </a:solidFill>
                <a:latin typeface="Calibri"/>
                <a:ea typeface="Calibri"/>
                <a:cs typeface="Calibri"/>
                <a:sym typeface="Calibri"/>
              </a:rPr>
              <a:t>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Computers have the power of storing any amount of data or information.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We can store any information for several years, and recalled when we need it.</a:t>
            </a:r>
            <a:endParaRPr/>
          </a:p>
        </p:txBody>
      </p:sp>
      <p:sp>
        <p:nvSpPr>
          <p:cNvPr id="96" name="Google Shape;96;p6"/>
          <p:cNvSpPr txBox="1"/>
          <p:nvPr/>
        </p:nvSpPr>
        <p:spPr>
          <a:xfrm>
            <a:off x="533398" y="2695039"/>
            <a:ext cx="8153401" cy="36317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No Feeling</a:t>
            </a:r>
            <a:endParaRPr sz="2000" b="0" i="0" u="none" strike="noStrike" cap="none">
              <a:solidFill>
                <a:srgbClr val="000000"/>
              </a:solidFill>
              <a:latin typeface="Calibri"/>
              <a:ea typeface="Calibri"/>
              <a:cs typeface="Calibri"/>
              <a:sym typeface="Calibri"/>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A computer is an electronic device that does not have any feelings, emotions, taste, knowledge and experience.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It does not get exhausted even after long hours of work.</a:t>
            </a:r>
            <a:endParaRPr/>
          </a:p>
          <a:p>
            <a:pPr marL="0" marR="0" lvl="0" indent="0" algn="just" rtl="0">
              <a:lnSpc>
                <a:spcPct val="100000"/>
              </a:lnSpc>
              <a:spcBef>
                <a:spcPts val="60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Storage Capability</a:t>
            </a:r>
            <a:endParaRPr/>
          </a:p>
          <a:p>
            <a:pPr marL="342900" marR="0" lvl="0" indent="-342900" algn="just" rtl="0">
              <a:lnSpc>
                <a:spcPct val="100000"/>
              </a:lnSpc>
              <a:spcBef>
                <a:spcPts val="60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 A computer has huge storage capability to store the information for a long time. </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It has two types of storages: primary storage and secondary storage.</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1" u="none" strike="noStrike" cap="none">
                <a:solidFill>
                  <a:srgbClr val="000000"/>
                </a:solidFill>
                <a:latin typeface="Calibri"/>
                <a:ea typeface="Calibri"/>
                <a:cs typeface="Calibri"/>
                <a:sym typeface="Calibri"/>
              </a:rPr>
              <a:t>Primary storage </a:t>
            </a:r>
            <a:r>
              <a:rPr lang="en-US" sz="2000" b="0" i="0" u="none" strike="noStrike" cap="none">
                <a:solidFill>
                  <a:srgbClr val="000000"/>
                </a:solidFill>
                <a:latin typeface="Calibri"/>
                <a:ea typeface="Calibri"/>
                <a:cs typeface="Calibri"/>
                <a:sym typeface="Calibri"/>
              </a:rPr>
              <a:t>is the main memory of a computer that stores the data temporarily. While</a:t>
            </a:r>
            <a:r>
              <a:rPr lang="en-US" sz="2000" b="0" i="1" u="none" strike="noStrike" cap="none">
                <a:solidFill>
                  <a:srgbClr val="000000"/>
                </a:solidFill>
                <a:latin typeface="Calibri"/>
                <a:ea typeface="Calibri"/>
                <a:cs typeface="Calibri"/>
                <a:sym typeface="Calibri"/>
              </a:rPr>
              <a:t> secondary </a:t>
            </a:r>
            <a:r>
              <a:rPr lang="en-US" sz="2000" b="0" i="0" u="none" strike="noStrike" cap="none">
                <a:solidFill>
                  <a:srgbClr val="000000"/>
                </a:solidFill>
                <a:latin typeface="Calibri"/>
                <a:ea typeface="Calibri"/>
                <a:cs typeface="Calibri"/>
                <a:sym typeface="Calibri"/>
              </a:rPr>
              <a:t>storage is a permanent storage for storing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7"/>
          <p:cNvSpPr txBox="1">
            <a:spLocks noGrp="1"/>
          </p:cNvSpPr>
          <p:nvPr>
            <p:ph type="ctrTitle"/>
          </p:nvPr>
        </p:nvSpPr>
        <p:spPr>
          <a:xfrm>
            <a:off x="314632" y="0"/>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Applications-Education</a:t>
            </a:r>
            <a:endParaRPr b="1">
              <a:solidFill>
                <a:schemeClr val="dk1"/>
              </a:solidFill>
              <a:latin typeface="Calibri"/>
              <a:ea typeface="Calibri"/>
              <a:cs typeface="Calibri"/>
              <a:sym typeface="Calibri"/>
            </a:endParaRPr>
          </a:p>
        </p:txBody>
      </p:sp>
      <p:sp>
        <p:nvSpPr>
          <p:cNvPr id="102" name="Google Shape;102;p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103" name="Google Shape;103;p7"/>
          <p:cNvSpPr txBox="1"/>
          <p:nvPr/>
        </p:nvSpPr>
        <p:spPr>
          <a:xfrm>
            <a:off x="457200" y="1371600"/>
            <a:ext cx="6096000" cy="3451714"/>
          </a:xfrm>
          <a:prstGeom prst="rect">
            <a:avLst/>
          </a:prstGeom>
          <a:noFill/>
          <a:ln>
            <a:noFill/>
          </a:ln>
        </p:spPr>
        <p:txBody>
          <a:bodyPr spcFirstLastPara="1" wrap="square" lIns="91425" tIns="45700" rIns="91425" bIns="45700" anchor="t" anchorCtr="0">
            <a:spAutoFit/>
          </a:bodyPr>
          <a:lstStyle/>
          <a:p>
            <a:pPr marL="742950" marR="0" lvl="1" indent="-285750" algn="l" rtl="0">
              <a:lnSpc>
                <a:spcPct val="150000"/>
              </a:lnSpc>
              <a:spcBef>
                <a:spcPts val="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Teaching and Learning Online</a:t>
            </a:r>
            <a:endParaRPr sz="2800" b="0" i="0" u="none" strike="noStrike" cap="none">
              <a:solidFill>
                <a:srgbClr val="000000"/>
              </a:solidFill>
              <a:latin typeface="Calibri"/>
              <a:ea typeface="Calibri"/>
              <a:cs typeface="Calibri"/>
              <a:sym typeface="Calibri"/>
            </a:endParaRPr>
          </a:p>
          <a:p>
            <a:pPr marL="742950" marR="0" lvl="1" indent="-285750" algn="l" rtl="0">
              <a:lnSpc>
                <a:spcPct val="150000"/>
              </a:lnSpc>
              <a:spcBef>
                <a:spcPts val="405"/>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Result Processing</a:t>
            </a:r>
            <a:endParaRPr sz="2800" b="0" i="0" u="none" strike="noStrike" cap="none">
              <a:solidFill>
                <a:srgbClr val="000000"/>
              </a:solidFill>
              <a:latin typeface="Calibri"/>
              <a:ea typeface="Calibri"/>
              <a:cs typeface="Calibri"/>
              <a:sym typeface="Calibri"/>
            </a:endParaRPr>
          </a:p>
          <a:p>
            <a:pPr marL="742950" marR="0" lvl="1" indent="-285750" algn="l" rtl="0">
              <a:lnSpc>
                <a:spcPct val="150000"/>
              </a:lnSpc>
              <a:spcBef>
                <a:spcPts val="405"/>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Student Data Processing</a:t>
            </a:r>
            <a:endParaRPr sz="2800" b="0" i="0" u="none" strike="noStrike" cap="none">
              <a:solidFill>
                <a:srgbClr val="000000"/>
              </a:solidFill>
              <a:latin typeface="Calibri"/>
              <a:ea typeface="Calibri"/>
              <a:cs typeface="Calibri"/>
              <a:sym typeface="Calibri"/>
            </a:endParaRPr>
          </a:p>
          <a:p>
            <a:pPr marL="742950" marR="0" lvl="1" indent="-285750" algn="l" rtl="0">
              <a:lnSpc>
                <a:spcPct val="150000"/>
              </a:lnSpc>
              <a:spcBef>
                <a:spcPts val="385"/>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Question Preparation</a:t>
            </a:r>
            <a:endParaRPr sz="2800" b="0" i="0" u="none" strike="noStrike" cap="none">
              <a:solidFill>
                <a:srgbClr val="000000"/>
              </a:solidFill>
              <a:latin typeface="Calibri"/>
              <a:ea typeface="Calibri"/>
              <a:cs typeface="Calibri"/>
              <a:sym typeface="Calibri"/>
            </a:endParaRPr>
          </a:p>
          <a:p>
            <a:pPr marL="742950" marR="0" lvl="1" indent="-285750" algn="l" rtl="0">
              <a:lnSpc>
                <a:spcPct val="150000"/>
              </a:lnSpc>
              <a:spcBef>
                <a:spcPts val="38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Handouts and Notes Preparation</a:t>
            </a: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8"/>
          <p:cNvSpPr txBox="1">
            <a:spLocks noGrp="1"/>
          </p:cNvSpPr>
          <p:nvPr>
            <p:ph type="ctrTitle"/>
          </p:nvPr>
        </p:nvSpPr>
        <p:spPr>
          <a:xfrm>
            <a:off x="412955" y="73707"/>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Banking</a:t>
            </a:r>
            <a:endParaRPr b="1">
              <a:solidFill>
                <a:schemeClr val="dk1"/>
              </a:solidFill>
              <a:latin typeface="Calibri"/>
              <a:ea typeface="Calibri"/>
              <a:cs typeface="Calibri"/>
              <a:sym typeface="Calibri"/>
            </a:endParaRPr>
          </a:p>
        </p:txBody>
      </p:sp>
      <p:sp>
        <p:nvSpPr>
          <p:cNvPr id="109" name="Google Shape;109;p8"/>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110" name="Google Shape;110;p8"/>
          <p:cNvSpPr txBox="1"/>
          <p:nvPr/>
        </p:nvSpPr>
        <p:spPr>
          <a:xfrm>
            <a:off x="223684" y="1509251"/>
            <a:ext cx="7887930" cy="3555140"/>
          </a:xfrm>
          <a:prstGeom prst="rect">
            <a:avLst/>
          </a:prstGeom>
          <a:noFill/>
          <a:ln>
            <a:noFill/>
          </a:ln>
        </p:spPr>
        <p:txBody>
          <a:bodyPr spcFirstLastPara="1" wrap="square" lIns="91425" tIns="45700" rIns="91425" bIns="45700" anchor="t" anchorCtr="0">
            <a:spAutoFit/>
          </a:bodyPr>
          <a:lstStyle/>
          <a:p>
            <a:pPr marL="742950" marR="0" lvl="1" indent="-285750" algn="l" rtl="0">
              <a:lnSpc>
                <a:spcPct val="150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Online Banking (e-banking)</a:t>
            </a:r>
            <a:endParaRPr sz="2400" b="0" i="0" u="none" strike="noStrike" cap="none">
              <a:solidFill>
                <a:srgbClr val="000000"/>
              </a:solidFill>
              <a:latin typeface="Calibri"/>
              <a:ea typeface="Calibri"/>
              <a:cs typeface="Calibri"/>
              <a:sym typeface="Calibri"/>
            </a:endParaRPr>
          </a:p>
          <a:p>
            <a:pPr marL="742950" marR="314960" lvl="1" indent="-285750" algn="l" rtl="0">
              <a:lnSpc>
                <a:spcPct val="150000"/>
              </a:lnSpc>
              <a:spcBef>
                <a:spcPts val="75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	Reading and sorting cheques with the help of MICR (Magnetic Ink Character Reader)</a:t>
            </a:r>
            <a:endParaRPr sz="2400" b="0" i="0" u="none" strike="noStrike" cap="none">
              <a:solidFill>
                <a:srgbClr val="000000"/>
              </a:solidFill>
              <a:latin typeface="Calibri"/>
              <a:ea typeface="Calibri"/>
              <a:cs typeface="Calibri"/>
              <a:sym typeface="Calibri"/>
            </a:endParaRPr>
          </a:p>
          <a:p>
            <a:pPr marL="742950" marR="316230" lvl="1" indent="-285750" algn="l" rtl="0">
              <a:lnSpc>
                <a:spcPct val="150000"/>
              </a:lnSpc>
              <a:spcBef>
                <a:spcPts val="81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Additionally,	ATM	(Automated Teller Machine)	is	used to either deposit or withdraw cash in/from banks.</a:t>
            </a: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9"/>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Healthcare</a:t>
            </a:r>
            <a:endParaRPr b="1">
              <a:solidFill>
                <a:schemeClr val="dk1"/>
              </a:solidFill>
              <a:latin typeface="Calibri"/>
              <a:ea typeface="Calibri"/>
              <a:cs typeface="Calibri"/>
              <a:sym typeface="Calibri"/>
            </a:endParaRPr>
          </a:p>
        </p:txBody>
      </p:sp>
      <p:sp>
        <p:nvSpPr>
          <p:cNvPr id="116" name="Google Shape;116;p9"/>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117" name="Google Shape;117;p9"/>
          <p:cNvSpPr txBox="1"/>
          <p:nvPr/>
        </p:nvSpPr>
        <p:spPr>
          <a:xfrm>
            <a:off x="495300" y="914401"/>
            <a:ext cx="8153399" cy="583749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A computer plays an important role in the medical field also.</a:t>
            </a:r>
            <a:endParaRPr sz="1050" b="0" i="0" u="none" strike="noStrike" cap="none">
              <a:solidFill>
                <a:srgbClr val="000000"/>
              </a:solidFill>
              <a:latin typeface="Calibri"/>
              <a:ea typeface="Calibri"/>
              <a:cs typeface="Calibri"/>
              <a:sym typeface="Calibri"/>
            </a:endParaRPr>
          </a:p>
          <a:p>
            <a:pPr marL="342900" marR="315595" lvl="0" indent="-342900" algn="just" rtl="0">
              <a:lnSpc>
                <a:spcPct val="100000"/>
              </a:lnSpc>
              <a:spcBef>
                <a:spcPts val="64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For example in the Intensive Care Unit (ICU) in the hospital, the computer keeps track of everything going inside the patient's body such as blood pressure and heartbeat, etc.</a:t>
            </a:r>
            <a:endParaRPr sz="1050" b="0" i="0" u="none" strike="noStrike" cap="none">
              <a:solidFill>
                <a:srgbClr val="000000"/>
              </a:solidFill>
              <a:latin typeface="Calibri"/>
              <a:ea typeface="Calibri"/>
              <a:cs typeface="Calibri"/>
              <a:sym typeface="Calibri"/>
            </a:endParaRPr>
          </a:p>
          <a:p>
            <a:pPr marL="342900" marR="315595" lvl="0" indent="-342900" algn="just" rtl="0">
              <a:lnSpc>
                <a:spcPct val="100000"/>
              </a:lnSpc>
              <a:spcBef>
                <a:spcPts val="64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Keeping a record of patients and medicines also becomes easy through the use of the computer.</a:t>
            </a:r>
            <a:endParaRPr sz="1050" b="0" i="0" u="none" strike="noStrike" cap="none">
              <a:solidFill>
                <a:srgbClr val="000000"/>
              </a:solidFill>
              <a:latin typeface="Calibri"/>
              <a:ea typeface="Calibri"/>
              <a:cs typeface="Calibri"/>
              <a:sym typeface="Calibri"/>
            </a:endParaRPr>
          </a:p>
          <a:p>
            <a:pPr marL="342900" marR="315595" lvl="0" indent="-342900" algn="just" rtl="0">
              <a:lnSpc>
                <a:spcPct val="100000"/>
              </a:lnSpc>
              <a:spcBef>
                <a:spcPts val="640"/>
              </a:spcBef>
              <a:spcAft>
                <a:spcPts val="0"/>
              </a:spcAft>
              <a:buClr>
                <a:srgbClr val="000000"/>
              </a:buClr>
              <a:buSzPts val="2000"/>
              <a:buFont typeface="Noto Sans Symbols"/>
              <a:buChar char="▪"/>
            </a:pPr>
            <a:r>
              <a:rPr lang="en-US" sz="2000" b="1" i="1" u="none" strike="noStrike" cap="none">
                <a:solidFill>
                  <a:srgbClr val="000000"/>
                </a:solidFill>
                <a:latin typeface="Calibri"/>
                <a:ea typeface="Calibri"/>
                <a:cs typeface="Calibri"/>
                <a:sym typeface="Calibri"/>
              </a:rPr>
              <a:t>Diagnostic System </a:t>
            </a:r>
            <a:r>
              <a:rPr lang="en-US" sz="2000" b="0" i="0" u="none" strike="noStrike" cap="none">
                <a:solidFill>
                  <a:srgbClr val="000000"/>
                </a:solidFill>
                <a:latin typeface="Calibri"/>
                <a:ea typeface="Calibri"/>
                <a:cs typeface="Calibri"/>
                <a:sym typeface="Calibri"/>
              </a:rPr>
              <a:t>— The computer is used to collect data and identify the cause of disease and illness.</a:t>
            </a:r>
            <a:endParaRPr sz="2000" b="0" i="0" u="none" strike="noStrike" cap="none">
              <a:solidFill>
                <a:srgbClr val="000000"/>
              </a:solidFill>
              <a:latin typeface="Calibri"/>
              <a:ea typeface="Calibri"/>
              <a:cs typeface="Calibri"/>
              <a:sym typeface="Calibri"/>
            </a:endParaRPr>
          </a:p>
          <a:p>
            <a:pPr marL="342900" marR="315595" lvl="0" indent="-342900" algn="just" rtl="0">
              <a:lnSpc>
                <a:spcPct val="100000"/>
              </a:lnSpc>
              <a:spcBef>
                <a:spcPts val="640"/>
              </a:spcBef>
              <a:spcAft>
                <a:spcPts val="0"/>
              </a:spcAft>
              <a:buClr>
                <a:srgbClr val="000000"/>
              </a:buClr>
              <a:buSzPts val="2000"/>
              <a:buFont typeface="Noto Sans Symbols"/>
              <a:buChar char="▪"/>
            </a:pPr>
            <a:r>
              <a:rPr lang="en-US" sz="2000" b="1" i="1" u="none" strike="noStrike" cap="none">
                <a:solidFill>
                  <a:srgbClr val="000000"/>
                </a:solidFill>
                <a:latin typeface="Calibri"/>
                <a:ea typeface="Calibri"/>
                <a:cs typeface="Calibri"/>
                <a:sym typeface="Calibri"/>
              </a:rPr>
              <a:t>Lab-diagnostic System </a:t>
            </a:r>
            <a:r>
              <a:rPr lang="en-US" sz="2000" b="0" i="0" u="none" strike="noStrike" cap="none">
                <a:solidFill>
                  <a:srgbClr val="000000"/>
                </a:solidFill>
                <a:latin typeface="Calibri"/>
                <a:ea typeface="Calibri"/>
                <a:cs typeface="Calibri"/>
                <a:sym typeface="Calibri"/>
              </a:rPr>
              <a:t>— All tests can be done and the reports are prepared by</a:t>
            </a:r>
            <a:r>
              <a:rPr lang="en-US" sz="1050" b="0" i="0" u="none" strike="noStrike" cap="none">
                <a:solidFill>
                  <a:srgbClr val="000000"/>
                </a:solidFill>
                <a:latin typeface="Calibri"/>
                <a:ea typeface="Calibri"/>
                <a:cs typeface="Calibri"/>
                <a:sym typeface="Calibri"/>
              </a:rPr>
              <a:t> </a:t>
            </a:r>
            <a:r>
              <a:rPr lang="en-US" sz="2000" b="0" i="0" u="none" strike="noStrike" cap="none">
                <a:solidFill>
                  <a:srgbClr val="000000"/>
                </a:solidFill>
                <a:latin typeface="Calibri"/>
                <a:ea typeface="Calibri"/>
                <a:cs typeface="Calibri"/>
                <a:sym typeface="Calibri"/>
              </a:rPr>
              <a:t>computer.</a:t>
            </a:r>
            <a:endParaRPr sz="2000" b="0" i="0" u="none" strike="noStrike" cap="none">
              <a:solidFill>
                <a:srgbClr val="000000"/>
              </a:solidFill>
              <a:latin typeface="Calibri"/>
              <a:ea typeface="Calibri"/>
              <a:cs typeface="Calibri"/>
              <a:sym typeface="Calibri"/>
            </a:endParaRPr>
          </a:p>
          <a:p>
            <a:pPr marL="342900" marR="313690" lvl="0" indent="-342900" algn="just" rtl="0">
              <a:lnSpc>
                <a:spcPct val="100000"/>
              </a:lnSpc>
              <a:spcBef>
                <a:spcPts val="665"/>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Patient Monitoring System — Computers are also used to check the patient's signs for abnormality such as CT Scan, MRI, ECG, etc.</a:t>
            </a:r>
            <a:endParaRPr sz="1050" b="0" i="0" u="none" strike="noStrike" cap="none">
              <a:solidFill>
                <a:srgbClr val="000000"/>
              </a:solidFill>
              <a:latin typeface="Calibri"/>
              <a:ea typeface="Calibri"/>
              <a:cs typeface="Calibri"/>
              <a:sym typeface="Calibri"/>
            </a:endParaRPr>
          </a:p>
          <a:p>
            <a:pPr marL="342900" marR="313690" lvl="0" indent="-342900" algn="just" rtl="0">
              <a:lnSpc>
                <a:spcPct val="100000"/>
              </a:lnSpc>
              <a:spcBef>
                <a:spcPts val="665"/>
              </a:spcBef>
              <a:spcAft>
                <a:spcPts val="0"/>
              </a:spcAft>
              <a:buClr>
                <a:srgbClr val="000000"/>
              </a:buClr>
              <a:buSzPts val="2000"/>
              <a:buFont typeface="Noto Sans Symbols"/>
              <a:buChar char="▪"/>
            </a:pPr>
            <a:r>
              <a:rPr lang="en-US" sz="2000" b="1" i="1" u="none" strike="noStrike" cap="none">
                <a:solidFill>
                  <a:srgbClr val="000000"/>
                </a:solidFill>
                <a:latin typeface="Calibri"/>
                <a:ea typeface="Calibri"/>
                <a:cs typeface="Calibri"/>
                <a:sym typeface="Calibri"/>
              </a:rPr>
              <a:t>Pharmacy Information System </a:t>
            </a:r>
            <a:r>
              <a:rPr lang="en-US" sz="2000" b="0" i="0" u="none" strike="noStrike" cap="none">
                <a:solidFill>
                  <a:srgbClr val="000000"/>
                </a:solidFill>
                <a:latin typeface="Calibri"/>
                <a:ea typeface="Calibri"/>
                <a:cs typeface="Calibri"/>
                <a:sym typeface="Calibri"/>
              </a:rPr>
              <a:t>— Computers are used to check medicine labels, expiry dates, harmful side effects, etc. </a:t>
            </a:r>
            <a:r>
              <a:rPr lang="en-US" sz="2000" b="0" i="1" u="none" strike="noStrike" cap="none">
                <a:solidFill>
                  <a:srgbClr val="000000"/>
                </a:solidFill>
                <a:latin typeface="Calibri"/>
                <a:ea typeface="Calibri"/>
                <a:cs typeface="Calibri"/>
                <a:sym typeface="Calibri"/>
              </a:rPr>
              <a:t>Software: </a:t>
            </a:r>
            <a:r>
              <a:rPr lang="en-US" sz="2000" b="0" i="0" u="none" strike="noStrike" cap="none">
                <a:solidFill>
                  <a:srgbClr val="000000"/>
                </a:solidFill>
                <a:latin typeface="Calibri"/>
                <a:ea typeface="Calibri"/>
                <a:cs typeface="Calibri"/>
                <a:sym typeface="Calibri"/>
              </a:rPr>
              <a:t>Epic Willow Pharmacy, Oracle Health Pharmacy.</a:t>
            </a:r>
            <a:endParaRPr sz="1050" b="0" i="0" u="none" strike="noStrike" cap="none">
              <a:solidFill>
                <a:srgbClr val="000000"/>
              </a:solidFill>
              <a:latin typeface="Calibri"/>
              <a:ea typeface="Calibri"/>
              <a:cs typeface="Calibri"/>
              <a:sym typeface="Calibri"/>
            </a:endParaRPr>
          </a:p>
          <a:p>
            <a:pPr marL="342900" marR="0" lvl="0" indent="-342900" algn="just" rtl="0">
              <a:lnSpc>
                <a:spcPct val="100000"/>
              </a:lnSpc>
              <a:spcBef>
                <a:spcPts val="155"/>
              </a:spcBef>
              <a:spcAft>
                <a:spcPts val="0"/>
              </a:spcAft>
              <a:buClr>
                <a:srgbClr val="000000"/>
              </a:buClr>
              <a:buSzPts val="2000"/>
              <a:buFont typeface="Noto Sans Symbols"/>
              <a:buChar char="▪"/>
            </a:pPr>
            <a:r>
              <a:rPr lang="en-US" sz="2000" b="1" i="1" u="none" strike="noStrike" cap="none">
                <a:solidFill>
                  <a:srgbClr val="000000"/>
                </a:solidFill>
                <a:latin typeface="Calibri"/>
                <a:ea typeface="Calibri"/>
                <a:cs typeface="Calibri"/>
                <a:sym typeface="Calibri"/>
              </a:rPr>
              <a:t>Surgery</a:t>
            </a:r>
            <a:r>
              <a:rPr lang="en-US" sz="2000" b="0" i="0" u="none" strike="noStrike" cap="none">
                <a:solidFill>
                  <a:srgbClr val="000000"/>
                </a:solidFill>
                <a:latin typeface="Calibri"/>
                <a:ea typeface="Calibri"/>
                <a:cs typeface="Calibri"/>
                <a:sym typeface="Calibri"/>
              </a:rPr>
              <a:t> — Computers are used in performing surgery. </a:t>
            </a:r>
            <a:r>
              <a:rPr lang="en-US" sz="2000" b="0" i="1" u="none" strike="noStrike" cap="none">
                <a:solidFill>
                  <a:srgbClr val="000000"/>
                </a:solidFill>
                <a:latin typeface="Calibri"/>
                <a:ea typeface="Calibri"/>
                <a:cs typeface="Calibri"/>
                <a:sym typeface="Calibri"/>
              </a:rPr>
              <a:t>Software: </a:t>
            </a:r>
            <a:r>
              <a:rPr lang="en-US" sz="2000" b="0" i="0" u="none" strike="noStrike" cap="none">
                <a:solidFill>
                  <a:srgbClr val="000000"/>
                </a:solidFill>
                <a:latin typeface="Calibri"/>
                <a:ea typeface="Calibri"/>
                <a:cs typeface="Calibri"/>
                <a:sym typeface="Calibri"/>
              </a:rPr>
              <a:t>Mako Smart Robotics</a:t>
            </a:r>
            <a:endParaRPr sz="1050" b="0" i="0" u="none" strike="noStrike" cap="non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0"/>
          <p:cNvSpPr txBox="1">
            <a:spLocks noGrp="1"/>
          </p:cNvSpPr>
          <p:nvPr>
            <p:ph type="ctrTitle"/>
          </p:nvPr>
        </p:nvSpPr>
        <p:spPr>
          <a:xfrm>
            <a:off x="0" y="-67215"/>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Engineering</a:t>
            </a:r>
            <a:endParaRPr b="1">
              <a:solidFill>
                <a:schemeClr val="dk1"/>
              </a:solidFill>
              <a:latin typeface="Calibri"/>
              <a:ea typeface="Calibri"/>
              <a:cs typeface="Calibri"/>
              <a:sym typeface="Calibri"/>
            </a:endParaRPr>
          </a:p>
        </p:txBody>
      </p:sp>
      <p:sp>
        <p:nvSpPr>
          <p:cNvPr id="123" name="Google Shape;123;p10"/>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124" name="Google Shape;124;p10"/>
          <p:cNvSpPr txBox="1"/>
          <p:nvPr/>
        </p:nvSpPr>
        <p:spPr>
          <a:xfrm>
            <a:off x="371168" y="1237169"/>
            <a:ext cx="8239432" cy="4858831"/>
          </a:xfrm>
          <a:prstGeom prst="rect">
            <a:avLst/>
          </a:prstGeom>
          <a:noFill/>
          <a:ln>
            <a:noFill/>
          </a:ln>
        </p:spPr>
        <p:txBody>
          <a:bodyPr spcFirstLastPara="1" wrap="square" lIns="91425" tIns="45700" rIns="91425" bIns="45700" anchor="t" anchorCtr="0">
            <a:spAutoFit/>
          </a:bodyPr>
          <a:lstStyle/>
          <a:p>
            <a:pPr marL="742950" marR="316865" lvl="1" indent="-285750" algn="just" rtl="0">
              <a:lnSpc>
                <a:spcPct val="150000"/>
              </a:lnSpc>
              <a:spcBef>
                <a:spcPts val="0"/>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	Structural Engineering — Requires stress and strain analysis for the design of buildings, ships, budgets, spaceships, airplanes, etc. </a:t>
            </a:r>
            <a:r>
              <a:rPr lang="en-US" sz="2000" b="0" i="1" u="none" strike="noStrike" cap="none">
                <a:solidFill>
                  <a:srgbClr val="000000"/>
                </a:solidFill>
                <a:latin typeface="Calibri"/>
                <a:ea typeface="Calibri"/>
                <a:cs typeface="Calibri"/>
                <a:sym typeface="Calibri"/>
              </a:rPr>
              <a:t>Software used like</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2060"/>
                </a:solidFill>
                <a:latin typeface="Calibri"/>
                <a:ea typeface="Calibri"/>
                <a:cs typeface="Calibri"/>
                <a:sym typeface="Calibri"/>
              </a:rPr>
              <a:t>ANSYS, Autodesk Robot Structural Analysis.</a:t>
            </a:r>
            <a:endParaRPr sz="1050" b="0" i="0" u="none" strike="noStrike" cap="none">
              <a:solidFill>
                <a:srgbClr val="002060"/>
              </a:solidFill>
              <a:latin typeface="Calibri"/>
              <a:ea typeface="Calibri"/>
              <a:cs typeface="Calibri"/>
              <a:sym typeface="Calibri"/>
            </a:endParaRPr>
          </a:p>
          <a:p>
            <a:pPr marL="742950" marR="325755" lvl="1" indent="-285750" algn="just" rtl="0">
              <a:lnSpc>
                <a:spcPct val="150000"/>
              </a:lnSpc>
              <a:spcBef>
                <a:spcPts val="805"/>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	Industrial Engineering — Here computers deal with the design, improvement, and implementation of integrated systems of people, materials, and equipment</a:t>
            </a:r>
            <a:r>
              <a:rPr lang="en-US" sz="2000" b="0" i="1" u="none" strike="noStrike" cap="none">
                <a:solidFill>
                  <a:srgbClr val="000000"/>
                </a:solidFill>
                <a:latin typeface="Calibri"/>
                <a:ea typeface="Calibri"/>
                <a:cs typeface="Calibri"/>
                <a:sym typeface="Calibri"/>
              </a:rPr>
              <a:t>. Software</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2060"/>
                </a:solidFill>
                <a:latin typeface="Calibri"/>
                <a:ea typeface="Calibri"/>
                <a:cs typeface="Calibri"/>
                <a:sym typeface="Calibri"/>
              </a:rPr>
              <a:t>Arena Simulation, SIMUL8, FlexSim.</a:t>
            </a:r>
            <a:endParaRPr sz="1050" b="0" i="0" u="none" strike="noStrike" cap="none">
              <a:solidFill>
                <a:srgbClr val="002060"/>
              </a:solidFill>
              <a:latin typeface="Calibri"/>
              <a:ea typeface="Calibri"/>
              <a:cs typeface="Calibri"/>
              <a:sym typeface="Calibri"/>
            </a:endParaRPr>
          </a:p>
          <a:p>
            <a:pPr marL="742950" marR="310515" lvl="1" indent="-285750" algn="just" rtl="0">
              <a:lnSpc>
                <a:spcPct val="150000"/>
              </a:lnSpc>
              <a:spcBef>
                <a:spcPts val="765"/>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	Architectural Engineering — Computers help in planning cities and towns, designing apartments and buildings using both 2D and 3D drawings. </a:t>
            </a:r>
            <a:r>
              <a:rPr lang="en-US" sz="2000" b="0" i="1" u="none" strike="noStrike" cap="none">
                <a:solidFill>
                  <a:srgbClr val="000000"/>
                </a:solidFill>
                <a:latin typeface="Calibri"/>
                <a:ea typeface="Calibri"/>
                <a:cs typeface="Calibri"/>
                <a:sym typeface="Calibri"/>
              </a:rPr>
              <a:t>Software:</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2060"/>
                </a:solidFill>
                <a:latin typeface="Calibri"/>
                <a:ea typeface="Calibri"/>
                <a:cs typeface="Calibri"/>
                <a:sym typeface="Calibri"/>
              </a:rPr>
              <a:t>AutoCAD, Autodesk Revit.</a:t>
            </a:r>
            <a:endParaRPr sz="1050" b="0" i="0" u="none" strike="noStrike" cap="none">
              <a:solidFill>
                <a:srgbClr val="00206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1" descr="personal computer"/>
          <p:cNvPicPr preferRelativeResize="0"/>
          <p:nvPr/>
        </p:nvPicPr>
        <p:blipFill rotWithShape="1">
          <a:blip r:embed="rId3">
            <a:alphaModFix/>
          </a:blip>
          <a:srcRect/>
          <a:stretch/>
        </p:blipFill>
        <p:spPr>
          <a:xfrm>
            <a:off x="0" y="810260"/>
            <a:ext cx="3344742" cy="1672371"/>
          </a:xfrm>
          <a:prstGeom prst="rect">
            <a:avLst/>
          </a:prstGeom>
          <a:noFill/>
          <a:ln>
            <a:noFill/>
          </a:ln>
        </p:spPr>
      </p:pic>
      <p:sp>
        <p:nvSpPr>
          <p:cNvPr id="130" name="Google Shape;130;p11"/>
          <p:cNvSpPr txBox="1"/>
          <p:nvPr/>
        </p:nvSpPr>
        <p:spPr>
          <a:xfrm>
            <a:off x="0" y="2461817"/>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1. Personal Computer (Microcomputer)</a:t>
            </a:r>
            <a:endParaRPr/>
          </a:p>
        </p:txBody>
      </p:sp>
      <p:pic>
        <p:nvPicPr>
          <p:cNvPr id="131" name="Google Shape;131;p11" descr="minicomputers"/>
          <p:cNvPicPr preferRelativeResize="0"/>
          <p:nvPr/>
        </p:nvPicPr>
        <p:blipFill rotWithShape="1">
          <a:blip r:embed="rId4">
            <a:alphaModFix/>
          </a:blip>
          <a:srcRect/>
          <a:stretch/>
        </p:blipFill>
        <p:spPr>
          <a:xfrm>
            <a:off x="4572000" y="892696"/>
            <a:ext cx="3220720" cy="1610360"/>
          </a:xfrm>
          <a:prstGeom prst="rect">
            <a:avLst/>
          </a:prstGeom>
          <a:noFill/>
          <a:ln>
            <a:noFill/>
          </a:ln>
        </p:spPr>
      </p:pic>
      <p:sp>
        <p:nvSpPr>
          <p:cNvPr id="132" name="Google Shape;132;p11"/>
          <p:cNvSpPr txBox="1"/>
          <p:nvPr/>
        </p:nvSpPr>
        <p:spPr>
          <a:xfrm>
            <a:off x="4572000" y="2475077"/>
            <a:ext cx="364553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2. Minicomputer</a:t>
            </a:r>
            <a:endParaRPr/>
          </a:p>
        </p:txBody>
      </p:sp>
      <p:pic>
        <p:nvPicPr>
          <p:cNvPr id="133" name="Google Shape;133;p11" descr="server"/>
          <p:cNvPicPr preferRelativeResize="0"/>
          <p:nvPr/>
        </p:nvPicPr>
        <p:blipFill rotWithShape="1">
          <a:blip r:embed="rId5">
            <a:alphaModFix/>
          </a:blip>
          <a:srcRect/>
          <a:stretch/>
        </p:blipFill>
        <p:spPr>
          <a:xfrm>
            <a:off x="0" y="2751423"/>
            <a:ext cx="3328670" cy="1664335"/>
          </a:xfrm>
          <a:prstGeom prst="rect">
            <a:avLst/>
          </a:prstGeom>
          <a:noFill/>
          <a:ln>
            <a:noFill/>
          </a:ln>
        </p:spPr>
      </p:pic>
      <p:sp>
        <p:nvSpPr>
          <p:cNvPr id="134" name="Google Shape;134;p11"/>
          <p:cNvSpPr txBox="1"/>
          <p:nvPr/>
        </p:nvSpPr>
        <p:spPr>
          <a:xfrm>
            <a:off x="0" y="4457080"/>
            <a:ext cx="18288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3. Server</a:t>
            </a:r>
            <a:endParaRPr/>
          </a:p>
        </p:txBody>
      </p:sp>
      <p:pic>
        <p:nvPicPr>
          <p:cNvPr id="135" name="Google Shape;135;p11" descr="workstation"/>
          <p:cNvPicPr preferRelativeResize="0"/>
          <p:nvPr/>
        </p:nvPicPr>
        <p:blipFill rotWithShape="1">
          <a:blip r:embed="rId6">
            <a:alphaModFix/>
          </a:blip>
          <a:srcRect/>
          <a:stretch/>
        </p:blipFill>
        <p:spPr>
          <a:xfrm>
            <a:off x="4572000" y="2804916"/>
            <a:ext cx="3247390" cy="1623695"/>
          </a:xfrm>
          <a:prstGeom prst="rect">
            <a:avLst/>
          </a:prstGeom>
          <a:noFill/>
          <a:ln>
            <a:noFill/>
          </a:ln>
        </p:spPr>
      </p:pic>
      <p:sp>
        <p:nvSpPr>
          <p:cNvPr id="136" name="Google Shape;136;p11"/>
          <p:cNvSpPr txBox="1"/>
          <p:nvPr/>
        </p:nvSpPr>
        <p:spPr>
          <a:xfrm>
            <a:off x="4491990" y="4418095"/>
            <a:ext cx="364553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4. Workstation</a:t>
            </a:r>
            <a:endParaRPr/>
          </a:p>
        </p:txBody>
      </p:sp>
      <p:pic>
        <p:nvPicPr>
          <p:cNvPr id="137" name="Google Shape;137;p11" descr="mainframe computer"/>
          <p:cNvPicPr preferRelativeResize="0"/>
          <p:nvPr/>
        </p:nvPicPr>
        <p:blipFill rotWithShape="1">
          <a:blip r:embed="rId7">
            <a:alphaModFix/>
          </a:blip>
          <a:srcRect/>
          <a:stretch/>
        </p:blipFill>
        <p:spPr>
          <a:xfrm>
            <a:off x="69850" y="4725872"/>
            <a:ext cx="3258820" cy="1629410"/>
          </a:xfrm>
          <a:prstGeom prst="rect">
            <a:avLst/>
          </a:prstGeom>
          <a:noFill/>
          <a:ln>
            <a:noFill/>
          </a:ln>
        </p:spPr>
      </p:pic>
      <p:sp>
        <p:nvSpPr>
          <p:cNvPr id="138" name="Google Shape;138;p11"/>
          <p:cNvSpPr txBox="1"/>
          <p:nvPr/>
        </p:nvSpPr>
        <p:spPr>
          <a:xfrm>
            <a:off x="69850" y="6355282"/>
            <a:ext cx="33286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5. Mainframe</a:t>
            </a:r>
            <a:endParaRPr/>
          </a:p>
        </p:txBody>
      </p:sp>
      <p:pic>
        <p:nvPicPr>
          <p:cNvPr id="139" name="Google Shape;139;p11" descr="supercomputer"/>
          <p:cNvPicPr preferRelativeResize="0"/>
          <p:nvPr/>
        </p:nvPicPr>
        <p:blipFill rotWithShape="1">
          <a:blip r:embed="rId8">
            <a:alphaModFix/>
          </a:blip>
          <a:srcRect/>
          <a:stretch/>
        </p:blipFill>
        <p:spPr>
          <a:xfrm>
            <a:off x="4572000" y="4708409"/>
            <a:ext cx="3328670" cy="1664335"/>
          </a:xfrm>
          <a:prstGeom prst="rect">
            <a:avLst/>
          </a:prstGeom>
          <a:noFill/>
          <a:ln>
            <a:noFill/>
          </a:ln>
        </p:spPr>
      </p:pic>
      <p:sp>
        <p:nvSpPr>
          <p:cNvPr id="140" name="Google Shape;140;p11"/>
          <p:cNvSpPr txBox="1"/>
          <p:nvPr/>
        </p:nvSpPr>
        <p:spPr>
          <a:xfrm>
            <a:off x="4491990" y="6372744"/>
            <a:ext cx="349948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6. Supercomputer</a:t>
            </a:r>
            <a:endParaRPr/>
          </a:p>
        </p:txBody>
      </p:sp>
      <p:sp>
        <p:nvSpPr>
          <p:cNvPr id="141" name="Google Shape;141;p11"/>
          <p:cNvSpPr txBox="1"/>
          <p:nvPr/>
        </p:nvSpPr>
        <p:spPr>
          <a:xfrm>
            <a:off x="284480" y="194941"/>
            <a:ext cx="45720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Calibri"/>
                <a:ea typeface="Calibri"/>
                <a:cs typeface="Calibri"/>
                <a:sym typeface="Calibri"/>
              </a:rPr>
              <a:t>Types of Computers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graphicFrame>
        <p:nvGraphicFramePr>
          <p:cNvPr id="146" name="Google Shape;146;p29"/>
          <p:cNvGraphicFramePr/>
          <p:nvPr/>
        </p:nvGraphicFramePr>
        <p:xfrm>
          <a:off x="30480" y="978535"/>
          <a:ext cx="9062725" cy="5605075"/>
        </p:xfrm>
        <a:graphic>
          <a:graphicData uri="http://schemas.openxmlformats.org/drawingml/2006/table">
            <a:tbl>
              <a:tblPr>
                <a:noFill/>
                <a:tableStyleId>{46D73854-553D-466A-B30C-B7EB81928990}</a:tableStyleId>
              </a:tblPr>
              <a:tblGrid>
                <a:gridCol w="1294675">
                  <a:extLst>
                    <a:ext uri="{9D8B030D-6E8A-4147-A177-3AD203B41FA5}">
                      <a16:colId xmlns:a16="http://schemas.microsoft.com/office/drawing/2014/main" val="20000"/>
                    </a:ext>
                  </a:extLst>
                </a:gridCol>
                <a:gridCol w="1285975">
                  <a:extLst>
                    <a:ext uri="{9D8B030D-6E8A-4147-A177-3AD203B41FA5}">
                      <a16:colId xmlns:a16="http://schemas.microsoft.com/office/drawing/2014/main" val="20001"/>
                    </a:ext>
                  </a:extLst>
                </a:gridCol>
                <a:gridCol w="1178550">
                  <a:extLst>
                    <a:ext uri="{9D8B030D-6E8A-4147-A177-3AD203B41FA5}">
                      <a16:colId xmlns:a16="http://schemas.microsoft.com/office/drawing/2014/main" val="20002"/>
                    </a:ext>
                  </a:extLst>
                </a:gridCol>
                <a:gridCol w="1300475">
                  <a:extLst>
                    <a:ext uri="{9D8B030D-6E8A-4147-A177-3AD203B41FA5}">
                      <a16:colId xmlns:a16="http://schemas.microsoft.com/office/drawing/2014/main" val="20003"/>
                    </a:ext>
                  </a:extLst>
                </a:gridCol>
                <a:gridCol w="1413700">
                  <a:extLst>
                    <a:ext uri="{9D8B030D-6E8A-4147-A177-3AD203B41FA5}">
                      <a16:colId xmlns:a16="http://schemas.microsoft.com/office/drawing/2014/main" val="20004"/>
                    </a:ext>
                  </a:extLst>
                </a:gridCol>
                <a:gridCol w="1294675">
                  <a:extLst>
                    <a:ext uri="{9D8B030D-6E8A-4147-A177-3AD203B41FA5}">
                      <a16:colId xmlns:a16="http://schemas.microsoft.com/office/drawing/2014/main" val="20005"/>
                    </a:ext>
                  </a:extLst>
                </a:gridCol>
                <a:gridCol w="1294675">
                  <a:extLst>
                    <a:ext uri="{9D8B030D-6E8A-4147-A177-3AD203B41FA5}">
                      <a16:colId xmlns:a16="http://schemas.microsoft.com/office/drawing/2014/main" val="20006"/>
                    </a:ext>
                  </a:extLst>
                </a:gridCol>
              </a:tblGrid>
              <a:tr h="4556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Feature</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Microcomputer (PC)</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Minicomputer</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Mainframe Computer</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Supercomputer</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Workstation</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Server</a:t>
                      </a:r>
                      <a:endParaRPr/>
                    </a:p>
                  </a:txBody>
                  <a:tcPr marL="39025" marR="39025" marT="19500" marB="19500" anchor="ctr"/>
                </a:tc>
                <a:extLst>
                  <a:ext uri="{0D108BD9-81ED-4DB2-BD59-A6C34878D82A}">
                    <a16:rowId xmlns:a16="http://schemas.microsoft.com/office/drawing/2014/main" val="10000"/>
                  </a:ext>
                </a:extLst>
              </a:tr>
              <a:tr h="10732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Definition</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Small computer for a single user</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Mid-range computer for multiple users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Large computer for high-volume data processing</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Fastest computer for scientific and engineering computations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High-performance computer for professional applications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Computer that provides services and resources to other computers over a network</a:t>
                      </a:r>
                      <a:endParaRPr/>
                    </a:p>
                  </a:txBody>
                  <a:tcPr marL="39025" marR="39025" marT="19500" marB="19500" anchor="ctr"/>
                </a:tc>
                <a:extLst>
                  <a:ext uri="{0D108BD9-81ED-4DB2-BD59-A6C34878D82A}">
                    <a16:rowId xmlns:a16="http://schemas.microsoft.com/office/drawing/2014/main" val="10001"/>
                  </a:ext>
                </a:extLst>
              </a:tr>
              <a:tr h="5406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Users Supported</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10–100</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Hundreds to thousands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Few specialized users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 professional user</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Hundreds to thousands of clients</a:t>
                      </a:r>
                      <a:endParaRPr/>
                    </a:p>
                  </a:txBody>
                  <a:tcPr marL="39025" marR="39025" marT="19500" marB="19500" anchor="ctr"/>
                </a:tc>
                <a:extLst>
                  <a:ext uri="{0D108BD9-81ED-4DB2-BD59-A6C34878D82A}">
                    <a16:rowId xmlns:a16="http://schemas.microsoft.com/office/drawing/2014/main" val="10002"/>
                  </a:ext>
                </a:extLst>
              </a:tr>
              <a:tr h="5037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Memory (RAM)</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4–64 GB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16–256 GB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Hundreds of GB to several TB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Several TB to PB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16–512 GB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32 GB to several TB</a:t>
                      </a:r>
                      <a:endParaRPr/>
                    </a:p>
                  </a:txBody>
                  <a:tcPr marL="39025" marR="39025" marT="19500" marB="19500" anchor="ctr"/>
                </a:tc>
                <a:extLst>
                  <a:ext uri="{0D108BD9-81ED-4DB2-BD59-A6C34878D82A}">
                    <a16:rowId xmlns:a16="http://schemas.microsoft.com/office/drawing/2014/main" val="10003"/>
                  </a:ext>
                </a:extLst>
              </a:tr>
              <a:tr h="4556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Storage Capacity</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256 GB–4 TB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Several TB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Hundreds of TB to PB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PB or more</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1–20 TB</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Several TB to PB</a:t>
                      </a:r>
                      <a:endParaRPr/>
                    </a:p>
                  </a:txBody>
                  <a:tcPr marL="39025" marR="39025" marT="19500" marB="19500" anchor="ctr"/>
                </a:tc>
                <a:extLst>
                  <a:ext uri="{0D108BD9-81ED-4DB2-BD59-A6C34878D82A}">
                    <a16:rowId xmlns:a16="http://schemas.microsoft.com/office/drawing/2014/main" val="10004"/>
                  </a:ext>
                </a:extLst>
              </a:tr>
              <a:tr h="4519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Operating System</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Windows, Linux, macOS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UNIX, Linux</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z/OS, Linux</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Linux-based HPC OS</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Windows, Linux, UNIX</a:t>
                      </a:r>
                      <a:endParaRPr/>
                    </a:p>
                  </a:txBody>
                  <a:tcPr marL="39025" marR="39025" marT="19500" marB="19500"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Windows Server, Linux, UNIX</a:t>
                      </a:r>
                      <a:endParaRPr/>
                    </a:p>
                  </a:txBody>
                  <a:tcPr marL="39025" marR="39025" marT="19500" marB="19500" anchor="ctr"/>
                </a:tc>
                <a:extLst>
                  <a:ext uri="{0D108BD9-81ED-4DB2-BD59-A6C34878D82A}">
                    <a16:rowId xmlns:a16="http://schemas.microsoft.com/office/drawing/2014/main" val="10005"/>
                  </a:ext>
                </a:extLst>
              </a:tr>
              <a:tr h="9447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Primary Use</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Personal computing</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Departmental applications</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Engineering, CAD/CAM, AI</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Network, web, cloud, databases</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Banking, airlines, government</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Scientific simulations, weather forecasting, AI</a:t>
                      </a:r>
                      <a:endParaRPr/>
                    </a:p>
                  </a:txBody>
                  <a:tcPr marL="91450" marR="91450" marT="45725" marB="45725" anchor="ctr"/>
                </a:tc>
                <a:extLst>
                  <a:ext uri="{0D108BD9-81ED-4DB2-BD59-A6C34878D82A}">
                    <a16:rowId xmlns:a16="http://schemas.microsoft.com/office/drawing/2014/main" val="10006"/>
                  </a:ext>
                </a:extLst>
              </a:tr>
              <a:tr h="5477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Approximate Cost</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₹30,000–₹2 lakh</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₹5–50 lakh</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₹2–20 lakh</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₹5 lakh–₹5 crore</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₹10–500 crore</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latin typeface="Calibri"/>
                          <a:ea typeface="Calibri"/>
                          <a:cs typeface="Calibri"/>
                          <a:sym typeface="Calibri"/>
                        </a:rPr>
                        <a:t>₹500 crore–₹5,000+ crore</a:t>
                      </a:r>
                      <a:endParaRPr/>
                    </a:p>
                  </a:txBody>
                  <a:tcPr marL="91450" marR="91450" marT="45725" marB="45725"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0"/>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Generation &amp; Description</a:t>
            </a:r>
            <a:endParaRPr b="1">
              <a:solidFill>
                <a:schemeClr val="dk1"/>
              </a:solidFill>
              <a:latin typeface="Calibri"/>
              <a:ea typeface="Calibri"/>
              <a:cs typeface="Calibri"/>
              <a:sym typeface="Calibri"/>
            </a:endParaRPr>
          </a:p>
        </p:txBody>
      </p:sp>
      <p:sp>
        <p:nvSpPr>
          <p:cNvPr id="152" name="Google Shape;152;p30"/>
          <p:cNvSpPr txBox="1"/>
          <p:nvPr/>
        </p:nvSpPr>
        <p:spPr>
          <a:xfrm>
            <a:off x="457200" y="1371600"/>
            <a:ext cx="3119120" cy="492442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First Generation</a:t>
            </a:r>
            <a:endParaRPr/>
          </a:p>
          <a:p>
            <a:pPr marL="0" marR="0" lvl="0" indent="0" algn="just"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The period of first generation: 	1946-1959.</a:t>
            </a:r>
            <a:endParaRPr/>
          </a:p>
          <a:p>
            <a:pPr marL="0" marR="0" lvl="0" indent="0" algn="just" rtl="0">
              <a:lnSpc>
                <a:spcPct val="100000"/>
              </a:lnSpc>
              <a:spcBef>
                <a:spcPts val="0"/>
              </a:spcBef>
              <a:spcAft>
                <a:spcPts val="0"/>
              </a:spcAft>
              <a:buNone/>
            </a:pPr>
            <a:r>
              <a:rPr lang="en-US" sz="1600" b="1" i="1" u="none" strike="noStrike" cap="none">
                <a:solidFill>
                  <a:srgbClr val="008000"/>
                </a:solidFill>
                <a:latin typeface="Calibri"/>
                <a:ea typeface="Calibri"/>
                <a:cs typeface="Calibri"/>
                <a:sym typeface="Calibri"/>
              </a:rPr>
              <a:t>	</a:t>
            </a:r>
            <a:r>
              <a:rPr lang="en-US" sz="1400" b="1" i="1" u="none" strike="noStrike" cap="none">
                <a:solidFill>
                  <a:srgbClr val="008000"/>
                </a:solidFill>
                <a:latin typeface="Calibri"/>
                <a:ea typeface="Calibri"/>
                <a:cs typeface="Calibri"/>
                <a:sym typeface="Calibri"/>
              </a:rPr>
              <a:t>Vacuum tube </a:t>
            </a:r>
            <a:r>
              <a:rPr lang="en-US" sz="1600" b="1" i="1" u="none" strike="noStrike" cap="none">
                <a:solidFill>
                  <a:srgbClr val="008000"/>
                </a:solidFill>
                <a:latin typeface="Calibri"/>
                <a:ea typeface="Calibri"/>
                <a:cs typeface="Calibri"/>
                <a:sym typeface="Calibri"/>
              </a:rPr>
              <a:t>based.</a:t>
            </a:r>
            <a:endParaRPr/>
          </a:p>
          <a:p>
            <a:pPr marL="285750" marR="0" lvl="0" indent="-285750" algn="just" rtl="0">
              <a:lnSpc>
                <a:spcPct val="10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Second Generation</a:t>
            </a:r>
            <a:endParaRPr/>
          </a:p>
          <a:p>
            <a:pPr marL="0" marR="0" lvl="0" indent="0" algn="just"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The period of second 	generation: 1959-1965. </a:t>
            </a:r>
            <a:endParaRPr/>
          </a:p>
          <a:p>
            <a:pPr marL="0" marR="0" lvl="0" indent="0" algn="just"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a:t>
            </a:r>
            <a:r>
              <a:rPr lang="en-US" sz="1400" b="1" i="1" u="none" strike="noStrike" cap="none">
                <a:solidFill>
                  <a:srgbClr val="008000"/>
                </a:solidFill>
                <a:latin typeface="Calibri"/>
                <a:ea typeface="Calibri"/>
                <a:cs typeface="Calibri"/>
                <a:sym typeface="Calibri"/>
              </a:rPr>
              <a:t>Transistor based</a:t>
            </a:r>
            <a:r>
              <a:rPr lang="en-US" sz="1400" b="0" i="0" u="none" strike="noStrike" cap="none">
                <a:solidFill>
                  <a:srgbClr val="000000"/>
                </a:solidFill>
                <a:latin typeface="Calibri"/>
                <a:ea typeface="Calibri"/>
                <a:cs typeface="Calibri"/>
                <a:sym typeface="Calibri"/>
              </a:rPr>
              <a:t>.</a:t>
            </a:r>
            <a:endParaRPr/>
          </a:p>
          <a:p>
            <a:pPr marL="285750" marR="0" lvl="0" indent="-285750" algn="just" rtl="0">
              <a:lnSpc>
                <a:spcPct val="10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Third Generation</a:t>
            </a:r>
            <a:endParaRPr/>
          </a:p>
          <a:p>
            <a:pPr marL="0" marR="0" lvl="0" indent="0" algn="just"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The period of third generation: 	1965-1971</a:t>
            </a:r>
            <a:r>
              <a:rPr lang="en-US" sz="1600" b="1" i="1" u="none" strike="noStrike" cap="none">
                <a:solidFill>
                  <a:srgbClr val="002060"/>
                </a:solidFill>
                <a:latin typeface="Calibri"/>
                <a:ea typeface="Calibri"/>
                <a:cs typeface="Calibri"/>
                <a:sym typeface="Calibri"/>
              </a:rPr>
              <a:t>. </a:t>
            </a:r>
            <a:endParaRPr/>
          </a:p>
          <a:p>
            <a:pPr marL="0" marR="0" lvl="0" indent="0" algn="just" rtl="0">
              <a:lnSpc>
                <a:spcPct val="100000"/>
              </a:lnSpc>
              <a:spcBef>
                <a:spcPts val="0"/>
              </a:spcBef>
              <a:spcAft>
                <a:spcPts val="0"/>
              </a:spcAft>
              <a:buNone/>
            </a:pPr>
            <a:r>
              <a:rPr lang="en-US" sz="1400" b="1" i="1" u="none" strike="noStrike" cap="none">
                <a:solidFill>
                  <a:srgbClr val="002060"/>
                </a:solidFill>
                <a:latin typeface="Calibri"/>
                <a:ea typeface="Calibri"/>
                <a:cs typeface="Calibri"/>
                <a:sym typeface="Calibri"/>
              </a:rPr>
              <a:t>	</a:t>
            </a:r>
            <a:r>
              <a:rPr lang="en-US" sz="1400" b="1" i="1" u="none" strike="noStrike" cap="none">
                <a:solidFill>
                  <a:srgbClr val="008000"/>
                </a:solidFill>
                <a:latin typeface="Calibri"/>
                <a:ea typeface="Calibri"/>
                <a:cs typeface="Calibri"/>
                <a:sym typeface="Calibri"/>
              </a:rPr>
              <a:t>Integrated-Circuit based.</a:t>
            </a:r>
            <a:endParaRPr sz="1600" b="1" i="1" u="none" strike="noStrike" cap="none">
              <a:solidFill>
                <a:srgbClr val="008000"/>
              </a:solidFill>
              <a:latin typeface="Calibri"/>
              <a:ea typeface="Calibri"/>
              <a:cs typeface="Calibri"/>
              <a:sym typeface="Calibri"/>
            </a:endParaRPr>
          </a:p>
          <a:p>
            <a:pPr marL="285750" marR="0" lvl="0" indent="-285750" algn="just" rtl="0">
              <a:lnSpc>
                <a:spcPct val="10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Fourth Generation</a:t>
            </a:r>
            <a:endParaRPr/>
          </a:p>
          <a:p>
            <a:pPr marL="0" marR="0" lvl="0" indent="0" algn="just"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The period of fourth 	generation: 1971-1980. </a:t>
            </a:r>
            <a:endParaRPr/>
          </a:p>
          <a:p>
            <a:pPr marL="0" marR="0" lvl="0" indent="0" algn="just" rtl="0">
              <a:lnSpc>
                <a:spcPct val="100000"/>
              </a:lnSpc>
              <a:spcBef>
                <a:spcPts val="0"/>
              </a:spcBef>
              <a:spcAft>
                <a:spcPts val="0"/>
              </a:spcAft>
              <a:buNone/>
            </a:pPr>
            <a:r>
              <a:rPr lang="en-US" sz="1400" b="1" i="1" u="none" strike="noStrike" cap="none">
                <a:solidFill>
                  <a:srgbClr val="002060"/>
                </a:solidFill>
                <a:latin typeface="Calibri"/>
                <a:ea typeface="Calibri"/>
                <a:cs typeface="Calibri"/>
                <a:sym typeface="Calibri"/>
              </a:rPr>
              <a:t>	</a:t>
            </a:r>
            <a:r>
              <a:rPr lang="en-US" sz="1400" b="1" i="1" u="none" strike="noStrike" cap="none">
                <a:solidFill>
                  <a:srgbClr val="008000"/>
                </a:solidFill>
                <a:latin typeface="Calibri"/>
                <a:ea typeface="Calibri"/>
                <a:cs typeface="Calibri"/>
                <a:sym typeface="Calibri"/>
              </a:rPr>
              <a:t>VLSI  microprocessor based.</a:t>
            </a:r>
            <a:endParaRPr sz="1600" b="1" i="1" u="none" strike="noStrike" cap="none">
              <a:solidFill>
                <a:srgbClr val="008000"/>
              </a:solidFill>
              <a:latin typeface="Calibri"/>
              <a:ea typeface="Calibri"/>
              <a:cs typeface="Calibri"/>
              <a:sym typeface="Calibri"/>
            </a:endParaRPr>
          </a:p>
          <a:p>
            <a:pPr marL="285750" marR="0" lvl="0" indent="-285750" algn="just" rtl="0">
              <a:lnSpc>
                <a:spcPct val="10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Fifth Generation</a:t>
            </a:r>
            <a:endParaRPr/>
          </a:p>
          <a:p>
            <a:pPr marL="0" marR="0" lvl="0" indent="0" algn="just"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The period of fifth generation: 	1980-onwards. </a:t>
            </a:r>
            <a:endParaRPr/>
          </a:p>
          <a:p>
            <a:pPr marL="0" marR="0" lvl="0" indent="0" algn="just" rtl="0">
              <a:lnSpc>
                <a:spcPct val="100000"/>
              </a:lnSpc>
              <a:spcBef>
                <a:spcPts val="0"/>
              </a:spcBef>
              <a:spcAft>
                <a:spcPts val="0"/>
              </a:spcAft>
              <a:buNone/>
            </a:pPr>
            <a:r>
              <a:rPr lang="en-US" sz="1400" b="1" i="1" u="none" strike="noStrike" cap="none">
                <a:solidFill>
                  <a:srgbClr val="002060"/>
                </a:solidFill>
                <a:latin typeface="Calibri"/>
                <a:ea typeface="Calibri"/>
                <a:cs typeface="Calibri"/>
                <a:sym typeface="Calibri"/>
              </a:rPr>
              <a:t>	</a:t>
            </a:r>
            <a:r>
              <a:rPr lang="en-US" sz="1400" b="1" i="1" u="none" strike="noStrike" cap="none">
                <a:solidFill>
                  <a:srgbClr val="008000"/>
                </a:solidFill>
                <a:latin typeface="Calibri"/>
                <a:ea typeface="Calibri"/>
                <a:cs typeface="Calibri"/>
                <a:sym typeface="Calibri"/>
              </a:rPr>
              <a:t>ULSI  microprocessor-based</a:t>
            </a:r>
            <a:endParaRPr sz="1600" b="1" i="1" u="none" strike="noStrike" cap="none">
              <a:solidFill>
                <a:srgbClr val="008000"/>
              </a:solidFill>
              <a:latin typeface="Calibri"/>
              <a:ea typeface="Calibri"/>
              <a:cs typeface="Calibri"/>
              <a:sym typeface="Calibri"/>
            </a:endParaRPr>
          </a:p>
        </p:txBody>
      </p:sp>
      <p:pic>
        <p:nvPicPr>
          <p:cNvPr id="153" name="Google Shape;153;p30" descr="1st to 5th Generations of Computer: Complete Information."/>
          <p:cNvPicPr preferRelativeResize="0"/>
          <p:nvPr/>
        </p:nvPicPr>
        <p:blipFill rotWithShape="1">
          <a:blip r:embed="rId3">
            <a:alphaModFix/>
          </a:blip>
          <a:srcRect/>
          <a:stretch/>
        </p:blipFill>
        <p:spPr>
          <a:xfrm>
            <a:off x="3495040" y="1646555"/>
            <a:ext cx="5433586" cy="3839845"/>
          </a:xfrm>
          <a:prstGeom prst="rect">
            <a:avLst/>
          </a:prstGeom>
          <a:noFill/>
          <a:ln>
            <a:noFill/>
          </a:ln>
        </p:spPr>
      </p:pic>
      <p:sp>
        <p:nvSpPr>
          <p:cNvPr id="154" name="Google Shape;154;p30"/>
          <p:cNvSpPr txBox="1"/>
          <p:nvPr/>
        </p:nvSpPr>
        <p:spPr>
          <a:xfrm>
            <a:off x="4013200" y="5618480"/>
            <a:ext cx="4673600"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 1.2 Key technologies behind five generations of a computer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1"/>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First Generation Computers</a:t>
            </a:r>
            <a:endParaRPr b="1">
              <a:solidFill>
                <a:schemeClr val="dk1"/>
              </a:solidFill>
              <a:latin typeface="Calibri"/>
              <a:ea typeface="Calibri"/>
              <a:cs typeface="Calibri"/>
              <a:sym typeface="Calibri"/>
            </a:endParaRPr>
          </a:p>
        </p:txBody>
      </p:sp>
      <p:sp>
        <p:nvSpPr>
          <p:cNvPr id="160" name="Google Shape;160;p31"/>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Calibri"/>
              <a:ea typeface="Calibri"/>
              <a:cs typeface="Calibri"/>
              <a:sym typeface="Calibri"/>
            </a:endParaRPr>
          </a:p>
        </p:txBody>
      </p:sp>
      <p:sp>
        <p:nvSpPr>
          <p:cNvPr id="161" name="Google Shape;161;p31"/>
          <p:cNvSpPr txBox="1"/>
          <p:nvPr/>
        </p:nvSpPr>
        <p:spPr>
          <a:xfrm>
            <a:off x="457200" y="1371600"/>
            <a:ext cx="7942006" cy="465364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000000"/>
                </a:solidFill>
                <a:latin typeface="Calibri"/>
                <a:ea typeface="Calibri"/>
                <a:cs typeface="Calibri"/>
                <a:sym typeface="Calibri"/>
              </a:rPr>
              <a:t>The period of first generation was from 1946-1959. The computers of first generation used vacuum tubes as the basic components for memory and circuitry for CPU (Central Processing Unit). </a:t>
            </a:r>
            <a:endParaRPr/>
          </a:p>
          <a:p>
            <a:pPr marL="0" marR="0" lvl="0" indent="0" algn="just" rtl="0">
              <a:lnSpc>
                <a:spcPct val="150000"/>
              </a:lnSpc>
              <a:spcBef>
                <a:spcPts val="0"/>
              </a:spcBef>
              <a:spcAft>
                <a:spcPts val="0"/>
              </a:spcAft>
              <a:buNone/>
            </a:pPr>
            <a:r>
              <a:rPr lang="en-US" sz="2000" b="0" i="0" u="none" strike="noStrike" cap="none">
                <a:solidFill>
                  <a:srgbClr val="000000"/>
                </a:solidFill>
                <a:latin typeface="Calibri"/>
                <a:ea typeface="Calibri"/>
                <a:cs typeface="Calibri"/>
                <a:sym typeface="Calibri"/>
              </a:rPr>
              <a:t>These tubes, like electric bulbs, produced a lot of heat and the installations used to fuse frequently. Therefore, they were very expensive and only large organizations were able to afford it.</a:t>
            </a:r>
            <a:endParaRPr/>
          </a:p>
          <a:p>
            <a:pPr marL="0" marR="0" lvl="0" indent="0" algn="just" rtl="0">
              <a:lnSpc>
                <a:spcPct val="150000"/>
              </a:lnSpc>
              <a:spcBef>
                <a:spcPts val="0"/>
              </a:spcBef>
              <a:spcAft>
                <a:spcPts val="0"/>
              </a:spcAft>
              <a:buNone/>
            </a:pPr>
            <a:r>
              <a:rPr lang="en-US" sz="2000" b="0" i="0" u="none" strike="noStrike" cap="none">
                <a:solidFill>
                  <a:srgbClr val="000000"/>
                </a:solidFill>
                <a:latin typeface="Calibri"/>
                <a:ea typeface="Calibri"/>
                <a:cs typeface="Calibri"/>
                <a:sym typeface="Calibri"/>
              </a:rPr>
              <a:t>In this generation, mainly batch processing operating system was used. Punch cards, paper tape, and magnetic tape was used as input and output devices. The computers in this generation used machine code as the programming language.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2"/>
          <p:cNvSpPr txBox="1"/>
          <p:nvPr/>
        </p:nvSpPr>
        <p:spPr>
          <a:xfrm>
            <a:off x="311285" y="1024939"/>
            <a:ext cx="3572457"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Calibri"/>
                <a:ea typeface="Calibri"/>
                <a:cs typeface="Calibri"/>
                <a:sym typeface="Calibri"/>
              </a:rPr>
              <a:t>The main features of the first generation are: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Vacuum tube technology</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Unreliable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Supported machine language only</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Very costly</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Generates lot of heat</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Slow input and output devices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Huge size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Need of AC</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Non-portable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Consumes lot of electricity</a:t>
            </a:r>
            <a:endParaRPr/>
          </a:p>
          <a:p>
            <a:pPr marL="0" marR="0" lvl="0" indent="0" algn="l" rtl="0">
              <a:lnSpc>
                <a:spcPct val="100000"/>
              </a:lnSpc>
              <a:spcBef>
                <a:spcPts val="0"/>
              </a:spcBef>
              <a:spcAft>
                <a:spcPts val="0"/>
              </a:spcAft>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1" i="0" u="none" strike="noStrike" cap="none">
                <a:solidFill>
                  <a:srgbClr val="000000"/>
                </a:solidFill>
                <a:latin typeface="Calibri"/>
                <a:ea typeface="Calibri"/>
                <a:cs typeface="Calibri"/>
                <a:sym typeface="Calibri"/>
              </a:rPr>
              <a:t>Some computers of this generation were: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ENIAC</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EDVAC</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UNIVAC</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IBM-701</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 IBM-750</a:t>
            </a:r>
            <a:endParaRPr/>
          </a:p>
        </p:txBody>
      </p:sp>
      <p:pic>
        <p:nvPicPr>
          <p:cNvPr id="167" name="Google Shape;167;p32" descr="IBM 700 Series"/>
          <p:cNvPicPr preferRelativeResize="0"/>
          <p:nvPr/>
        </p:nvPicPr>
        <p:blipFill rotWithShape="1">
          <a:blip r:embed="rId3">
            <a:alphaModFix/>
          </a:blip>
          <a:srcRect/>
          <a:stretch/>
        </p:blipFill>
        <p:spPr>
          <a:xfrm>
            <a:off x="3815127" y="1307690"/>
            <a:ext cx="5017588" cy="3913239"/>
          </a:xfrm>
          <a:prstGeom prst="rect">
            <a:avLst/>
          </a:prstGeom>
          <a:noFill/>
          <a:ln>
            <a:noFill/>
          </a:ln>
        </p:spPr>
      </p:pic>
      <p:sp>
        <p:nvSpPr>
          <p:cNvPr id="168" name="Google Shape;168;p32"/>
          <p:cNvSpPr txBox="1"/>
          <p:nvPr/>
        </p:nvSpPr>
        <p:spPr>
          <a:xfrm>
            <a:off x="4816606" y="5381033"/>
            <a:ext cx="3271736"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 1.3 IBM 700 SERIES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3"/>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Second Generation Computers</a:t>
            </a:r>
            <a:endParaRPr b="1">
              <a:solidFill>
                <a:schemeClr val="dk1"/>
              </a:solidFill>
              <a:latin typeface="Calibri"/>
              <a:ea typeface="Calibri"/>
              <a:cs typeface="Calibri"/>
              <a:sym typeface="Calibri"/>
            </a:endParaRPr>
          </a:p>
        </p:txBody>
      </p:sp>
      <p:sp>
        <p:nvSpPr>
          <p:cNvPr id="174" name="Google Shape;174;p33"/>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b="1">
              <a:solidFill>
                <a:schemeClr val="dk1"/>
              </a:solidFill>
              <a:latin typeface="Calibri"/>
              <a:ea typeface="Calibri"/>
              <a:cs typeface="Calibri"/>
              <a:sym typeface="Calibri"/>
            </a:endParaRPr>
          </a:p>
          <a:p>
            <a:pPr marL="482600" lvl="0" indent="-254000" algn="just" rtl="0">
              <a:lnSpc>
                <a:spcPct val="100000"/>
              </a:lnSpc>
              <a:spcBef>
                <a:spcPts val="640"/>
              </a:spcBef>
              <a:spcAft>
                <a:spcPts val="0"/>
              </a:spcAft>
              <a:buSzPts val="3200"/>
              <a:buFont typeface="Noto Sans Symbols"/>
              <a:buNone/>
            </a:pPr>
            <a:endParaRPr sz="2000" b="1">
              <a:solidFill>
                <a:schemeClr val="dk1"/>
              </a:solidFill>
              <a:latin typeface="Calibri"/>
              <a:ea typeface="Calibri"/>
              <a:cs typeface="Calibri"/>
              <a:sym typeface="Calibri"/>
            </a:endParaRPr>
          </a:p>
        </p:txBody>
      </p:sp>
      <p:sp>
        <p:nvSpPr>
          <p:cNvPr id="175" name="Google Shape;175;p33"/>
          <p:cNvSpPr txBox="1"/>
          <p:nvPr/>
        </p:nvSpPr>
        <p:spPr>
          <a:xfrm>
            <a:off x="533400" y="1287565"/>
            <a:ext cx="7722141" cy="452431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chemeClr val="dk1"/>
                </a:solidFill>
                <a:latin typeface="Calibri"/>
                <a:ea typeface="Calibri"/>
                <a:cs typeface="Calibri"/>
                <a:sym typeface="Calibri"/>
              </a:rPr>
              <a:t>The period of second generation was from 1959-1965. In this generation, transistors were used that were cheaper, consumed less power, more compact in size, more reliable and faster than the first-generation machines made of vacuum tubes. In this generation, magnetic cores were used as the primary memory and magnetic tape and magnetic disks as secondary storage devices.</a:t>
            </a:r>
            <a:endParaRPr/>
          </a:p>
          <a:p>
            <a:pPr marL="0" marR="0" lvl="0" indent="0" algn="just" rtl="0">
              <a:lnSpc>
                <a:spcPct val="100000"/>
              </a:lnSpc>
              <a:spcBef>
                <a:spcPts val="0"/>
              </a:spcBef>
              <a:spcAft>
                <a:spcPts val="0"/>
              </a:spcAft>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None/>
            </a:pPr>
            <a:r>
              <a:rPr lang="en-US" sz="2400" b="0" i="0" u="none" strike="noStrike" cap="none">
                <a:solidFill>
                  <a:schemeClr val="dk1"/>
                </a:solidFill>
                <a:latin typeface="Calibri"/>
                <a:ea typeface="Calibri"/>
                <a:cs typeface="Calibri"/>
                <a:sym typeface="Calibri"/>
              </a:rPr>
              <a:t>In this generation, assembly language and high-level programming languages like FORTRAN, COBOL were used. The computers used batch processing and multiprogramming operating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pic>
        <p:nvPicPr>
          <p:cNvPr id="181" name="Google Shape;181;p34" descr="IBM 7090."/>
          <p:cNvPicPr preferRelativeResize="0"/>
          <p:nvPr/>
        </p:nvPicPr>
        <p:blipFill rotWithShape="1">
          <a:blip r:embed="rId3">
            <a:alphaModFix/>
          </a:blip>
          <a:srcRect/>
          <a:stretch/>
        </p:blipFill>
        <p:spPr>
          <a:xfrm>
            <a:off x="4488243" y="1371600"/>
            <a:ext cx="4326142" cy="2900961"/>
          </a:xfrm>
          <a:prstGeom prst="rect">
            <a:avLst/>
          </a:prstGeom>
          <a:noFill/>
          <a:ln>
            <a:noFill/>
          </a:ln>
        </p:spPr>
      </p:pic>
      <p:sp>
        <p:nvSpPr>
          <p:cNvPr id="182" name="Google Shape;182;p34"/>
          <p:cNvSpPr txBox="1"/>
          <p:nvPr/>
        </p:nvSpPr>
        <p:spPr>
          <a:xfrm>
            <a:off x="329615" y="1254059"/>
            <a:ext cx="4409533" cy="47705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The main features of second generation are: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Use of transistors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Reliable in comparison to first generation computers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Smaller size as compared to first generation computers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Generates less heat as compared to first generation computers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Consumed less electricity as compared to first generation computers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Faster than first generation computers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Still very costly</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AC required</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Supported </a:t>
            </a:r>
            <a:r>
              <a:rPr lang="en-US" sz="1600" b="0" i="1" u="none" strike="noStrike" cap="none">
                <a:solidFill>
                  <a:srgbClr val="000000"/>
                </a:solidFill>
                <a:latin typeface="Times New Roman"/>
                <a:ea typeface="Times New Roman"/>
                <a:cs typeface="Times New Roman"/>
                <a:sym typeface="Times New Roman"/>
              </a:rPr>
              <a:t>machine</a:t>
            </a:r>
            <a:r>
              <a:rPr lang="en-US" sz="1600" b="0" i="0" u="none" strike="noStrike" cap="none">
                <a:solidFill>
                  <a:srgbClr val="000000"/>
                </a:solidFill>
                <a:latin typeface="Times New Roman"/>
                <a:ea typeface="Times New Roman"/>
                <a:cs typeface="Times New Roman"/>
                <a:sym typeface="Times New Roman"/>
              </a:rPr>
              <a:t> and </a:t>
            </a:r>
            <a:r>
              <a:rPr lang="en-US" sz="1600" b="0" i="1" u="none" strike="noStrike" cap="none">
                <a:solidFill>
                  <a:srgbClr val="000000"/>
                </a:solidFill>
                <a:latin typeface="Times New Roman"/>
                <a:ea typeface="Times New Roman"/>
                <a:cs typeface="Times New Roman"/>
                <a:sym typeface="Times New Roman"/>
              </a:rPr>
              <a:t>assembly </a:t>
            </a:r>
            <a:r>
              <a:rPr lang="en-US" sz="1600" b="0" i="0" u="none" strike="noStrike" cap="none">
                <a:solidFill>
                  <a:srgbClr val="000000"/>
                </a:solidFill>
                <a:latin typeface="Times New Roman"/>
                <a:ea typeface="Times New Roman"/>
                <a:cs typeface="Times New Roman"/>
                <a:sym typeface="Times New Roman"/>
              </a:rPr>
              <a:t>languages</a:t>
            </a:r>
            <a:endParaRPr/>
          </a:p>
          <a:p>
            <a:pPr marL="0" marR="0" lvl="0" indent="0" algn="l"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Some computers of this generation were: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IBM 1620</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IBM 7094</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CDC 1604</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UNIVAC 1108</a:t>
            </a:r>
            <a:endParaRPr/>
          </a:p>
        </p:txBody>
      </p:sp>
      <p:sp>
        <p:nvSpPr>
          <p:cNvPr id="183" name="Google Shape;183;p34"/>
          <p:cNvSpPr txBox="1"/>
          <p:nvPr/>
        </p:nvSpPr>
        <p:spPr>
          <a:xfrm>
            <a:off x="6001310" y="4545094"/>
            <a:ext cx="231518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 1.4 IBM 7094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8"/>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Third Generation Computers</a:t>
            </a:r>
            <a:endParaRPr b="1">
              <a:solidFill>
                <a:schemeClr val="dk1"/>
              </a:solidFill>
              <a:latin typeface="Calibri"/>
              <a:ea typeface="Calibri"/>
              <a:cs typeface="Calibri"/>
              <a:sym typeface="Calibri"/>
            </a:endParaRPr>
          </a:p>
        </p:txBody>
      </p:sp>
      <p:sp>
        <p:nvSpPr>
          <p:cNvPr id="189" name="Google Shape;189;p38"/>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sp>
        <p:nvSpPr>
          <p:cNvPr id="190" name="Google Shape;190;p38"/>
          <p:cNvSpPr txBox="1"/>
          <p:nvPr/>
        </p:nvSpPr>
        <p:spPr>
          <a:xfrm>
            <a:off x="838199" y="908531"/>
            <a:ext cx="10515600" cy="1325563"/>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1400"/>
              <a:buFont typeface="Arial"/>
              <a:buNone/>
            </a:pPr>
            <a:endParaRPr sz="3600" b="0" i="0" u="none" strike="noStrike" cap="none">
              <a:solidFill>
                <a:srgbClr val="002060"/>
              </a:solidFill>
              <a:latin typeface="Times New Roman"/>
              <a:ea typeface="Times New Roman"/>
              <a:cs typeface="Times New Roman"/>
              <a:sym typeface="Times New Roman"/>
            </a:endParaRPr>
          </a:p>
        </p:txBody>
      </p:sp>
      <p:sp>
        <p:nvSpPr>
          <p:cNvPr id="191" name="Google Shape;191;p38"/>
          <p:cNvSpPr txBox="1"/>
          <p:nvPr/>
        </p:nvSpPr>
        <p:spPr>
          <a:xfrm>
            <a:off x="533400" y="1295823"/>
            <a:ext cx="7981335" cy="41919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The period of third generation was from 1965-1971. The computers of third generation used Integrated Circuits (ICs) in place of transistors. A single IC has many transistors, resistors, and capacitors along with the associated circuitry.</a:t>
            </a:r>
            <a:endParaRPr/>
          </a:p>
          <a:p>
            <a:pPr marL="0" marR="0" lvl="0" indent="0" algn="just" rtl="0">
              <a:lnSpc>
                <a:spcPct val="15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The IC was invented by Jack Kilby. This development made computers smaller in size, reliable, and efficient. In this generation remote processing, time-sharing, multi-programming operating system were used. High-level languages (FORTRAN-II TO IV, COBOL, PASCAL PL/1, BASIC, ALGOL-68 etc.) were used during this generation.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9"/>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sp>
        <p:nvSpPr>
          <p:cNvPr id="197" name="Google Shape;197;p39"/>
          <p:cNvSpPr txBox="1"/>
          <p:nvPr/>
        </p:nvSpPr>
        <p:spPr>
          <a:xfrm>
            <a:off x="312503" y="969978"/>
            <a:ext cx="3644603" cy="52322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The main features of third generation are: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IC used</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More reliable in comparison to previous two generations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Smaller size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Generated less heat</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Faster</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Lesser maintenance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Costly</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AC required</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Consumed lesser electricity</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Supported high-level language</a:t>
            </a:r>
            <a:endParaRPr/>
          </a:p>
          <a:p>
            <a:pPr marL="0" marR="0" lvl="0" indent="0" algn="l" rtl="0">
              <a:lnSpc>
                <a:spcPct val="100000"/>
              </a:lnSpc>
              <a:spcBef>
                <a:spcPts val="0"/>
              </a:spcBef>
              <a:spcAft>
                <a:spcPts val="0"/>
              </a:spcAft>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Some computers of this generation were: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IBM-360 series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Honeywell-6000 series</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PDP (Personal Data Processor)</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IBM-370/168</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Times New Roman"/>
                <a:ea typeface="Times New Roman"/>
                <a:cs typeface="Times New Roman"/>
                <a:sym typeface="Times New Roman"/>
              </a:rPr>
              <a:t>• TDC-316</a:t>
            </a:r>
            <a:endParaRPr/>
          </a:p>
        </p:txBody>
      </p:sp>
      <p:pic>
        <p:nvPicPr>
          <p:cNvPr id="198" name="Google Shape;198;p39" descr="IBM System/370 with colour terminal. At NASA 1983. : r/cassettefuturism"/>
          <p:cNvPicPr preferRelativeResize="0"/>
          <p:nvPr/>
        </p:nvPicPr>
        <p:blipFill rotWithShape="1">
          <a:blip r:embed="rId3">
            <a:alphaModFix/>
          </a:blip>
          <a:srcRect/>
          <a:stretch/>
        </p:blipFill>
        <p:spPr>
          <a:xfrm>
            <a:off x="4463845" y="1047653"/>
            <a:ext cx="3950208" cy="4668062"/>
          </a:xfrm>
          <a:prstGeom prst="rect">
            <a:avLst/>
          </a:prstGeom>
          <a:noFill/>
          <a:ln>
            <a:noFill/>
          </a:ln>
        </p:spPr>
      </p:pic>
      <p:sp>
        <p:nvSpPr>
          <p:cNvPr id="199" name="Google Shape;199;p39"/>
          <p:cNvSpPr txBox="1"/>
          <p:nvPr/>
        </p:nvSpPr>
        <p:spPr>
          <a:xfrm>
            <a:off x="4463845" y="5824949"/>
            <a:ext cx="395020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 1.5 IBM SYSTEM 370 with color terminal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0"/>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rPr>
              <a:t>Fourth Generation Computers</a:t>
            </a:r>
            <a:endParaRPr b="1">
              <a:solidFill>
                <a:schemeClr val="dk1"/>
              </a:solidFill>
            </a:endParaRPr>
          </a:p>
        </p:txBody>
      </p:sp>
      <p:sp>
        <p:nvSpPr>
          <p:cNvPr id="205" name="Google Shape;205;p40"/>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sp>
        <p:nvSpPr>
          <p:cNvPr id="206" name="Google Shape;206;p40"/>
          <p:cNvSpPr txBox="1"/>
          <p:nvPr/>
        </p:nvSpPr>
        <p:spPr>
          <a:xfrm>
            <a:off x="459658" y="4087073"/>
            <a:ext cx="8227142" cy="234365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000000"/>
                </a:solidFill>
                <a:latin typeface="Arial"/>
                <a:ea typeface="Arial"/>
                <a:cs typeface="Arial"/>
                <a:sym typeface="Arial"/>
              </a:rPr>
              <a:t>Fourth generation computers became more powerful, compact, reliable, and affordable. As a result, it gave rise to Personal Computer (PC) revolution. In this generation, time sharing, real time networks, distributed operating system were used. All the high-level languages like C, C++, DBASE etc., were used in this generation</a:t>
            </a:r>
            <a:endParaRPr/>
          </a:p>
        </p:txBody>
      </p:sp>
      <p:pic>
        <p:nvPicPr>
          <p:cNvPr id="207" name="Google Shape;207;p40" descr="Generations of Computers and its Time Periods | InforamtionQ.com"/>
          <p:cNvPicPr preferRelativeResize="0"/>
          <p:nvPr/>
        </p:nvPicPr>
        <p:blipFill rotWithShape="1">
          <a:blip r:embed="rId3">
            <a:alphaModFix/>
          </a:blip>
          <a:srcRect r="2678"/>
          <a:stretch/>
        </p:blipFill>
        <p:spPr>
          <a:xfrm>
            <a:off x="892279" y="914401"/>
            <a:ext cx="6432754" cy="317267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1"/>
          <p:cNvSpPr txBox="1">
            <a:spLocks noGrp="1"/>
          </p:cNvSpPr>
          <p:nvPr>
            <p:ph type="subTitle" idx="1"/>
          </p:nvPr>
        </p:nvSpPr>
        <p:spPr>
          <a:xfrm>
            <a:off x="533400" y="1361768"/>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sp>
        <p:nvSpPr>
          <p:cNvPr id="213" name="Google Shape;213;p41"/>
          <p:cNvSpPr txBox="1"/>
          <p:nvPr/>
        </p:nvSpPr>
        <p:spPr>
          <a:xfrm>
            <a:off x="921773" y="1007855"/>
            <a:ext cx="5813324" cy="50783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Calibri"/>
                <a:ea typeface="Calibri"/>
                <a:cs typeface="Calibri"/>
                <a:sym typeface="Calibri"/>
              </a:rPr>
              <a:t>The main features of fourth generation are:</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VLSI technology used</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Very cheap</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Portable and reliable</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Use of PCs</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Very small size</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Pipeline processing</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No AC required</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Concept of internet was introduced</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Great developments in the fields of networks</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Computers became easily available</a:t>
            </a:r>
            <a:endParaRPr/>
          </a:p>
          <a:p>
            <a:pPr marL="0" marR="0" lvl="0" indent="0" algn="l" rtl="0">
              <a:lnSpc>
                <a:spcPct val="100000"/>
              </a:lnSpc>
              <a:spcBef>
                <a:spcPts val="0"/>
              </a:spcBef>
              <a:spcAft>
                <a:spcPts val="0"/>
              </a:spcAft>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800" b="1" i="0" u="none" strike="noStrike" cap="none">
                <a:solidFill>
                  <a:srgbClr val="000000"/>
                </a:solidFill>
                <a:latin typeface="Calibri"/>
                <a:ea typeface="Calibri"/>
                <a:cs typeface="Calibri"/>
                <a:sym typeface="Calibri"/>
              </a:rPr>
              <a:t>Some computers of this generation were:</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DEC 10</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STAR 1000</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PDP 11</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CRAY-1(Super Computer)</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alibri"/>
                <a:ea typeface="Calibri"/>
                <a:cs typeface="Calibri"/>
                <a:sym typeface="Calibri"/>
              </a:rPr>
              <a:t>• CRAY-X-MP(Super Computer)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2"/>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Fifth Generation Computers</a:t>
            </a:r>
            <a:endParaRPr b="1"/>
          </a:p>
        </p:txBody>
      </p:sp>
      <p:sp>
        <p:nvSpPr>
          <p:cNvPr id="219" name="Google Shape;219;p42"/>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sp>
        <p:nvSpPr>
          <p:cNvPr id="220" name="Google Shape;220;p42"/>
          <p:cNvSpPr txBox="1"/>
          <p:nvPr/>
        </p:nvSpPr>
        <p:spPr>
          <a:xfrm>
            <a:off x="690714" y="3979987"/>
            <a:ext cx="7919886" cy="263200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0" i="0" u="none" strike="noStrike" cap="none">
                <a:solidFill>
                  <a:srgbClr val="000000"/>
                </a:solidFill>
                <a:latin typeface="Arial"/>
                <a:ea typeface="Arial"/>
                <a:cs typeface="Arial"/>
                <a:sym typeface="Arial"/>
              </a:rPr>
              <a:t>In the fifth generation, VLSI technology became ULSI (Ultra Large Scale Integration) technology, resulting in the production of microprocessor chips having ten million electronic components.</a:t>
            </a:r>
            <a:endParaRPr/>
          </a:p>
          <a:p>
            <a:pPr marL="0" marR="0" lvl="0" indent="0" algn="just" rtl="0">
              <a:lnSpc>
                <a:spcPct val="150000"/>
              </a:lnSpc>
              <a:spcBef>
                <a:spcPts val="0"/>
              </a:spcBef>
              <a:spcAft>
                <a:spcPts val="0"/>
              </a:spcAft>
              <a:buNone/>
            </a:pPr>
            <a:r>
              <a:rPr lang="en-US" sz="1600" b="0" i="0" u="none" strike="noStrike" cap="none">
                <a:solidFill>
                  <a:srgbClr val="000000"/>
                </a:solidFill>
                <a:latin typeface="Arial"/>
                <a:ea typeface="Arial"/>
                <a:cs typeface="Arial"/>
                <a:sym typeface="Arial"/>
              </a:rPr>
              <a:t>This generation is based on parallel processing hardware and AI (Artificial Intelligence) software. AI is an emerging branch in computer science, which interprets the means and method of making computers think like human beings. All the high-level languages like C and C++, Java, .Net, Python, etc., are used in this generation.</a:t>
            </a:r>
            <a:endParaRPr/>
          </a:p>
        </p:txBody>
      </p:sp>
      <p:pic>
        <p:nvPicPr>
          <p:cNvPr id="221" name="Google Shape;221;p42" descr="Fifth Generation of Computers | InforamtionQ.com"/>
          <p:cNvPicPr preferRelativeResize="0"/>
          <p:nvPr/>
        </p:nvPicPr>
        <p:blipFill rotWithShape="1">
          <a:blip r:embed="rId3">
            <a:alphaModFix/>
          </a:blip>
          <a:srcRect/>
          <a:stretch/>
        </p:blipFill>
        <p:spPr>
          <a:xfrm>
            <a:off x="690714" y="983376"/>
            <a:ext cx="6103376" cy="29276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3"/>
          <p:cNvSpPr txBox="1"/>
          <p:nvPr/>
        </p:nvSpPr>
        <p:spPr>
          <a:xfrm>
            <a:off x="388374" y="1204452"/>
            <a:ext cx="2836605" cy="4547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The main features of fifth generation are:</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ULSI technology</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Development of true artificial intelligence</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Development of Natural language processing</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Advancement in Parallel Processing</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Advancement in Superconductor technology</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More user-friendly interfaces with multimedia features</a:t>
            </a:r>
            <a:endParaRPr/>
          </a:p>
          <a:p>
            <a:pPr marL="0" marR="0" lvl="0" indent="0" algn="l" rtl="0">
              <a:lnSpc>
                <a:spcPct val="100000"/>
              </a:lnSpc>
              <a:spcBef>
                <a:spcPts val="300"/>
              </a:spcBef>
              <a:spcAft>
                <a:spcPts val="0"/>
              </a:spcAft>
              <a:buNone/>
            </a:pPr>
            <a:r>
              <a:rPr lang="en-US" sz="1600" b="0" i="0" u="none" strike="noStrike" cap="none">
                <a:solidFill>
                  <a:srgbClr val="000000"/>
                </a:solidFill>
                <a:latin typeface="Arial"/>
                <a:ea typeface="Arial"/>
                <a:cs typeface="Arial"/>
                <a:sym typeface="Arial"/>
              </a:rPr>
              <a:t>• Availability of very powerful and compact computers at cheaper rates</a:t>
            </a:r>
            <a:endParaRPr/>
          </a:p>
        </p:txBody>
      </p:sp>
      <p:pic>
        <p:nvPicPr>
          <p:cNvPr id="227" name="Google Shape;227;p43" descr="Fifth Generation of Computer: Artificial Intelligence &amp; ULSI"/>
          <p:cNvPicPr preferRelativeResize="0"/>
          <p:nvPr/>
        </p:nvPicPr>
        <p:blipFill rotWithShape="1">
          <a:blip r:embed="rId3">
            <a:alphaModFix/>
          </a:blip>
          <a:srcRect l="7177" t="17567" r="5202"/>
          <a:stretch/>
        </p:blipFill>
        <p:spPr>
          <a:xfrm>
            <a:off x="3383576" y="1371600"/>
            <a:ext cx="5372050" cy="2841522"/>
          </a:xfrm>
          <a:prstGeom prst="rect">
            <a:avLst/>
          </a:prstGeom>
          <a:noFill/>
          <a:ln>
            <a:noFill/>
          </a:ln>
        </p:spPr>
      </p:pic>
      <p:sp>
        <p:nvSpPr>
          <p:cNvPr id="228" name="Google Shape;228;p43"/>
          <p:cNvSpPr txBox="1"/>
          <p:nvPr/>
        </p:nvSpPr>
        <p:spPr>
          <a:xfrm>
            <a:off x="3941590" y="4856105"/>
            <a:ext cx="4645742"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Some computer types of this generation are:</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 Desktop</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 Laptop</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 Notebook</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 Ultrabook</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 Chromebook</a:t>
            </a:r>
            <a:endParaRPr/>
          </a:p>
        </p:txBody>
      </p:sp>
      <p:sp>
        <p:nvSpPr>
          <p:cNvPr id="229" name="Google Shape;229;p43"/>
          <p:cNvSpPr txBox="1"/>
          <p:nvPr/>
        </p:nvSpPr>
        <p:spPr>
          <a:xfrm>
            <a:off x="4399280" y="4213122"/>
            <a:ext cx="4188052"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Fig.1.6 Types of computers in fifth generation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t>Von Neumann Architecture</a:t>
            </a:r>
            <a:endParaRPr/>
          </a:p>
        </p:txBody>
      </p:sp>
      <p:sp>
        <p:nvSpPr>
          <p:cNvPr id="235" name="Google Shape;235;p44"/>
          <p:cNvSpPr txBox="1">
            <a:spLocks noGrp="1"/>
          </p:cNvSpPr>
          <p:nvPr>
            <p:ph type="subTitle" idx="1"/>
          </p:nvPr>
        </p:nvSpPr>
        <p:spPr>
          <a:xfrm>
            <a:off x="495299" y="1012984"/>
            <a:ext cx="8153400" cy="1056640"/>
          </a:xfrm>
          <a:prstGeom prst="rect">
            <a:avLst/>
          </a:prstGeom>
          <a:noFill/>
          <a:ln>
            <a:noFill/>
          </a:ln>
        </p:spPr>
        <p:txBody>
          <a:bodyPr spcFirstLastPara="1" wrap="square" lIns="91425" tIns="45700" rIns="91425" bIns="45700" anchor="t" anchorCtr="0">
            <a:noAutofit/>
          </a:bodyPr>
          <a:lstStyle/>
          <a:p>
            <a:pPr marL="92075" lvl="0" indent="-66675" algn="just" rtl="0">
              <a:lnSpc>
                <a:spcPct val="100000"/>
              </a:lnSpc>
              <a:spcBef>
                <a:spcPts val="640"/>
              </a:spcBef>
              <a:spcAft>
                <a:spcPts val="0"/>
              </a:spcAft>
              <a:buSzPts val="3200"/>
              <a:buNone/>
            </a:pPr>
            <a:r>
              <a:rPr lang="en-US" sz="2000">
                <a:solidFill>
                  <a:schemeClr val="dk1"/>
                </a:solidFill>
              </a:rPr>
              <a:t>From an architectural point of view, there are the two basic models: Von Neumann and Harvard architectures. These models  explain the </a:t>
            </a:r>
            <a:r>
              <a:rPr lang="en-US" sz="2000" b="1">
                <a:solidFill>
                  <a:schemeClr val="dk1"/>
                </a:solidFill>
              </a:rPr>
              <a:t>organization of memory </a:t>
            </a:r>
            <a:r>
              <a:rPr lang="en-US" sz="2000">
                <a:solidFill>
                  <a:schemeClr val="dk1"/>
                </a:solidFill>
              </a:rPr>
              <a:t>and </a:t>
            </a:r>
            <a:r>
              <a:rPr lang="en-US" sz="2000" b="1">
                <a:solidFill>
                  <a:schemeClr val="dk1"/>
                </a:solidFill>
              </a:rPr>
              <a:t>processing units </a:t>
            </a:r>
            <a:r>
              <a:rPr lang="en-US" sz="2000">
                <a:solidFill>
                  <a:schemeClr val="dk1"/>
                </a:solidFill>
              </a:rPr>
              <a:t>in a computer system.</a:t>
            </a:r>
            <a:endParaRPr/>
          </a:p>
        </p:txBody>
      </p:sp>
      <p:pic>
        <p:nvPicPr>
          <p:cNvPr id="236" name="Google Shape;236;p44" descr="RefreshNotes: Von Neumann Vs Harvard Architecture"/>
          <p:cNvPicPr preferRelativeResize="0"/>
          <p:nvPr/>
        </p:nvPicPr>
        <p:blipFill rotWithShape="1">
          <a:blip r:embed="rId3">
            <a:alphaModFix/>
          </a:blip>
          <a:srcRect/>
          <a:stretch/>
        </p:blipFill>
        <p:spPr>
          <a:xfrm>
            <a:off x="1682828" y="2445543"/>
            <a:ext cx="5778342" cy="3029969"/>
          </a:xfrm>
          <a:prstGeom prst="rect">
            <a:avLst/>
          </a:prstGeom>
          <a:noFill/>
          <a:ln>
            <a:noFill/>
          </a:ln>
        </p:spPr>
      </p:pic>
      <p:sp>
        <p:nvSpPr>
          <p:cNvPr id="237" name="Google Shape;237;p44"/>
          <p:cNvSpPr txBox="1"/>
          <p:nvPr/>
        </p:nvSpPr>
        <p:spPr>
          <a:xfrm>
            <a:off x="3129280" y="5537239"/>
            <a:ext cx="45720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Calibri"/>
                <a:ea typeface="Calibri"/>
                <a:cs typeface="Calibri"/>
                <a:sym typeface="Calibri"/>
              </a:rPr>
              <a:t>Fig. 1.7 Von Neumann Vs Harvard architecture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5"/>
          <p:cNvSpPr txBox="1">
            <a:spLocks noGrp="1"/>
          </p:cNvSpPr>
          <p:nvPr>
            <p:ph type="ctrTitle"/>
          </p:nvPr>
        </p:nvSpPr>
        <p:spPr>
          <a:xfrm>
            <a:off x="0" y="182881"/>
            <a:ext cx="6299200" cy="56896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400" b="1"/>
              <a:t>VON NEUMANN vs HARVARD ARCHITECTURE</a:t>
            </a:r>
            <a:endParaRPr/>
          </a:p>
        </p:txBody>
      </p:sp>
      <p:graphicFrame>
        <p:nvGraphicFramePr>
          <p:cNvPr id="243" name="Google Shape;243;p45"/>
          <p:cNvGraphicFramePr/>
          <p:nvPr/>
        </p:nvGraphicFramePr>
        <p:xfrm>
          <a:off x="142240" y="1107440"/>
          <a:ext cx="9001750" cy="4998750"/>
        </p:xfrm>
        <a:graphic>
          <a:graphicData uri="http://schemas.openxmlformats.org/drawingml/2006/table">
            <a:tbl>
              <a:tblPr>
                <a:noFill/>
                <a:tableStyleId>{AC9043A2-BFE7-45F1-85D9-B2EE3EF69A1F}</a:tableStyleId>
              </a:tblPr>
              <a:tblGrid>
                <a:gridCol w="4500875">
                  <a:extLst>
                    <a:ext uri="{9D8B030D-6E8A-4147-A177-3AD203B41FA5}">
                      <a16:colId xmlns:a16="http://schemas.microsoft.com/office/drawing/2014/main" val="20000"/>
                    </a:ext>
                  </a:extLst>
                </a:gridCol>
                <a:gridCol w="4500875">
                  <a:extLst>
                    <a:ext uri="{9D8B030D-6E8A-4147-A177-3AD203B41FA5}">
                      <a16:colId xmlns:a16="http://schemas.microsoft.com/office/drawing/2014/main" val="20001"/>
                    </a:ext>
                  </a:extLst>
                </a:gridCol>
              </a:tblGrid>
              <a:tr h="4097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VON NEUMANN ARCHITECTURE</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HARVARD ARCHITECTURE</a:t>
                      </a:r>
                      <a:endParaRPr/>
                    </a:p>
                  </a:txBody>
                  <a:tcPr marL="91450" marR="91450" marT="45725" marB="45725" anchor="ctr"/>
                </a:tc>
                <a:extLst>
                  <a:ext uri="{0D108BD9-81ED-4DB2-BD59-A6C34878D82A}">
                    <a16:rowId xmlns:a16="http://schemas.microsoft.com/office/drawing/2014/main" val="10000"/>
                  </a:ext>
                </a:extLst>
              </a:tr>
              <a:tr h="6965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It is </a:t>
                      </a:r>
                      <a:r>
                        <a:rPr lang="en-US" sz="1400" b="1" i="1" u="none" strike="noStrike" cap="none"/>
                        <a:t>ancient computer </a:t>
                      </a:r>
                      <a:r>
                        <a:rPr lang="en-US" sz="1400" u="none" strike="noStrike" cap="none"/>
                        <a:t>architecture based on stored program computer concept.</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It is </a:t>
                      </a:r>
                      <a:r>
                        <a:rPr lang="en-US" sz="1400" b="1" i="1" u="none" strike="noStrike" cap="none"/>
                        <a:t>modern computer </a:t>
                      </a:r>
                      <a:r>
                        <a:rPr lang="en-US" sz="1400" u="none" strike="noStrike" cap="none"/>
                        <a:t>architecture based on Harvard Mark I relay based model.</a:t>
                      </a:r>
                      <a:endParaRPr/>
                    </a:p>
                  </a:txBody>
                  <a:tcPr marL="91450" marR="91450" marT="45725" marB="45725" anchor="ctr"/>
                </a:tc>
                <a:extLst>
                  <a:ext uri="{0D108BD9-81ED-4DB2-BD59-A6C34878D82A}">
                    <a16:rowId xmlns:a16="http://schemas.microsoft.com/office/drawing/2014/main" val="10001"/>
                  </a:ext>
                </a:extLst>
              </a:tr>
              <a:tr h="696550">
                <a:tc>
                  <a:txBody>
                    <a:bodyPr/>
                    <a:lstStyle/>
                    <a:p>
                      <a:pPr marL="0" marR="0" lvl="0" indent="0" algn="l" rtl="0">
                        <a:lnSpc>
                          <a:spcPct val="100000"/>
                        </a:lnSpc>
                        <a:spcBef>
                          <a:spcPts val="0"/>
                        </a:spcBef>
                        <a:spcAft>
                          <a:spcPts val="0"/>
                        </a:spcAft>
                        <a:buClr>
                          <a:srgbClr val="000000"/>
                        </a:buClr>
                        <a:buSzPts val="1400"/>
                        <a:buFont typeface="Arial"/>
                        <a:buNone/>
                      </a:pPr>
                      <a:r>
                        <a:rPr lang="en-US" sz="1400" b="1" i="1" u="none" strike="noStrike" cap="none"/>
                        <a:t>Same physical memory </a:t>
                      </a:r>
                      <a:r>
                        <a:rPr lang="en-US" sz="1400" u="none" strike="noStrike" cap="none"/>
                        <a:t>address is used for instructions and data.</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i="1" u="none" strike="noStrike" cap="none"/>
                        <a:t>Separate physical memory </a:t>
                      </a:r>
                      <a:r>
                        <a:rPr lang="en-US" sz="1400" u="none" strike="noStrike" cap="none"/>
                        <a:t>address is used for instructions and data.</a:t>
                      </a:r>
                      <a:endParaRPr/>
                    </a:p>
                  </a:txBody>
                  <a:tcPr marL="91450" marR="91450" marT="45725" marB="45725" anchor="ctr"/>
                </a:tc>
                <a:extLst>
                  <a:ext uri="{0D108BD9-81ED-4DB2-BD59-A6C34878D82A}">
                    <a16:rowId xmlns:a16="http://schemas.microsoft.com/office/drawing/2014/main" val="10002"/>
                  </a:ext>
                </a:extLst>
              </a:tr>
              <a:tr h="6965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There is </a:t>
                      </a:r>
                      <a:r>
                        <a:rPr lang="en-US" sz="1400" b="1" i="1" u="none" strike="noStrike" cap="none"/>
                        <a:t>common bus </a:t>
                      </a:r>
                      <a:r>
                        <a:rPr lang="en-US" sz="1400" u="none" strike="noStrike" cap="none"/>
                        <a:t>for data and instruction transfer.</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i="1" u="none" strike="noStrike" cap="none"/>
                        <a:t>Separate buses </a:t>
                      </a:r>
                      <a:r>
                        <a:rPr lang="en-US" sz="1400" u="none" strike="noStrike" cap="none"/>
                        <a:t>are used for transferring data and instruction.</a:t>
                      </a:r>
                      <a:endParaRPr/>
                    </a:p>
                  </a:txBody>
                  <a:tcPr marL="91450" marR="91450" marT="45725" marB="45725" anchor="ctr"/>
                </a:tc>
                <a:extLst>
                  <a:ext uri="{0D108BD9-81ED-4DB2-BD59-A6C34878D82A}">
                    <a16:rowId xmlns:a16="http://schemas.microsoft.com/office/drawing/2014/main" val="10003"/>
                  </a:ext>
                </a:extLst>
              </a:tr>
              <a:tr h="6965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Two clock cycles are required to execute single instruction.</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An instruction is executed in a single cycle.</a:t>
                      </a:r>
                      <a:endParaRPr/>
                    </a:p>
                  </a:txBody>
                  <a:tcPr marL="91450" marR="91450" marT="45725" marB="45725" anchor="ctr"/>
                </a:tc>
                <a:extLst>
                  <a:ext uri="{0D108BD9-81ED-4DB2-BD59-A6C34878D82A}">
                    <a16:rowId xmlns:a16="http://schemas.microsoft.com/office/drawing/2014/main" val="10004"/>
                  </a:ext>
                </a:extLst>
              </a:tr>
              <a:tr h="409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It is cheaper in cost.</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It is costly than Von Neumann Architecture.</a:t>
                      </a:r>
                      <a:endParaRPr/>
                    </a:p>
                  </a:txBody>
                  <a:tcPr marL="91450" marR="91450" marT="45725" marB="45725" anchor="ctr"/>
                </a:tc>
                <a:extLst>
                  <a:ext uri="{0D108BD9-81ED-4DB2-BD59-A6C34878D82A}">
                    <a16:rowId xmlns:a16="http://schemas.microsoft.com/office/drawing/2014/main" val="10005"/>
                  </a:ext>
                </a:extLst>
              </a:tr>
              <a:tr h="696550">
                <a:tc>
                  <a:txBody>
                    <a:bodyPr/>
                    <a:lstStyle/>
                    <a:p>
                      <a:pPr marL="0" marR="0" lvl="0" indent="0" algn="l" rtl="0">
                        <a:lnSpc>
                          <a:spcPct val="100000"/>
                        </a:lnSpc>
                        <a:spcBef>
                          <a:spcPts val="0"/>
                        </a:spcBef>
                        <a:spcAft>
                          <a:spcPts val="0"/>
                        </a:spcAft>
                        <a:buClr>
                          <a:srgbClr val="000000"/>
                        </a:buClr>
                        <a:buSzPts val="1400"/>
                        <a:buFont typeface="Arial"/>
                        <a:buNone/>
                      </a:pPr>
                      <a:r>
                        <a:rPr lang="en-US" sz="1400" b="1" i="1" u="none" strike="noStrike" cap="none">
                          <a:solidFill>
                            <a:schemeClr val="dk1"/>
                          </a:solidFill>
                        </a:rPr>
                        <a:t>CPU</a:t>
                      </a:r>
                      <a:r>
                        <a:rPr lang="en-US" sz="1400" u="none" strike="noStrike" cap="none"/>
                        <a:t> can not access instructions and read/write at the same time.</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i="1" u="none" strike="noStrike" cap="none"/>
                        <a:t>CPU</a:t>
                      </a:r>
                      <a:r>
                        <a:rPr lang="en-US" sz="1400" u="none" strike="noStrike" cap="none"/>
                        <a:t> can access instructions and read/write at the same time.</a:t>
                      </a:r>
                      <a:endParaRPr/>
                    </a:p>
                  </a:txBody>
                  <a:tcPr marL="91450" marR="91450" marT="45725" marB="45725" anchor="ctr"/>
                </a:tc>
                <a:extLst>
                  <a:ext uri="{0D108BD9-81ED-4DB2-BD59-A6C34878D82A}">
                    <a16:rowId xmlns:a16="http://schemas.microsoft.com/office/drawing/2014/main" val="10006"/>
                  </a:ext>
                </a:extLst>
              </a:tr>
              <a:tr h="6965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It is used in personal computers and small computers.</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It is used in </a:t>
                      </a:r>
                      <a:r>
                        <a:rPr lang="en-US" sz="1400" b="1" i="1" u="sng" strike="noStrike" cap="none">
                          <a:solidFill>
                            <a:schemeClr val="dk1"/>
                          </a:solidFill>
                          <a:hlinkClick r:id="rId3">
                            <a:extLst>
                              <a:ext uri="{A12FA001-AC4F-418D-AE19-62706E023703}">
                                <ahyp:hlinkClr xmlns:ahyp="http://schemas.microsoft.com/office/drawing/2018/hyperlinkcolor" val="tx"/>
                              </a:ext>
                            </a:extLst>
                          </a:hlinkClick>
                        </a:rPr>
                        <a:t>micro controllers</a:t>
                      </a:r>
                      <a:r>
                        <a:rPr lang="en-US" sz="1400" b="1" i="1" u="none" strike="noStrike" cap="none">
                          <a:solidFill>
                            <a:schemeClr val="dk1"/>
                          </a:solidFill>
                        </a:rPr>
                        <a:t> </a:t>
                      </a:r>
                      <a:r>
                        <a:rPr lang="en-US" sz="1400" u="none" strike="noStrike" cap="none"/>
                        <a:t>and signal processing.</a:t>
                      </a:r>
                      <a:endParaRPr/>
                    </a:p>
                  </a:txBody>
                  <a:tcPr marL="91450" marR="91450" marT="45725" marB="45725"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6"/>
          <p:cNvSpPr txBox="1">
            <a:spLocks noGrp="1"/>
          </p:cNvSpPr>
          <p:nvPr>
            <p:ph type="ctrTitle"/>
          </p:nvPr>
        </p:nvSpPr>
        <p:spPr>
          <a:xfrm>
            <a:off x="-1" y="1"/>
            <a:ext cx="6361471"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latin typeface="Calibri"/>
                <a:ea typeface="Calibri"/>
                <a:cs typeface="Calibri"/>
                <a:sym typeface="Calibri"/>
              </a:rPr>
              <a:t>Block Diagram of a Computer System</a:t>
            </a:r>
            <a:endParaRPr b="1">
              <a:latin typeface="Calibri"/>
              <a:ea typeface="Calibri"/>
              <a:cs typeface="Calibri"/>
              <a:sym typeface="Calibri"/>
            </a:endParaRPr>
          </a:p>
        </p:txBody>
      </p:sp>
      <p:grpSp>
        <p:nvGrpSpPr>
          <p:cNvPr id="249" name="Google Shape;249;p46"/>
          <p:cNvGrpSpPr/>
          <p:nvPr/>
        </p:nvGrpSpPr>
        <p:grpSpPr>
          <a:xfrm>
            <a:off x="825911" y="1301310"/>
            <a:ext cx="7108717" cy="3958974"/>
            <a:chOff x="0" y="1587"/>
            <a:chExt cx="3021963" cy="1820875"/>
          </a:xfrm>
        </p:grpSpPr>
        <p:sp>
          <p:nvSpPr>
            <p:cNvPr id="250" name="Google Shape;250;p46"/>
            <p:cNvSpPr/>
            <p:nvPr/>
          </p:nvSpPr>
          <p:spPr>
            <a:xfrm>
              <a:off x="824697" y="426097"/>
              <a:ext cx="1351280" cy="1396365"/>
            </a:xfrm>
            <a:custGeom>
              <a:avLst/>
              <a:gdLst/>
              <a:ahLst/>
              <a:cxnLst/>
              <a:rect l="l" t="t" r="r" b="b"/>
              <a:pathLst>
                <a:path w="1351280" h="1396365" extrusionOk="0">
                  <a:moveTo>
                    <a:pt x="1350810" y="0"/>
                  </a:moveTo>
                  <a:lnTo>
                    <a:pt x="0" y="0"/>
                  </a:lnTo>
                  <a:lnTo>
                    <a:pt x="0" y="1396212"/>
                  </a:lnTo>
                  <a:lnTo>
                    <a:pt x="1350810" y="1396212"/>
                  </a:lnTo>
                  <a:lnTo>
                    <a:pt x="1350810" y="0"/>
                  </a:lnTo>
                  <a:close/>
                </a:path>
              </a:pathLst>
            </a:custGeom>
            <a:solidFill>
              <a:srgbClr val="99D4BC"/>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Calibri"/>
                <a:ea typeface="Calibri"/>
                <a:cs typeface="Calibri"/>
                <a:sym typeface="Calibri"/>
              </a:endParaRPr>
            </a:p>
          </p:txBody>
        </p:sp>
        <p:sp>
          <p:nvSpPr>
            <p:cNvPr id="251" name="Google Shape;251;p46"/>
            <p:cNvSpPr/>
            <p:nvPr/>
          </p:nvSpPr>
          <p:spPr>
            <a:xfrm>
              <a:off x="546618" y="330199"/>
              <a:ext cx="1945005" cy="1106805"/>
            </a:xfrm>
            <a:custGeom>
              <a:avLst/>
              <a:gdLst/>
              <a:ahLst/>
              <a:cxnLst/>
              <a:rect l="l" t="t" r="r" b="b"/>
              <a:pathLst>
                <a:path w="1945005" h="1106805" extrusionOk="0">
                  <a:moveTo>
                    <a:pt x="290169" y="754583"/>
                  </a:moveTo>
                  <a:lnTo>
                    <a:pt x="241947" y="728002"/>
                  </a:lnTo>
                  <a:lnTo>
                    <a:pt x="241973" y="748690"/>
                  </a:lnTo>
                  <a:lnTo>
                    <a:pt x="0" y="748690"/>
                  </a:lnTo>
                  <a:lnTo>
                    <a:pt x="0" y="759345"/>
                  </a:lnTo>
                  <a:lnTo>
                    <a:pt x="241947" y="759345"/>
                  </a:lnTo>
                  <a:lnTo>
                    <a:pt x="241973" y="781304"/>
                  </a:lnTo>
                  <a:lnTo>
                    <a:pt x="290169" y="754583"/>
                  </a:lnTo>
                  <a:close/>
                </a:path>
                <a:path w="1945005" h="1106805" extrusionOk="0">
                  <a:moveTo>
                    <a:pt x="767969" y="1045552"/>
                  </a:moveTo>
                  <a:lnTo>
                    <a:pt x="747280" y="1045578"/>
                  </a:lnTo>
                  <a:lnTo>
                    <a:pt x="747280" y="956005"/>
                  </a:lnTo>
                  <a:lnTo>
                    <a:pt x="736612" y="956005"/>
                  </a:lnTo>
                  <a:lnTo>
                    <a:pt x="736612" y="1045552"/>
                  </a:lnTo>
                  <a:lnTo>
                    <a:pt x="714654" y="1045578"/>
                  </a:lnTo>
                  <a:lnTo>
                    <a:pt x="741375" y="1093774"/>
                  </a:lnTo>
                  <a:lnTo>
                    <a:pt x="767969" y="1045552"/>
                  </a:lnTo>
                  <a:close/>
                </a:path>
                <a:path w="1945005" h="1106805" extrusionOk="0">
                  <a:moveTo>
                    <a:pt x="767969" y="567461"/>
                  </a:moveTo>
                  <a:lnTo>
                    <a:pt x="747280" y="567486"/>
                  </a:lnTo>
                  <a:lnTo>
                    <a:pt x="747280" y="477913"/>
                  </a:lnTo>
                  <a:lnTo>
                    <a:pt x="736612" y="477913"/>
                  </a:lnTo>
                  <a:lnTo>
                    <a:pt x="736612" y="567461"/>
                  </a:lnTo>
                  <a:lnTo>
                    <a:pt x="714654" y="567486"/>
                  </a:lnTo>
                  <a:lnTo>
                    <a:pt x="741375" y="615683"/>
                  </a:lnTo>
                  <a:lnTo>
                    <a:pt x="767969" y="567461"/>
                  </a:lnTo>
                  <a:close/>
                </a:path>
                <a:path w="1945005" h="1106805" extrusionOk="0">
                  <a:moveTo>
                    <a:pt x="767969" y="89547"/>
                  </a:moveTo>
                  <a:lnTo>
                    <a:pt x="747280" y="89573"/>
                  </a:lnTo>
                  <a:lnTo>
                    <a:pt x="747280" y="0"/>
                  </a:lnTo>
                  <a:lnTo>
                    <a:pt x="736612" y="0"/>
                  </a:lnTo>
                  <a:lnTo>
                    <a:pt x="736612" y="89547"/>
                  </a:lnTo>
                  <a:lnTo>
                    <a:pt x="714654" y="89573"/>
                  </a:lnTo>
                  <a:lnTo>
                    <a:pt x="741375" y="137769"/>
                  </a:lnTo>
                  <a:lnTo>
                    <a:pt x="767969" y="89547"/>
                  </a:lnTo>
                  <a:close/>
                </a:path>
                <a:path w="1945005" h="1106805" extrusionOk="0">
                  <a:moveTo>
                    <a:pt x="1161669" y="1016927"/>
                  </a:moveTo>
                  <a:lnTo>
                    <a:pt x="1135075" y="968705"/>
                  </a:lnTo>
                  <a:lnTo>
                    <a:pt x="1108354" y="1016901"/>
                  </a:lnTo>
                  <a:lnTo>
                    <a:pt x="1130312" y="1016927"/>
                  </a:lnTo>
                  <a:lnTo>
                    <a:pt x="1130312" y="1106474"/>
                  </a:lnTo>
                  <a:lnTo>
                    <a:pt x="1140980" y="1106474"/>
                  </a:lnTo>
                  <a:lnTo>
                    <a:pt x="1140980" y="1016901"/>
                  </a:lnTo>
                  <a:lnTo>
                    <a:pt x="1161669" y="1016927"/>
                  </a:lnTo>
                  <a:close/>
                </a:path>
                <a:path w="1945005" h="1106805" extrusionOk="0">
                  <a:moveTo>
                    <a:pt x="1161669" y="538835"/>
                  </a:moveTo>
                  <a:lnTo>
                    <a:pt x="1135075" y="490613"/>
                  </a:lnTo>
                  <a:lnTo>
                    <a:pt x="1108354" y="538810"/>
                  </a:lnTo>
                  <a:lnTo>
                    <a:pt x="1130312" y="538835"/>
                  </a:lnTo>
                  <a:lnTo>
                    <a:pt x="1130312" y="628383"/>
                  </a:lnTo>
                  <a:lnTo>
                    <a:pt x="1140980" y="628383"/>
                  </a:lnTo>
                  <a:lnTo>
                    <a:pt x="1140980" y="538810"/>
                  </a:lnTo>
                  <a:lnTo>
                    <a:pt x="1161669" y="538835"/>
                  </a:lnTo>
                  <a:close/>
                </a:path>
                <a:path w="1945005" h="1106805" extrusionOk="0">
                  <a:moveTo>
                    <a:pt x="1161669" y="60934"/>
                  </a:moveTo>
                  <a:lnTo>
                    <a:pt x="1135075" y="12712"/>
                  </a:lnTo>
                  <a:lnTo>
                    <a:pt x="1108354" y="60909"/>
                  </a:lnTo>
                  <a:lnTo>
                    <a:pt x="1130312" y="60934"/>
                  </a:lnTo>
                  <a:lnTo>
                    <a:pt x="1130312" y="150482"/>
                  </a:lnTo>
                  <a:lnTo>
                    <a:pt x="1140980" y="150482"/>
                  </a:lnTo>
                  <a:lnTo>
                    <a:pt x="1140980" y="60909"/>
                  </a:lnTo>
                  <a:lnTo>
                    <a:pt x="1161669" y="60934"/>
                  </a:lnTo>
                  <a:close/>
                </a:path>
                <a:path w="1945005" h="1106805" extrusionOk="0">
                  <a:moveTo>
                    <a:pt x="1944522" y="767283"/>
                  </a:moveTo>
                  <a:lnTo>
                    <a:pt x="1896300" y="740702"/>
                  </a:lnTo>
                  <a:lnTo>
                    <a:pt x="1896325" y="761390"/>
                  </a:lnTo>
                  <a:lnTo>
                    <a:pt x="1654352" y="761390"/>
                  </a:lnTo>
                  <a:lnTo>
                    <a:pt x="1654352" y="772045"/>
                  </a:lnTo>
                  <a:lnTo>
                    <a:pt x="1896300" y="772045"/>
                  </a:lnTo>
                  <a:lnTo>
                    <a:pt x="1896325" y="794004"/>
                  </a:lnTo>
                  <a:lnTo>
                    <a:pt x="1944522" y="767283"/>
                  </a:lnTo>
                  <a:close/>
                </a:path>
              </a:pathLst>
            </a:custGeom>
            <a:solidFill>
              <a:srgbClr val="020302"/>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Calibri"/>
                <a:ea typeface="Calibri"/>
                <a:cs typeface="Calibri"/>
                <a:sym typeface="Calibri"/>
              </a:endParaRPr>
            </a:p>
          </p:txBody>
        </p:sp>
        <p:sp>
          <p:nvSpPr>
            <p:cNvPr id="252" name="Google Shape;252;p46"/>
            <p:cNvSpPr/>
            <p:nvPr/>
          </p:nvSpPr>
          <p:spPr>
            <a:xfrm>
              <a:off x="979357" y="1587"/>
              <a:ext cx="1028700" cy="342900"/>
            </a:xfrm>
            <a:custGeom>
              <a:avLst/>
              <a:gdLst/>
              <a:ahLst/>
              <a:cxnLst/>
              <a:rect l="l" t="t" r="r" b="b"/>
              <a:pathLst>
                <a:path w="1028700" h="342900" extrusionOk="0">
                  <a:moveTo>
                    <a:pt x="1028700" y="0"/>
                  </a:moveTo>
                  <a:lnTo>
                    <a:pt x="0" y="0"/>
                  </a:lnTo>
                  <a:lnTo>
                    <a:pt x="0" y="342900"/>
                  </a:lnTo>
                  <a:lnTo>
                    <a:pt x="1028700" y="342900"/>
                  </a:lnTo>
                  <a:lnTo>
                    <a:pt x="1028700" y="0"/>
                  </a:lnTo>
                  <a:close/>
                </a:path>
              </a:pathLst>
            </a:custGeom>
            <a:solidFill>
              <a:srgbClr val="FFFFFF"/>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Calibri"/>
                <a:ea typeface="Calibri"/>
                <a:cs typeface="Calibri"/>
                <a:sym typeface="Calibri"/>
              </a:endParaRPr>
            </a:p>
          </p:txBody>
        </p:sp>
        <p:sp>
          <p:nvSpPr>
            <p:cNvPr id="253" name="Google Shape;253;p46"/>
            <p:cNvSpPr/>
            <p:nvPr/>
          </p:nvSpPr>
          <p:spPr>
            <a:xfrm>
              <a:off x="0" y="934088"/>
              <a:ext cx="539115" cy="302895"/>
            </a:xfrm>
            <a:custGeom>
              <a:avLst/>
              <a:gdLst/>
              <a:ahLst/>
              <a:cxnLst/>
              <a:rect l="l" t="t" r="r" b="b"/>
              <a:pathLst>
                <a:path w="539115" h="302895" extrusionOk="0">
                  <a:moveTo>
                    <a:pt x="269519" y="0"/>
                  </a:moveTo>
                  <a:lnTo>
                    <a:pt x="207719" y="3993"/>
                  </a:lnTo>
                  <a:lnTo>
                    <a:pt x="150989" y="15370"/>
                  </a:lnTo>
                  <a:lnTo>
                    <a:pt x="100946" y="33221"/>
                  </a:lnTo>
                  <a:lnTo>
                    <a:pt x="59208" y="56639"/>
                  </a:lnTo>
                  <a:lnTo>
                    <a:pt x="27393" y="84716"/>
                  </a:lnTo>
                  <a:lnTo>
                    <a:pt x="0" y="151218"/>
                  </a:lnTo>
                  <a:lnTo>
                    <a:pt x="7117" y="185891"/>
                  </a:lnTo>
                  <a:lnTo>
                    <a:pt x="59208" y="245793"/>
                  </a:lnTo>
                  <a:lnTo>
                    <a:pt x="100946" y="269208"/>
                  </a:lnTo>
                  <a:lnTo>
                    <a:pt x="150989" y="287057"/>
                  </a:lnTo>
                  <a:lnTo>
                    <a:pt x="207719" y="298431"/>
                  </a:lnTo>
                  <a:lnTo>
                    <a:pt x="269519" y="302425"/>
                  </a:lnTo>
                  <a:lnTo>
                    <a:pt x="331315" y="298431"/>
                  </a:lnTo>
                  <a:lnTo>
                    <a:pt x="388043" y="287057"/>
                  </a:lnTo>
                  <a:lnTo>
                    <a:pt x="438086" y="269208"/>
                  </a:lnTo>
                  <a:lnTo>
                    <a:pt x="479826" y="245793"/>
                  </a:lnTo>
                  <a:lnTo>
                    <a:pt x="511643" y="217718"/>
                  </a:lnTo>
                  <a:lnTo>
                    <a:pt x="539038" y="151218"/>
                  </a:lnTo>
                  <a:lnTo>
                    <a:pt x="531920" y="116546"/>
                  </a:lnTo>
                  <a:lnTo>
                    <a:pt x="479826" y="56639"/>
                  </a:lnTo>
                  <a:lnTo>
                    <a:pt x="438086" y="33221"/>
                  </a:lnTo>
                  <a:lnTo>
                    <a:pt x="388043" y="15370"/>
                  </a:lnTo>
                  <a:lnTo>
                    <a:pt x="331315" y="3993"/>
                  </a:lnTo>
                  <a:lnTo>
                    <a:pt x="269519" y="0"/>
                  </a:lnTo>
                  <a:close/>
                </a:path>
              </a:pathLst>
            </a:custGeom>
            <a:solidFill>
              <a:srgbClr val="D4ECE1"/>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Calibri"/>
                <a:ea typeface="Calibri"/>
                <a:cs typeface="Calibri"/>
                <a:sym typeface="Calibri"/>
              </a:endParaRPr>
            </a:p>
          </p:txBody>
        </p:sp>
        <p:sp>
          <p:nvSpPr>
            <p:cNvPr id="254" name="Google Shape;254;p46"/>
            <p:cNvSpPr/>
            <p:nvPr/>
          </p:nvSpPr>
          <p:spPr>
            <a:xfrm>
              <a:off x="979345" y="464845"/>
              <a:ext cx="1050290" cy="1294765"/>
            </a:xfrm>
            <a:custGeom>
              <a:avLst/>
              <a:gdLst/>
              <a:ahLst/>
              <a:cxnLst/>
              <a:rect l="l" t="t" r="r" b="b"/>
              <a:pathLst>
                <a:path w="1050290" h="1294765" extrusionOk="0">
                  <a:moveTo>
                    <a:pt x="1028712" y="0"/>
                  </a:moveTo>
                  <a:lnTo>
                    <a:pt x="0" y="0"/>
                  </a:lnTo>
                  <a:lnTo>
                    <a:pt x="0" y="342900"/>
                  </a:lnTo>
                  <a:lnTo>
                    <a:pt x="1028712" y="342900"/>
                  </a:lnTo>
                  <a:lnTo>
                    <a:pt x="1028712" y="0"/>
                  </a:lnTo>
                  <a:close/>
                </a:path>
                <a:path w="1050290" h="1294765" extrusionOk="0">
                  <a:moveTo>
                    <a:pt x="1049858" y="951242"/>
                  </a:moveTo>
                  <a:lnTo>
                    <a:pt x="21158" y="951242"/>
                  </a:lnTo>
                  <a:lnTo>
                    <a:pt x="21158" y="1294142"/>
                  </a:lnTo>
                  <a:lnTo>
                    <a:pt x="1049858" y="1294142"/>
                  </a:lnTo>
                  <a:lnTo>
                    <a:pt x="1049858" y="951242"/>
                  </a:lnTo>
                  <a:close/>
                </a:path>
                <a:path w="1050290" h="1294765" extrusionOk="0">
                  <a:moveTo>
                    <a:pt x="1049858" y="478459"/>
                  </a:moveTo>
                  <a:lnTo>
                    <a:pt x="21158" y="478459"/>
                  </a:lnTo>
                  <a:lnTo>
                    <a:pt x="21158" y="821359"/>
                  </a:lnTo>
                  <a:lnTo>
                    <a:pt x="1049858" y="821359"/>
                  </a:lnTo>
                  <a:lnTo>
                    <a:pt x="1049858" y="478459"/>
                  </a:lnTo>
                  <a:close/>
                </a:path>
              </a:pathLst>
            </a:custGeom>
            <a:solidFill>
              <a:srgbClr val="FFFFFF"/>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Calibri"/>
                <a:ea typeface="Calibri"/>
                <a:cs typeface="Calibri"/>
                <a:sym typeface="Calibri"/>
              </a:endParaRPr>
            </a:p>
          </p:txBody>
        </p:sp>
        <p:sp>
          <p:nvSpPr>
            <p:cNvPr id="255" name="Google Shape;255;p46"/>
            <p:cNvSpPr/>
            <p:nvPr/>
          </p:nvSpPr>
          <p:spPr>
            <a:xfrm>
              <a:off x="2482848" y="934088"/>
              <a:ext cx="539115" cy="302895"/>
            </a:xfrm>
            <a:custGeom>
              <a:avLst/>
              <a:gdLst/>
              <a:ahLst/>
              <a:cxnLst/>
              <a:rect l="l" t="t" r="r" b="b"/>
              <a:pathLst>
                <a:path w="539115" h="302895" extrusionOk="0">
                  <a:moveTo>
                    <a:pt x="269519" y="0"/>
                  </a:moveTo>
                  <a:lnTo>
                    <a:pt x="207719" y="3993"/>
                  </a:lnTo>
                  <a:lnTo>
                    <a:pt x="150989" y="15370"/>
                  </a:lnTo>
                  <a:lnTo>
                    <a:pt x="100946" y="33221"/>
                  </a:lnTo>
                  <a:lnTo>
                    <a:pt x="59208" y="56639"/>
                  </a:lnTo>
                  <a:lnTo>
                    <a:pt x="27393" y="84716"/>
                  </a:lnTo>
                  <a:lnTo>
                    <a:pt x="0" y="151218"/>
                  </a:lnTo>
                  <a:lnTo>
                    <a:pt x="7117" y="185891"/>
                  </a:lnTo>
                  <a:lnTo>
                    <a:pt x="59208" y="245793"/>
                  </a:lnTo>
                  <a:lnTo>
                    <a:pt x="100946" y="269208"/>
                  </a:lnTo>
                  <a:lnTo>
                    <a:pt x="150989" y="287057"/>
                  </a:lnTo>
                  <a:lnTo>
                    <a:pt x="207719" y="298431"/>
                  </a:lnTo>
                  <a:lnTo>
                    <a:pt x="269519" y="302425"/>
                  </a:lnTo>
                  <a:lnTo>
                    <a:pt x="331315" y="298431"/>
                  </a:lnTo>
                  <a:lnTo>
                    <a:pt x="388043" y="287057"/>
                  </a:lnTo>
                  <a:lnTo>
                    <a:pt x="438086" y="269208"/>
                  </a:lnTo>
                  <a:lnTo>
                    <a:pt x="479826" y="245793"/>
                  </a:lnTo>
                  <a:lnTo>
                    <a:pt x="511643" y="217718"/>
                  </a:lnTo>
                  <a:lnTo>
                    <a:pt x="539038" y="151218"/>
                  </a:lnTo>
                  <a:lnTo>
                    <a:pt x="531920" y="116546"/>
                  </a:lnTo>
                  <a:lnTo>
                    <a:pt x="479826" y="56639"/>
                  </a:lnTo>
                  <a:lnTo>
                    <a:pt x="438086" y="33221"/>
                  </a:lnTo>
                  <a:lnTo>
                    <a:pt x="388043" y="15370"/>
                  </a:lnTo>
                  <a:lnTo>
                    <a:pt x="331315" y="3993"/>
                  </a:lnTo>
                  <a:lnTo>
                    <a:pt x="269519" y="0"/>
                  </a:lnTo>
                  <a:close/>
                </a:path>
              </a:pathLst>
            </a:custGeom>
            <a:solidFill>
              <a:srgbClr val="D4ECE1"/>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Calibri"/>
                <a:ea typeface="Calibri"/>
                <a:cs typeface="Calibri"/>
                <a:sym typeface="Calibri"/>
              </a:endParaRPr>
            </a:p>
          </p:txBody>
        </p:sp>
        <p:sp>
          <p:nvSpPr>
            <p:cNvPr id="256" name="Google Shape;256;p46"/>
            <p:cNvSpPr txBox="1"/>
            <p:nvPr/>
          </p:nvSpPr>
          <p:spPr>
            <a:xfrm>
              <a:off x="94471" y="955946"/>
              <a:ext cx="363220" cy="248920"/>
            </a:xfrm>
            <a:prstGeom prst="rect">
              <a:avLst/>
            </a:prstGeom>
            <a:noFill/>
            <a:ln>
              <a:noFill/>
            </a:ln>
          </p:spPr>
          <p:txBody>
            <a:bodyPr spcFirstLastPara="1" wrap="square" lIns="0" tIns="0" rIns="0" bIns="0" anchor="t" anchorCtr="0">
              <a:noAutofit/>
            </a:bodyPr>
            <a:lstStyle/>
            <a:p>
              <a:pPr marL="0" marR="0" lvl="0" indent="27305" algn="ctr" rtl="0">
                <a:lnSpc>
                  <a:spcPct val="85000"/>
                </a:lnSpc>
                <a:spcBef>
                  <a:spcPts val="0"/>
                </a:spcBef>
                <a:spcAft>
                  <a:spcPts val="0"/>
                </a:spcAft>
                <a:buClr>
                  <a:srgbClr val="000000"/>
                </a:buClr>
                <a:buSzPts val="1600"/>
                <a:buFont typeface="Arial"/>
                <a:buNone/>
              </a:pPr>
              <a:r>
                <a:rPr lang="en-US" sz="1600" b="1" i="0" u="none" strike="noStrike" cap="none">
                  <a:solidFill>
                    <a:srgbClr val="231F20"/>
                  </a:solidFill>
                  <a:latin typeface="Calibri"/>
                  <a:ea typeface="Calibri"/>
                  <a:cs typeface="Calibri"/>
                  <a:sym typeface="Calibri"/>
                </a:rPr>
                <a:t>Input Device</a:t>
              </a:r>
              <a:endParaRPr sz="1600" b="1" i="0" u="none" strike="noStrike" cap="none">
                <a:solidFill>
                  <a:srgbClr val="000000"/>
                </a:solidFill>
                <a:latin typeface="Calibri"/>
                <a:ea typeface="Calibri"/>
                <a:cs typeface="Calibri"/>
                <a:sym typeface="Calibri"/>
              </a:endParaRPr>
            </a:p>
          </p:txBody>
        </p:sp>
        <p:sp>
          <p:nvSpPr>
            <p:cNvPr id="257" name="Google Shape;257;p46"/>
            <p:cNvSpPr txBox="1"/>
            <p:nvPr/>
          </p:nvSpPr>
          <p:spPr>
            <a:xfrm>
              <a:off x="2553005" y="968646"/>
              <a:ext cx="402590" cy="248920"/>
            </a:xfrm>
            <a:prstGeom prst="rect">
              <a:avLst/>
            </a:prstGeom>
            <a:noFill/>
            <a:ln>
              <a:noFill/>
            </a:ln>
          </p:spPr>
          <p:txBody>
            <a:bodyPr spcFirstLastPara="1" wrap="square" lIns="0" tIns="0" rIns="0" bIns="0" anchor="t" anchorCtr="0">
              <a:noAutofit/>
            </a:bodyPr>
            <a:lstStyle/>
            <a:p>
              <a:pPr marL="19685" marR="0" lvl="0" indent="-19685" algn="ctr" rtl="0">
                <a:lnSpc>
                  <a:spcPct val="85000"/>
                </a:lnSpc>
                <a:spcBef>
                  <a:spcPts val="0"/>
                </a:spcBef>
                <a:spcAft>
                  <a:spcPts val="0"/>
                </a:spcAft>
                <a:buClr>
                  <a:srgbClr val="000000"/>
                </a:buClr>
                <a:buSzPts val="1600"/>
                <a:buFont typeface="Arial"/>
                <a:buNone/>
              </a:pPr>
              <a:r>
                <a:rPr lang="en-US" sz="1600" b="1" i="0" u="none" strike="noStrike" cap="none">
                  <a:solidFill>
                    <a:srgbClr val="231F20"/>
                  </a:solidFill>
                  <a:latin typeface="Calibri"/>
                  <a:ea typeface="Calibri"/>
                  <a:cs typeface="Calibri"/>
                  <a:sym typeface="Calibri"/>
                </a:rPr>
                <a:t>Output Device</a:t>
              </a:r>
              <a:endParaRPr sz="1600" b="1" i="0" u="none" strike="noStrike" cap="none">
                <a:solidFill>
                  <a:srgbClr val="000000"/>
                </a:solidFill>
                <a:latin typeface="Calibri"/>
                <a:ea typeface="Calibri"/>
                <a:cs typeface="Calibri"/>
                <a:sym typeface="Calibri"/>
              </a:endParaRPr>
            </a:p>
          </p:txBody>
        </p:sp>
        <p:sp>
          <p:nvSpPr>
            <p:cNvPr id="258" name="Google Shape;258;p46"/>
            <p:cNvSpPr txBox="1"/>
            <p:nvPr/>
          </p:nvSpPr>
          <p:spPr>
            <a:xfrm>
              <a:off x="1000503" y="1416088"/>
              <a:ext cx="1028700" cy="342900"/>
            </a:xfrm>
            <a:prstGeom prst="rect">
              <a:avLst/>
            </a:pr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231775" marR="0" lvl="0" indent="-157480" algn="ctr" rtl="0">
                <a:lnSpc>
                  <a:spcPct val="85000"/>
                </a:lnSpc>
                <a:spcBef>
                  <a:spcPts val="0"/>
                </a:spcBef>
                <a:spcAft>
                  <a:spcPts val="0"/>
                </a:spcAft>
                <a:buClr>
                  <a:srgbClr val="000000"/>
                </a:buClr>
                <a:buSzPts val="1600"/>
                <a:buFont typeface="Arial"/>
                <a:buNone/>
              </a:pPr>
              <a:r>
                <a:rPr lang="en-US" sz="1600" b="1" i="0" u="none" strike="noStrike" cap="none">
                  <a:solidFill>
                    <a:srgbClr val="231F20"/>
                  </a:solidFill>
                  <a:latin typeface="Calibri"/>
                  <a:ea typeface="Calibri"/>
                  <a:cs typeface="Calibri"/>
                  <a:sym typeface="Calibri"/>
                </a:rPr>
                <a:t>Arithmetic Logic Unit (ALU)</a:t>
              </a:r>
              <a:endParaRPr sz="1600" b="1" i="0" u="none" strike="noStrike" cap="none">
                <a:solidFill>
                  <a:srgbClr val="000000"/>
                </a:solidFill>
                <a:latin typeface="Calibri"/>
                <a:ea typeface="Calibri"/>
                <a:cs typeface="Calibri"/>
                <a:sym typeface="Calibri"/>
              </a:endParaRPr>
            </a:p>
          </p:txBody>
        </p:sp>
        <p:sp>
          <p:nvSpPr>
            <p:cNvPr id="259" name="Google Shape;259;p46"/>
            <p:cNvSpPr txBox="1"/>
            <p:nvPr/>
          </p:nvSpPr>
          <p:spPr>
            <a:xfrm>
              <a:off x="1000503" y="943305"/>
              <a:ext cx="1028700" cy="342900"/>
            </a:xfrm>
            <a:prstGeom prst="rect">
              <a:avLst/>
            </a:pr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395605" marR="0" lvl="0" indent="-218440" algn="ctr" rtl="0">
                <a:lnSpc>
                  <a:spcPct val="85000"/>
                </a:lnSpc>
                <a:spcBef>
                  <a:spcPts val="0"/>
                </a:spcBef>
                <a:spcAft>
                  <a:spcPts val="0"/>
                </a:spcAft>
                <a:buClr>
                  <a:srgbClr val="000000"/>
                </a:buClr>
                <a:buSzPts val="1600"/>
                <a:buFont typeface="Arial"/>
                <a:buNone/>
              </a:pPr>
              <a:r>
                <a:rPr lang="en-US" sz="1600" b="1" i="0" u="none" strike="noStrike" cap="none">
                  <a:solidFill>
                    <a:srgbClr val="231F20"/>
                  </a:solidFill>
                  <a:latin typeface="Calibri"/>
                  <a:ea typeface="Calibri"/>
                  <a:cs typeface="Calibri"/>
                  <a:sym typeface="Calibri"/>
                </a:rPr>
                <a:t>Control Unit (CU)</a:t>
              </a:r>
              <a:endParaRPr sz="1600" b="1" i="0" u="none" strike="noStrike" cap="none">
                <a:solidFill>
                  <a:srgbClr val="000000"/>
                </a:solidFill>
                <a:latin typeface="Calibri"/>
                <a:ea typeface="Calibri"/>
                <a:cs typeface="Calibri"/>
                <a:sym typeface="Calibri"/>
              </a:endParaRPr>
            </a:p>
          </p:txBody>
        </p:sp>
        <p:sp>
          <p:nvSpPr>
            <p:cNvPr id="260" name="Google Shape;260;p46"/>
            <p:cNvSpPr txBox="1"/>
            <p:nvPr/>
          </p:nvSpPr>
          <p:spPr>
            <a:xfrm>
              <a:off x="979357" y="464845"/>
              <a:ext cx="1028700" cy="342900"/>
            </a:xfrm>
            <a:prstGeom prst="rect">
              <a:avLst/>
            </a:pr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296545" marR="293370" lvl="0" indent="3175" algn="ctr" rtl="0">
                <a:lnSpc>
                  <a:spcPct val="85000"/>
                </a:lnSpc>
                <a:spcBef>
                  <a:spcPts val="0"/>
                </a:spcBef>
                <a:spcAft>
                  <a:spcPts val="0"/>
                </a:spcAft>
                <a:buClr>
                  <a:srgbClr val="000000"/>
                </a:buClr>
                <a:buSzPts val="1600"/>
                <a:buFont typeface="Arial"/>
                <a:buNone/>
              </a:pPr>
              <a:r>
                <a:rPr lang="en-US" sz="1600" b="1" i="0" u="none" strike="noStrike" cap="none">
                  <a:solidFill>
                    <a:srgbClr val="231F20"/>
                  </a:solidFill>
                  <a:latin typeface="Calibri"/>
                  <a:ea typeface="Calibri"/>
                  <a:cs typeface="Calibri"/>
                  <a:sym typeface="Calibri"/>
                </a:rPr>
                <a:t>Primary Memory</a:t>
              </a:r>
              <a:endParaRPr sz="1600" b="1" i="0" u="none" strike="noStrike" cap="none">
                <a:solidFill>
                  <a:srgbClr val="000000"/>
                </a:solidFill>
                <a:latin typeface="Calibri"/>
                <a:ea typeface="Calibri"/>
                <a:cs typeface="Calibri"/>
                <a:sym typeface="Calibri"/>
              </a:endParaRPr>
            </a:p>
          </p:txBody>
        </p:sp>
        <p:sp>
          <p:nvSpPr>
            <p:cNvPr id="261" name="Google Shape;261;p46"/>
            <p:cNvSpPr txBox="1"/>
            <p:nvPr/>
          </p:nvSpPr>
          <p:spPr>
            <a:xfrm>
              <a:off x="979357" y="1587"/>
              <a:ext cx="1028700" cy="342900"/>
            </a:xfrm>
            <a:prstGeom prst="rect">
              <a:avLst/>
            </a:pr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88900" marR="0" lvl="0" indent="142875" algn="l" rtl="0">
                <a:lnSpc>
                  <a:spcPct val="85000"/>
                </a:lnSpc>
                <a:spcBef>
                  <a:spcPts val="0"/>
                </a:spcBef>
                <a:spcAft>
                  <a:spcPts val="0"/>
                </a:spcAft>
                <a:buClr>
                  <a:srgbClr val="000000"/>
                </a:buClr>
                <a:buSzPts val="1600"/>
                <a:buFont typeface="Arial"/>
                <a:buNone/>
              </a:pPr>
              <a:r>
                <a:rPr lang="en-US" sz="1600" b="1" i="0" u="none" strike="noStrike" cap="none">
                  <a:solidFill>
                    <a:srgbClr val="231F20"/>
                  </a:solidFill>
                  <a:latin typeface="Calibri"/>
                  <a:ea typeface="Calibri"/>
                  <a:cs typeface="Calibri"/>
                  <a:sym typeface="Calibri"/>
                </a:rPr>
                <a:t>Secondary Storage Devices</a:t>
              </a:r>
              <a:endParaRPr sz="1600" b="1" i="0" u="none" strike="noStrike" cap="none">
                <a:solidFill>
                  <a:srgbClr val="000000"/>
                </a:solidFill>
                <a:latin typeface="Calibri"/>
                <a:ea typeface="Calibri"/>
                <a:cs typeface="Calibri"/>
                <a:sym typeface="Calibri"/>
              </a:endParaRPr>
            </a:p>
          </p:txBody>
        </p:sp>
      </p:grpSp>
      <p:sp>
        <p:nvSpPr>
          <p:cNvPr id="262" name="Google Shape;262;p46"/>
          <p:cNvSpPr/>
          <p:nvPr/>
        </p:nvSpPr>
        <p:spPr>
          <a:xfrm>
            <a:off x="4552950" y="4318100"/>
            <a:ext cx="184731" cy="307777"/>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Calibri"/>
              <a:ea typeface="Calibri"/>
              <a:cs typeface="Calibri"/>
              <a:sym typeface="Calibri"/>
            </a:endParaRPr>
          </a:p>
        </p:txBody>
      </p:sp>
      <p:sp>
        <p:nvSpPr>
          <p:cNvPr id="263" name="Google Shape;263;p46"/>
          <p:cNvSpPr/>
          <p:nvPr/>
        </p:nvSpPr>
        <p:spPr>
          <a:xfrm>
            <a:off x="1271528" y="5915838"/>
            <a:ext cx="6255774"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231F20"/>
              </a:buClr>
              <a:buSzPts val="1800"/>
              <a:buFont typeface="Arial"/>
              <a:buNone/>
            </a:pPr>
            <a:r>
              <a:rPr lang="en-US" sz="1800" b="0" i="1" u="none" strike="noStrike" cap="none">
                <a:solidFill>
                  <a:srgbClr val="231F20"/>
                </a:solidFill>
                <a:latin typeface="Calibri"/>
                <a:ea typeface="Calibri"/>
                <a:cs typeface="Calibri"/>
                <a:sym typeface="Calibri"/>
              </a:rPr>
              <a:t>Fig. 1.8: Components of a computer system</a:t>
            </a:r>
            <a:endParaRPr sz="4000" b="0" i="0" u="none" strike="noStrike" cap="none">
              <a:solidFill>
                <a:schemeClr val="dk1"/>
              </a:solidFill>
              <a:latin typeface="Calibri"/>
              <a:ea typeface="Calibri"/>
              <a:cs typeface="Calibri"/>
              <a:sym typeface="Calibri"/>
            </a:endParaRPr>
          </a:p>
        </p:txBody>
      </p:sp>
      <p:sp>
        <p:nvSpPr>
          <p:cNvPr id="264" name="Google Shape;264;p46"/>
          <p:cNvSpPr txBox="1"/>
          <p:nvPr/>
        </p:nvSpPr>
        <p:spPr>
          <a:xfrm>
            <a:off x="2111748" y="5211034"/>
            <a:ext cx="4645742"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231F20"/>
                </a:solidFill>
                <a:latin typeface="Calibri"/>
                <a:ea typeface="Calibri"/>
                <a:cs typeface="Calibri"/>
                <a:sym typeface="Calibri"/>
              </a:rPr>
              <a:t>Central Processing </a:t>
            </a:r>
            <a:r>
              <a:rPr lang="en-US" sz="1600" b="0" i="0" u="none" strike="noStrike" cap="none">
                <a:solidFill>
                  <a:srgbClr val="231F20"/>
                </a:solidFill>
                <a:latin typeface="Calibri"/>
                <a:ea typeface="Calibri"/>
                <a:cs typeface="Calibri"/>
                <a:sym typeface="Calibri"/>
              </a:rPr>
              <a:t>Unit (CPU)</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latin typeface="Calibri"/>
                <a:ea typeface="Calibri"/>
                <a:cs typeface="Calibri"/>
                <a:sym typeface="Calibri"/>
              </a:rPr>
              <a:t>Central Processing Unit (CPU)</a:t>
            </a:r>
            <a:endParaRPr b="1">
              <a:latin typeface="Calibri"/>
              <a:ea typeface="Calibri"/>
              <a:cs typeface="Calibri"/>
              <a:sym typeface="Calibri"/>
            </a:endParaRPr>
          </a:p>
        </p:txBody>
      </p:sp>
      <p:sp>
        <p:nvSpPr>
          <p:cNvPr id="270" name="Google Shape;270;p47"/>
          <p:cNvSpPr txBox="1"/>
          <p:nvPr/>
        </p:nvSpPr>
        <p:spPr>
          <a:xfrm>
            <a:off x="384687" y="983227"/>
            <a:ext cx="8759313" cy="3913059"/>
          </a:xfrm>
          <a:prstGeom prst="rect">
            <a:avLst/>
          </a:prstGeom>
          <a:noFill/>
          <a:ln>
            <a:noFill/>
          </a:ln>
        </p:spPr>
        <p:txBody>
          <a:bodyPr spcFirstLastPara="1" wrap="square" lIns="91425" tIns="45700" rIns="91425" bIns="45700" anchor="t" anchorCtr="0">
            <a:spAutoFit/>
          </a:bodyPr>
          <a:lstStyle/>
          <a:p>
            <a:pPr marL="257175" marR="2078355" lvl="0" indent="0" algn="just" rtl="0">
              <a:lnSpc>
                <a:spcPct val="150000"/>
              </a:lnSpc>
              <a:spcBef>
                <a:spcPts val="0"/>
              </a:spcBef>
              <a:spcAft>
                <a:spcPts val="0"/>
              </a:spcAft>
              <a:buClr>
                <a:srgbClr val="000000"/>
              </a:buClr>
              <a:buSzPts val="2400"/>
              <a:buFont typeface="Arial"/>
              <a:buNone/>
            </a:pPr>
            <a:r>
              <a:rPr lang="en-US" sz="2400" b="0" i="0" u="none" strike="noStrike" cap="none">
                <a:solidFill>
                  <a:srgbClr val="231F20"/>
                </a:solidFill>
                <a:latin typeface="Calibri"/>
                <a:ea typeface="Calibri"/>
                <a:cs typeface="Calibri"/>
                <a:sym typeface="Calibri"/>
              </a:rPr>
              <a:t>It is the electronic circuitry of a computer that carries out the actual processing and usually referred as the brain of the computer. It is commonly called processor also. Physically, a CPU can be placed on one or more microchips called integrated circuits (IC). The ICs comprise semiconductor materials.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8"/>
          <p:cNvSpPr txBox="1"/>
          <p:nvPr/>
        </p:nvSpPr>
        <p:spPr>
          <a:xfrm>
            <a:off x="393291" y="848710"/>
            <a:ext cx="8114068" cy="1711366"/>
          </a:xfrm>
          <a:prstGeom prst="rect">
            <a:avLst/>
          </a:prstGeom>
          <a:noFill/>
          <a:ln>
            <a:noFill/>
          </a:ln>
        </p:spPr>
        <p:txBody>
          <a:bodyPr spcFirstLastPara="1" wrap="square" lIns="91425" tIns="45700" rIns="91425" bIns="45700" anchor="t" anchorCtr="0">
            <a:spAutoFit/>
          </a:bodyPr>
          <a:lstStyle/>
          <a:p>
            <a:pPr marL="523875" marR="175260" lvl="0" indent="-285750" algn="just" rtl="0">
              <a:lnSpc>
                <a:spcPct val="150000"/>
              </a:lnSpc>
              <a:spcBef>
                <a:spcPts val="0"/>
              </a:spcBef>
              <a:spcAft>
                <a:spcPts val="0"/>
              </a:spcAft>
              <a:buClr>
                <a:srgbClr val="000000"/>
              </a:buClr>
              <a:buSzPts val="1800"/>
              <a:buFont typeface="Noto Sans Symbols"/>
              <a:buChar char="⮚"/>
            </a:pPr>
            <a:r>
              <a:rPr lang="en-US" sz="1800" b="0" i="0" u="none" strike="noStrike" cap="none">
                <a:solidFill>
                  <a:srgbClr val="231F20"/>
                </a:solidFill>
                <a:latin typeface="Calibri"/>
                <a:ea typeface="Calibri"/>
                <a:cs typeface="Calibri"/>
                <a:sym typeface="Calibri"/>
              </a:rPr>
              <a:t>The CPU is given instructions and data through programs. The CPU then fetches the program and data from the memory and performs arithmetic and logic operations as per the given instructions and stores the result back to memory.</a:t>
            </a:r>
            <a:endParaRPr sz="1800" b="0" i="0" u="none" strike="noStrike" cap="none">
              <a:solidFill>
                <a:srgbClr val="000000"/>
              </a:solidFill>
              <a:latin typeface="Calibri"/>
              <a:ea typeface="Calibri"/>
              <a:cs typeface="Calibri"/>
              <a:sym typeface="Calibri"/>
            </a:endParaRPr>
          </a:p>
        </p:txBody>
      </p:sp>
      <p:sp>
        <p:nvSpPr>
          <p:cNvPr id="276" name="Google Shape;276;p48"/>
          <p:cNvSpPr txBox="1"/>
          <p:nvPr/>
        </p:nvSpPr>
        <p:spPr>
          <a:xfrm>
            <a:off x="512506" y="2430570"/>
            <a:ext cx="7875637" cy="171136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Noto Sans Symbols"/>
              <a:buChar char="⮚"/>
            </a:pPr>
            <a:r>
              <a:rPr lang="en-US" sz="1800" b="0" i="0" u="none" strike="noStrike" cap="none">
                <a:solidFill>
                  <a:srgbClr val="231F20"/>
                </a:solidFill>
                <a:latin typeface="Calibri"/>
                <a:ea typeface="Calibri"/>
                <a:cs typeface="Calibri"/>
                <a:sym typeface="Calibri"/>
              </a:rPr>
              <a:t>While processing, the CPU stores the data as well as instructions in its local memory called registers. Registers are part of the CPU chip and they are limited in size and number. Different registers are used for storing data, instructions or intermediate results</a:t>
            </a:r>
            <a:endParaRPr sz="1800" b="0" i="0" u="none" strike="noStrike" cap="none">
              <a:solidFill>
                <a:srgbClr val="000000"/>
              </a:solidFill>
              <a:latin typeface="Calibri"/>
              <a:ea typeface="Calibri"/>
              <a:cs typeface="Calibri"/>
              <a:sym typeface="Calibri"/>
            </a:endParaRPr>
          </a:p>
        </p:txBody>
      </p:sp>
      <p:sp>
        <p:nvSpPr>
          <p:cNvPr id="277" name="Google Shape;277;p48"/>
          <p:cNvSpPr txBox="1"/>
          <p:nvPr/>
        </p:nvSpPr>
        <p:spPr>
          <a:xfrm>
            <a:off x="301111" y="4141936"/>
            <a:ext cx="8298425" cy="2339102"/>
          </a:xfrm>
          <a:prstGeom prst="rect">
            <a:avLst/>
          </a:prstGeom>
          <a:noFill/>
          <a:ln>
            <a:noFill/>
          </a:ln>
        </p:spPr>
        <p:txBody>
          <a:bodyPr spcFirstLastPara="1" wrap="square" lIns="91425" tIns="45700" rIns="91425" bIns="45700" anchor="t" anchorCtr="0">
            <a:spAutoFit/>
          </a:bodyPr>
          <a:lstStyle/>
          <a:p>
            <a:pPr marL="466725"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231F20"/>
                </a:solidFill>
                <a:latin typeface="Calibri"/>
                <a:ea typeface="Calibri"/>
                <a:cs typeface="Calibri"/>
                <a:sym typeface="Calibri"/>
              </a:rPr>
              <a:t>CPU has two main</a:t>
            </a:r>
            <a:r>
              <a:rPr lang="en-US" sz="1800" b="0" i="0" u="none" strike="noStrike" cap="none">
                <a:solidFill>
                  <a:srgbClr val="000000"/>
                </a:solidFill>
                <a:latin typeface="Calibri"/>
                <a:ea typeface="Calibri"/>
                <a:cs typeface="Calibri"/>
                <a:sym typeface="Calibri"/>
              </a:rPr>
              <a:t> </a:t>
            </a:r>
            <a:r>
              <a:rPr lang="en-US" sz="1800" b="0" i="0" u="none" strike="noStrike" cap="none">
                <a:solidFill>
                  <a:srgbClr val="231F20"/>
                </a:solidFill>
                <a:latin typeface="Calibri"/>
                <a:ea typeface="Calibri"/>
                <a:cs typeface="Calibri"/>
                <a:sym typeface="Calibri"/>
              </a:rPr>
              <a:t>components — </a:t>
            </a:r>
            <a:r>
              <a:rPr lang="en-US" sz="1800" b="1" i="0" u="none" strike="noStrike" cap="none">
                <a:solidFill>
                  <a:srgbClr val="231F20"/>
                </a:solidFill>
                <a:latin typeface="Calibri"/>
                <a:ea typeface="Calibri"/>
                <a:cs typeface="Calibri"/>
                <a:sym typeface="Calibri"/>
              </a:rPr>
              <a:t>Arithmetic Logic Unit (ALU) </a:t>
            </a:r>
            <a:r>
              <a:rPr lang="en-US" sz="1800" b="0" i="0" u="none" strike="noStrike" cap="none">
                <a:solidFill>
                  <a:srgbClr val="231F20"/>
                </a:solidFill>
                <a:latin typeface="Calibri"/>
                <a:ea typeface="Calibri"/>
                <a:cs typeface="Calibri"/>
                <a:sym typeface="Calibri"/>
              </a:rPr>
              <a:t>and </a:t>
            </a:r>
            <a:r>
              <a:rPr lang="en-US" sz="1800" b="1" i="0" u="none" strike="noStrike" cap="none">
                <a:solidFill>
                  <a:srgbClr val="231F20"/>
                </a:solidFill>
                <a:latin typeface="Calibri"/>
                <a:ea typeface="Calibri"/>
                <a:cs typeface="Calibri"/>
                <a:sym typeface="Calibri"/>
              </a:rPr>
              <a:t>Control Unit (CU).</a:t>
            </a:r>
            <a:endParaRPr/>
          </a:p>
          <a:p>
            <a:pPr marL="752475" marR="0" lvl="0" indent="-285750" algn="just" rtl="0">
              <a:lnSpc>
                <a:spcPct val="100000"/>
              </a:lnSpc>
              <a:spcBef>
                <a:spcPts val="1200"/>
              </a:spcBef>
              <a:spcAft>
                <a:spcPts val="0"/>
              </a:spcAft>
              <a:buClr>
                <a:srgbClr val="000000"/>
              </a:buClr>
              <a:buSzPts val="1800"/>
              <a:buFont typeface="Noto Sans Symbols"/>
              <a:buChar char="❖"/>
            </a:pPr>
            <a:r>
              <a:rPr lang="en-US" sz="1800" b="1" i="0" u="none" strike="noStrike" cap="none">
                <a:solidFill>
                  <a:srgbClr val="231F20"/>
                </a:solidFill>
                <a:latin typeface="Calibri"/>
                <a:ea typeface="Calibri"/>
                <a:cs typeface="Calibri"/>
                <a:sym typeface="Calibri"/>
              </a:rPr>
              <a:t> ALU</a:t>
            </a:r>
            <a:r>
              <a:rPr lang="en-US" sz="1800" b="0" i="0" u="none" strike="noStrike" cap="none">
                <a:solidFill>
                  <a:srgbClr val="231F20"/>
                </a:solidFill>
                <a:latin typeface="Calibri"/>
                <a:ea typeface="Calibri"/>
                <a:cs typeface="Calibri"/>
                <a:sym typeface="Calibri"/>
              </a:rPr>
              <a:t> performs all the arithmetic and logic operations that need to be done as per the instruction in a program. </a:t>
            </a:r>
            <a:endParaRPr/>
          </a:p>
          <a:p>
            <a:pPr marL="752475" marR="0" lvl="0" indent="-285750" algn="just" rtl="0">
              <a:lnSpc>
                <a:spcPct val="100000"/>
              </a:lnSpc>
              <a:spcBef>
                <a:spcPts val="1200"/>
              </a:spcBef>
              <a:spcAft>
                <a:spcPts val="0"/>
              </a:spcAft>
              <a:buClr>
                <a:srgbClr val="000000"/>
              </a:buClr>
              <a:buSzPts val="1800"/>
              <a:buFont typeface="Noto Sans Symbols"/>
              <a:buChar char="❖"/>
            </a:pPr>
            <a:r>
              <a:rPr lang="en-US" sz="1800" b="1" i="0" u="none" strike="noStrike" cap="none">
                <a:solidFill>
                  <a:srgbClr val="231F20"/>
                </a:solidFill>
                <a:latin typeface="Calibri"/>
                <a:ea typeface="Calibri"/>
                <a:cs typeface="Calibri"/>
                <a:sym typeface="Calibri"/>
              </a:rPr>
              <a:t>CU</a:t>
            </a:r>
            <a:r>
              <a:rPr lang="en-US" sz="1800" b="0" i="0" u="none" strike="noStrike" cap="none">
                <a:solidFill>
                  <a:srgbClr val="231F20"/>
                </a:solidFill>
                <a:latin typeface="Calibri"/>
                <a:ea typeface="Calibri"/>
                <a:cs typeface="Calibri"/>
                <a:sym typeface="Calibri"/>
              </a:rPr>
              <a:t> controls sequential instruction execution, interprets instructions and guides data flow through the computer’s memory, ALU and input or output devices. CPU is also popularly known as microprocessor</a:t>
            </a:r>
            <a:endParaRPr sz="1800" b="0" i="0" u="none" strike="noStrike" cap="none">
              <a:solidFill>
                <a:srgbClr val="000000"/>
              </a:solidFill>
              <a:latin typeface="Calibri"/>
              <a:ea typeface="Calibri"/>
              <a:cs typeface="Calibri"/>
              <a:sym typeface="Calibri"/>
            </a:endParaRPr>
          </a:p>
        </p:txBody>
      </p:sp>
      <p:sp>
        <p:nvSpPr>
          <p:cNvPr id="278" name="Google Shape;278;p48"/>
          <p:cNvSpPr txBox="1"/>
          <p:nvPr/>
        </p:nvSpPr>
        <p:spPr>
          <a:xfrm>
            <a:off x="0" y="91468"/>
            <a:ext cx="4480560" cy="553998"/>
          </a:xfrm>
          <a:prstGeom prst="rect">
            <a:avLst/>
          </a:prstGeom>
          <a:noFill/>
          <a:ln>
            <a:noFill/>
          </a:ln>
        </p:spPr>
        <p:txBody>
          <a:bodyPr spcFirstLastPara="1" wrap="square" lIns="91425" tIns="45700" rIns="91425" bIns="45700" anchor="t" anchorCtr="0">
            <a:spAutoFit/>
          </a:bodyPr>
          <a:lstStyle/>
          <a:p>
            <a:pPr marL="238125" marR="17526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231F20"/>
                </a:solidFill>
                <a:latin typeface="Calibri"/>
                <a:ea typeface="Calibri"/>
                <a:cs typeface="Calibri"/>
                <a:sym typeface="Calibri"/>
              </a:rPr>
              <a:t>CPU Functioning Details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9"/>
          <p:cNvSpPr/>
          <p:nvPr/>
        </p:nvSpPr>
        <p:spPr>
          <a:xfrm>
            <a:off x="479719" y="1073968"/>
            <a:ext cx="2733367" cy="5029821"/>
          </a:xfrm>
          <a:prstGeom prst="rect">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4" name="Google Shape;284;p49"/>
          <p:cNvSpPr txBox="1">
            <a:spLocks noGrp="1"/>
          </p:cNvSpPr>
          <p:nvPr>
            <p:ph type="ctrTitle"/>
          </p:nvPr>
        </p:nvSpPr>
        <p:spPr>
          <a:xfrm>
            <a:off x="57686" y="73742"/>
            <a:ext cx="4119716" cy="70792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Input Devices</a:t>
            </a:r>
            <a:endParaRPr b="1"/>
          </a:p>
        </p:txBody>
      </p:sp>
      <p:sp>
        <p:nvSpPr>
          <p:cNvPr id="285" name="Google Shape;285;p49"/>
          <p:cNvSpPr txBox="1"/>
          <p:nvPr/>
        </p:nvSpPr>
        <p:spPr>
          <a:xfrm>
            <a:off x="3290354" y="1002328"/>
            <a:ext cx="5486399" cy="5440015"/>
          </a:xfrm>
          <a:prstGeom prst="rect">
            <a:avLst/>
          </a:prstGeom>
          <a:noFill/>
          <a:ln>
            <a:noFill/>
          </a:ln>
        </p:spPr>
        <p:txBody>
          <a:bodyPr spcFirstLastPara="1" wrap="square" lIns="91425" tIns="45700" rIns="91425" bIns="45700" anchor="t" anchorCtr="0">
            <a:spAutoFit/>
          </a:bodyPr>
          <a:lstStyle/>
          <a:p>
            <a:pPr marL="238125" marR="173990" lvl="0" indent="0" algn="just" rtl="0">
              <a:lnSpc>
                <a:spcPct val="108000"/>
              </a:lnSpc>
              <a:spcBef>
                <a:spcPts val="0"/>
              </a:spcBef>
              <a:spcAft>
                <a:spcPts val="0"/>
              </a:spcAft>
              <a:buClr>
                <a:srgbClr val="000000"/>
              </a:buClr>
              <a:buSzPts val="1600"/>
              <a:buFont typeface="Arial"/>
              <a:buNone/>
            </a:pPr>
            <a:r>
              <a:rPr lang="en-US" sz="1600" b="0" i="0" u="none" strike="noStrike" cap="none">
                <a:solidFill>
                  <a:srgbClr val="231F20"/>
                </a:solidFill>
                <a:latin typeface="Calibri"/>
                <a:ea typeface="Calibri"/>
                <a:cs typeface="Calibri"/>
                <a:sym typeface="Calibri"/>
              </a:rPr>
              <a:t>The devices through which control signals are sent to a computer are termed as </a:t>
            </a:r>
            <a:r>
              <a:rPr lang="en-US" sz="1600" b="1" i="0" u="none" strike="noStrike" cap="none">
                <a:solidFill>
                  <a:srgbClr val="231F20"/>
                </a:solidFill>
                <a:latin typeface="Calibri"/>
                <a:ea typeface="Calibri"/>
                <a:cs typeface="Calibri"/>
                <a:sym typeface="Calibri"/>
              </a:rPr>
              <a:t>input devices</a:t>
            </a:r>
            <a:r>
              <a:rPr lang="en-US" sz="1600" b="0" i="0" u="none" strike="noStrike" cap="none">
                <a:solidFill>
                  <a:srgbClr val="231F20"/>
                </a:solidFill>
                <a:latin typeface="Calibri"/>
                <a:ea typeface="Calibri"/>
                <a:cs typeface="Calibri"/>
                <a:sym typeface="Calibri"/>
              </a:rPr>
              <a:t>. These devices convert the input data into a digital form that is acceptable by the computer system. </a:t>
            </a:r>
            <a:endParaRPr/>
          </a:p>
          <a:p>
            <a:pPr marL="238125" marR="173990" lvl="0" indent="0" algn="just" rtl="0">
              <a:lnSpc>
                <a:spcPct val="108000"/>
              </a:lnSpc>
              <a:spcBef>
                <a:spcPts val="570"/>
              </a:spcBef>
              <a:spcAft>
                <a:spcPts val="0"/>
              </a:spcAft>
              <a:buNone/>
            </a:pPr>
            <a:r>
              <a:rPr lang="en-US" sz="1600" b="0" i="0" u="none" strike="noStrike" cap="none">
                <a:solidFill>
                  <a:srgbClr val="231F20"/>
                </a:solidFill>
                <a:latin typeface="Calibri"/>
                <a:ea typeface="Calibri"/>
                <a:cs typeface="Calibri"/>
                <a:sym typeface="Calibri"/>
              </a:rPr>
              <a:t>Some examples of input devices include keyboard, mouse, scanner, touch screen, etc., as shown in Figure. </a:t>
            </a:r>
            <a:endParaRPr/>
          </a:p>
          <a:p>
            <a:pPr marL="523875" marR="173990" lvl="0" indent="-285750" algn="just" rtl="0">
              <a:lnSpc>
                <a:spcPct val="108000"/>
              </a:lnSpc>
              <a:spcBef>
                <a:spcPts val="570"/>
              </a:spcBef>
              <a:spcAft>
                <a:spcPts val="0"/>
              </a:spcAft>
              <a:buClr>
                <a:srgbClr val="000000"/>
              </a:buClr>
              <a:buSzPts val="1600"/>
              <a:buFont typeface="Noto Sans Symbols"/>
              <a:buChar char="▪"/>
            </a:pPr>
            <a:r>
              <a:rPr lang="en-US" sz="1600" b="0" i="0" u="none" strike="noStrike" cap="none">
                <a:solidFill>
                  <a:srgbClr val="231F20"/>
                </a:solidFill>
                <a:latin typeface="Calibri"/>
                <a:ea typeface="Calibri"/>
                <a:cs typeface="Calibri"/>
                <a:sym typeface="Calibri"/>
              </a:rPr>
              <a:t>Specially designed </a:t>
            </a:r>
            <a:r>
              <a:rPr lang="en-US" sz="1600" b="1" i="1" u="none" strike="noStrike" cap="none">
                <a:solidFill>
                  <a:srgbClr val="231F20"/>
                </a:solidFill>
                <a:latin typeface="Calibri"/>
                <a:ea typeface="Calibri"/>
                <a:cs typeface="Calibri"/>
                <a:sym typeface="Calibri"/>
              </a:rPr>
              <a:t>braille keyboards </a:t>
            </a:r>
            <a:r>
              <a:rPr lang="en-US" sz="1600" b="0" i="0" u="none" strike="noStrike" cap="none">
                <a:solidFill>
                  <a:srgbClr val="231F20"/>
                </a:solidFill>
                <a:latin typeface="Calibri"/>
                <a:ea typeface="Calibri"/>
                <a:cs typeface="Calibri"/>
                <a:sym typeface="Calibri"/>
              </a:rPr>
              <a:t>are also available to help the visually impaired for entering data into a computer. </a:t>
            </a:r>
            <a:endParaRPr/>
          </a:p>
          <a:p>
            <a:pPr marL="523875" marR="173990" lvl="0" indent="-285750" algn="just" rtl="0">
              <a:lnSpc>
                <a:spcPct val="108000"/>
              </a:lnSpc>
              <a:spcBef>
                <a:spcPts val="570"/>
              </a:spcBef>
              <a:spcAft>
                <a:spcPts val="0"/>
              </a:spcAft>
              <a:buClr>
                <a:srgbClr val="000000"/>
              </a:buClr>
              <a:buSzPts val="1600"/>
              <a:buFont typeface="Noto Sans Symbols"/>
              <a:buChar char="▪"/>
            </a:pPr>
            <a:r>
              <a:rPr lang="en-US" sz="1600" b="0" i="0" u="none" strike="noStrike" cap="none">
                <a:solidFill>
                  <a:srgbClr val="231F20"/>
                </a:solidFill>
                <a:latin typeface="Calibri"/>
                <a:ea typeface="Calibri"/>
                <a:cs typeface="Calibri"/>
                <a:sym typeface="Calibri"/>
              </a:rPr>
              <a:t>Besides, we can now enter data through voice, for example, we can use </a:t>
            </a:r>
            <a:r>
              <a:rPr lang="en-US" sz="1600" b="1" i="1" u="none" strike="noStrike" cap="none">
                <a:solidFill>
                  <a:srgbClr val="231F20"/>
                </a:solidFill>
                <a:latin typeface="Calibri"/>
                <a:ea typeface="Calibri"/>
                <a:cs typeface="Calibri"/>
                <a:sym typeface="Calibri"/>
              </a:rPr>
              <a:t>Google voice </a:t>
            </a:r>
            <a:r>
              <a:rPr lang="en-US" sz="1600" b="0" i="0" u="none" strike="noStrike" cap="none">
                <a:solidFill>
                  <a:srgbClr val="231F20"/>
                </a:solidFill>
                <a:latin typeface="Calibri"/>
                <a:ea typeface="Calibri"/>
                <a:cs typeface="Calibri"/>
                <a:sym typeface="Calibri"/>
              </a:rPr>
              <a:t>search to search the web where we can input the search string through our voice.</a:t>
            </a:r>
            <a:endParaRPr sz="1600" b="0" i="0" u="none" strike="noStrike" cap="none">
              <a:solidFill>
                <a:srgbClr val="000000"/>
              </a:solidFill>
              <a:latin typeface="Calibri"/>
              <a:ea typeface="Calibri"/>
              <a:cs typeface="Calibri"/>
              <a:sym typeface="Calibri"/>
            </a:endParaRPr>
          </a:p>
          <a:p>
            <a:pPr marL="523875" marR="173990" lvl="0" indent="-285750" algn="just" rtl="0">
              <a:lnSpc>
                <a:spcPct val="108000"/>
              </a:lnSpc>
              <a:spcBef>
                <a:spcPts val="570"/>
              </a:spcBef>
              <a:spcAft>
                <a:spcPts val="0"/>
              </a:spcAft>
              <a:buClr>
                <a:srgbClr val="000000"/>
              </a:buClr>
              <a:buSzPts val="1600"/>
              <a:buFont typeface="Noto Sans Symbols"/>
              <a:buChar char="⮚"/>
            </a:pPr>
            <a:r>
              <a:rPr lang="en-US" sz="1600" b="0" i="0" u="none" strike="noStrike" cap="none">
                <a:solidFill>
                  <a:srgbClr val="231F20"/>
                </a:solidFill>
                <a:latin typeface="Calibri"/>
                <a:ea typeface="Calibri"/>
                <a:cs typeface="Calibri"/>
                <a:sym typeface="Calibri"/>
              </a:rPr>
              <a:t>Data entered through input device is temporarily</a:t>
            </a:r>
            <a:endParaRPr sz="1600" b="0" i="0" u="none" strike="noStrike" cap="none">
              <a:solidFill>
                <a:srgbClr val="000000"/>
              </a:solidFill>
              <a:latin typeface="Calibri"/>
              <a:ea typeface="Calibri"/>
              <a:cs typeface="Calibri"/>
              <a:sym typeface="Calibri"/>
            </a:endParaRPr>
          </a:p>
          <a:p>
            <a:pPr marL="238125" marR="173990" lvl="0" indent="0" algn="just" rtl="0">
              <a:lnSpc>
                <a:spcPct val="108000"/>
              </a:lnSpc>
              <a:spcBef>
                <a:spcPts val="20"/>
              </a:spcBef>
              <a:spcAft>
                <a:spcPts val="0"/>
              </a:spcAft>
              <a:buClr>
                <a:srgbClr val="000000"/>
              </a:buClr>
              <a:buSzPts val="1600"/>
              <a:buFont typeface="Arial"/>
              <a:buNone/>
            </a:pPr>
            <a:r>
              <a:rPr lang="en-US" sz="1600" b="0" i="0" u="none" strike="noStrike" cap="none">
                <a:solidFill>
                  <a:srgbClr val="231F20"/>
                </a:solidFill>
                <a:latin typeface="Calibri"/>
                <a:ea typeface="Calibri"/>
                <a:cs typeface="Calibri"/>
                <a:sym typeface="Calibri"/>
              </a:rPr>
              <a:t>stored in the </a:t>
            </a:r>
            <a:r>
              <a:rPr lang="en-US" sz="1600" b="1" i="0" u="none" strike="noStrike" cap="none">
                <a:solidFill>
                  <a:srgbClr val="231F20"/>
                </a:solidFill>
                <a:latin typeface="Calibri"/>
                <a:ea typeface="Calibri"/>
                <a:cs typeface="Calibri"/>
                <a:sym typeface="Calibri"/>
              </a:rPr>
              <a:t>main memory (also called RAM) </a:t>
            </a:r>
            <a:r>
              <a:rPr lang="en-US" sz="1600" b="0" i="0" u="none" strike="noStrike" cap="none">
                <a:solidFill>
                  <a:srgbClr val="231F20"/>
                </a:solidFill>
                <a:latin typeface="Calibri"/>
                <a:ea typeface="Calibri"/>
                <a:cs typeface="Calibri"/>
                <a:sym typeface="Calibri"/>
              </a:rPr>
              <a:t>of the computer system. </a:t>
            </a:r>
            <a:endParaRPr/>
          </a:p>
          <a:p>
            <a:pPr marL="523875" marR="173990" lvl="0" indent="-285750" algn="just" rtl="0">
              <a:lnSpc>
                <a:spcPct val="108000"/>
              </a:lnSpc>
              <a:spcBef>
                <a:spcPts val="20"/>
              </a:spcBef>
              <a:spcAft>
                <a:spcPts val="0"/>
              </a:spcAft>
              <a:buClr>
                <a:srgbClr val="000000"/>
              </a:buClr>
              <a:buSzPts val="1600"/>
              <a:buFont typeface="Noto Sans Symbols"/>
              <a:buChar char="⮚"/>
            </a:pPr>
            <a:r>
              <a:rPr lang="en-US" sz="1600" b="0" i="0" u="none" strike="noStrike" cap="none">
                <a:solidFill>
                  <a:srgbClr val="231F20"/>
                </a:solidFill>
                <a:latin typeface="Calibri"/>
                <a:ea typeface="Calibri"/>
                <a:cs typeface="Calibri"/>
                <a:sym typeface="Calibri"/>
              </a:rPr>
              <a:t>For permanent storage and future use, the data as well as instructions are stored permanently in additional storage locations called </a:t>
            </a:r>
            <a:r>
              <a:rPr lang="en-US" sz="1600" b="1" i="0" u="none" strike="noStrike" cap="none">
                <a:solidFill>
                  <a:srgbClr val="231F20"/>
                </a:solidFill>
                <a:latin typeface="Calibri"/>
                <a:ea typeface="Calibri"/>
                <a:cs typeface="Calibri"/>
                <a:sym typeface="Calibri"/>
              </a:rPr>
              <a:t>secondary memory.</a:t>
            </a:r>
            <a:endParaRPr sz="1600" b="1" i="0" u="none" strike="noStrike" cap="none">
              <a:solidFill>
                <a:srgbClr val="000000"/>
              </a:solidFill>
              <a:latin typeface="Calibri"/>
              <a:ea typeface="Calibri"/>
              <a:cs typeface="Calibri"/>
              <a:sym typeface="Calibri"/>
            </a:endParaRPr>
          </a:p>
        </p:txBody>
      </p:sp>
      <p:grpSp>
        <p:nvGrpSpPr>
          <p:cNvPr id="286" name="Google Shape;286;p49"/>
          <p:cNvGrpSpPr/>
          <p:nvPr/>
        </p:nvGrpSpPr>
        <p:grpSpPr>
          <a:xfrm>
            <a:off x="479719" y="1115646"/>
            <a:ext cx="2733367" cy="5068844"/>
            <a:chOff x="6350" y="6350"/>
            <a:chExt cx="1671955" cy="3147695"/>
          </a:xfrm>
        </p:grpSpPr>
        <p:pic>
          <p:nvPicPr>
            <p:cNvPr id="287" name="Google Shape;287;p49"/>
            <p:cNvPicPr preferRelativeResize="0"/>
            <p:nvPr/>
          </p:nvPicPr>
          <p:blipFill rotWithShape="1">
            <a:blip r:embed="rId3">
              <a:alphaModFix/>
            </a:blip>
            <a:srcRect/>
            <a:stretch/>
          </p:blipFill>
          <p:spPr>
            <a:xfrm>
              <a:off x="575832" y="2269636"/>
              <a:ext cx="685430" cy="457193"/>
            </a:xfrm>
            <a:prstGeom prst="rect">
              <a:avLst/>
            </a:prstGeom>
            <a:noFill/>
            <a:ln>
              <a:noFill/>
            </a:ln>
          </p:spPr>
        </p:pic>
        <p:sp>
          <p:nvSpPr>
            <p:cNvPr id="288" name="Google Shape;288;p49"/>
            <p:cNvSpPr/>
            <p:nvPr/>
          </p:nvSpPr>
          <p:spPr>
            <a:xfrm>
              <a:off x="6350" y="6350"/>
              <a:ext cx="1671955" cy="3147695"/>
            </a:xfrm>
            <a:custGeom>
              <a:avLst/>
              <a:gdLst/>
              <a:ahLst/>
              <a:cxnLst/>
              <a:rect l="l" t="t" r="r" b="b"/>
              <a:pathLst>
                <a:path w="1671955" h="3147695" extrusionOk="0">
                  <a:moveTo>
                    <a:pt x="1671751" y="0"/>
                  </a:moveTo>
                  <a:lnTo>
                    <a:pt x="0" y="0"/>
                  </a:lnTo>
                  <a:lnTo>
                    <a:pt x="0" y="3147364"/>
                  </a:lnTo>
                </a:path>
              </a:pathLst>
            </a:custGeom>
            <a:no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pic>
          <p:nvPicPr>
            <p:cNvPr id="289" name="Google Shape;289;p49"/>
            <p:cNvPicPr preferRelativeResize="0"/>
            <p:nvPr/>
          </p:nvPicPr>
          <p:blipFill rotWithShape="1">
            <a:blip r:embed="rId4">
              <a:alphaModFix/>
            </a:blip>
            <a:srcRect/>
            <a:stretch/>
          </p:blipFill>
          <p:spPr>
            <a:xfrm>
              <a:off x="387718" y="172199"/>
              <a:ext cx="970457" cy="361696"/>
            </a:xfrm>
            <a:prstGeom prst="rect">
              <a:avLst/>
            </a:prstGeom>
            <a:noFill/>
            <a:ln>
              <a:noFill/>
            </a:ln>
          </p:spPr>
        </p:pic>
        <p:pic>
          <p:nvPicPr>
            <p:cNvPr id="290" name="Google Shape;290;p49"/>
            <p:cNvPicPr preferRelativeResize="0"/>
            <p:nvPr/>
          </p:nvPicPr>
          <p:blipFill rotWithShape="1">
            <a:blip r:embed="rId5">
              <a:alphaModFix/>
            </a:blip>
            <a:srcRect/>
            <a:stretch/>
          </p:blipFill>
          <p:spPr>
            <a:xfrm>
              <a:off x="502374" y="827076"/>
              <a:ext cx="727171" cy="469025"/>
            </a:xfrm>
            <a:prstGeom prst="rect">
              <a:avLst/>
            </a:prstGeom>
            <a:noFill/>
            <a:ln>
              <a:noFill/>
            </a:ln>
          </p:spPr>
        </p:pic>
        <p:pic>
          <p:nvPicPr>
            <p:cNvPr id="291" name="Google Shape;291;p49"/>
            <p:cNvPicPr preferRelativeResize="0"/>
            <p:nvPr/>
          </p:nvPicPr>
          <p:blipFill rotWithShape="1">
            <a:blip r:embed="rId6">
              <a:alphaModFix/>
            </a:blip>
            <a:srcRect/>
            <a:stretch/>
          </p:blipFill>
          <p:spPr>
            <a:xfrm>
              <a:off x="569608" y="1504565"/>
              <a:ext cx="668385" cy="437259"/>
            </a:xfrm>
            <a:prstGeom prst="rect">
              <a:avLst/>
            </a:prstGeom>
            <a:noFill/>
            <a:ln>
              <a:noFill/>
            </a:ln>
          </p:spPr>
        </p:pic>
        <p:sp>
          <p:nvSpPr>
            <p:cNvPr id="292" name="Google Shape;292;p49"/>
            <p:cNvSpPr txBox="1"/>
            <p:nvPr/>
          </p:nvSpPr>
          <p:spPr>
            <a:xfrm>
              <a:off x="600256" y="566127"/>
              <a:ext cx="519430" cy="134620"/>
            </a:xfrm>
            <a:prstGeom prst="rect">
              <a:avLst/>
            </a:prstGeom>
            <a:noFill/>
            <a:ln>
              <a:noFill/>
            </a:ln>
          </p:spPr>
          <p:txBody>
            <a:bodyPr spcFirstLastPara="1" wrap="square" lIns="0" tIns="0" rIns="0" bIns="0" anchor="t" anchorCtr="0">
              <a:noAutofit/>
            </a:bodyPr>
            <a:lstStyle/>
            <a:p>
              <a:pPr marL="0" marR="0" lvl="0" indent="0" algn="l" rtl="0">
                <a:lnSpc>
                  <a:spcPct val="65625"/>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Keyboard</a:t>
              </a:r>
              <a:endParaRPr sz="1600" b="0" i="0" u="none" strike="noStrike" cap="none">
                <a:solidFill>
                  <a:srgbClr val="000000"/>
                </a:solidFill>
                <a:latin typeface="Cambria"/>
                <a:ea typeface="Cambria"/>
                <a:cs typeface="Cambria"/>
                <a:sym typeface="Cambria"/>
              </a:endParaRPr>
            </a:p>
          </p:txBody>
        </p:sp>
        <p:sp>
          <p:nvSpPr>
            <p:cNvPr id="293" name="Google Shape;293;p49"/>
            <p:cNvSpPr txBox="1"/>
            <p:nvPr/>
          </p:nvSpPr>
          <p:spPr>
            <a:xfrm>
              <a:off x="721238" y="1281066"/>
              <a:ext cx="365125" cy="134620"/>
            </a:xfrm>
            <a:prstGeom prst="rect">
              <a:avLst/>
            </a:prstGeom>
            <a:noFill/>
            <a:ln>
              <a:noFill/>
            </a:ln>
          </p:spPr>
          <p:txBody>
            <a:bodyPr spcFirstLastPara="1" wrap="square" lIns="0" tIns="0" rIns="0" bIns="0" anchor="t" anchorCtr="0">
              <a:noAutofit/>
            </a:bodyPr>
            <a:lstStyle/>
            <a:p>
              <a:pPr marL="0" marR="0" lvl="0" indent="0" algn="l" rtl="0">
                <a:lnSpc>
                  <a:spcPct val="65625"/>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Mouse</a:t>
              </a:r>
              <a:endParaRPr sz="1600" b="0" i="0" u="none" strike="noStrike" cap="none">
                <a:solidFill>
                  <a:srgbClr val="000000"/>
                </a:solidFill>
                <a:latin typeface="Cambria"/>
                <a:ea typeface="Cambria"/>
                <a:cs typeface="Cambria"/>
                <a:sym typeface="Cambria"/>
              </a:endParaRPr>
            </a:p>
          </p:txBody>
        </p:sp>
        <p:sp>
          <p:nvSpPr>
            <p:cNvPr id="294" name="Google Shape;294;p49"/>
            <p:cNvSpPr txBox="1"/>
            <p:nvPr/>
          </p:nvSpPr>
          <p:spPr>
            <a:xfrm>
              <a:off x="728939" y="2006421"/>
              <a:ext cx="457834" cy="134620"/>
            </a:xfrm>
            <a:prstGeom prst="rect">
              <a:avLst/>
            </a:prstGeom>
            <a:noFill/>
            <a:ln>
              <a:noFill/>
            </a:ln>
          </p:spPr>
          <p:txBody>
            <a:bodyPr spcFirstLastPara="1" wrap="square" lIns="0" tIns="0" rIns="0" bIns="0" anchor="t" anchorCtr="0">
              <a:noAutofit/>
            </a:bodyPr>
            <a:lstStyle/>
            <a:p>
              <a:pPr marL="0" marR="0" lvl="0" indent="0" algn="l" rtl="0">
                <a:lnSpc>
                  <a:spcPct val="65625"/>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Scanner</a:t>
              </a:r>
              <a:endParaRPr sz="1600" b="0" i="0" u="none" strike="noStrike" cap="none">
                <a:solidFill>
                  <a:srgbClr val="000000"/>
                </a:solidFill>
                <a:latin typeface="Cambria"/>
                <a:ea typeface="Cambria"/>
                <a:cs typeface="Cambria"/>
                <a:sym typeface="Cambria"/>
              </a:endParaRPr>
            </a:p>
          </p:txBody>
        </p:sp>
        <p:sp>
          <p:nvSpPr>
            <p:cNvPr id="295" name="Google Shape;295;p49"/>
            <p:cNvSpPr txBox="1"/>
            <p:nvPr/>
          </p:nvSpPr>
          <p:spPr>
            <a:xfrm>
              <a:off x="562168" y="2770745"/>
              <a:ext cx="748030" cy="134620"/>
            </a:xfrm>
            <a:prstGeom prst="rect">
              <a:avLst/>
            </a:prstGeom>
            <a:noFill/>
            <a:ln>
              <a:noFill/>
            </a:ln>
          </p:spPr>
          <p:txBody>
            <a:bodyPr spcFirstLastPara="1" wrap="square" lIns="0" tIns="0" rIns="0" bIns="0" anchor="t" anchorCtr="0">
              <a:noAutofit/>
            </a:bodyPr>
            <a:lstStyle/>
            <a:p>
              <a:pPr marL="0" marR="0" lvl="0" indent="0" algn="l" rtl="0">
                <a:lnSpc>
                  <a:spcPct val="65625"/>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Touch Screen</a:t>
              </a:r>
              <a:endParaRPr sz="1600" b="0" i="0" u="none" strike="noStrike" cap="none">
                <a:solidFill>
                  <a:srgbClr val="000000"/>
                </a:solidFill>
                <a:latin typeface="Cambria"/>
                <a:ea typeface="Cambria"/>
                <a:cs typeface="Cambria"/>
                <a:sym typeface="Cambria"/>
              </a:endParaRPr>
            </a:p>
          </p:txBody>
        </p:sp>
      </p:grpSp>
      <p:sp>
        <p:nvSpPr>
          <p:cNvPr id="296" name="Google Shape;296;p49"/>
          <p:cNvSpPr txBox="1"/>
          <p:nvPr/>
        </p:nvSpPr>
        <p:spPr>
          <a:xfrm>
            <a:off x="479719" y="6103789"/>
            <a:ext cx="2733367" cy="338554"/>
          </a:xfrm>
          <a:prstGeom prst="rect">
            <a:avLst/>
          </a:prstGeom>
          <a:noFill/>
          <a:ln>
            <a:noFill/>
          </a:ln>
        </p:spPr>
        <p:txBody>
          <a:bodyPr spcFirstLastPara="1" wrap="square" lIns="91425" tIns="45700" rIns="91425" bIns="45700" anchor="t" anchorCtr="0">
            <a:spAutoFit/>
          </a:bodyPr>
          <a:lstStyle/>
          <a:p>
            <a:pPr marL="295275"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31F20"/>
                </a:solidFill>
                <a:latin typeface="Calibri"/>
                <a:ea typeface="Calibri"/>
                <a:cs typeface="Calibri"/>
                <a:sym typeface="Calibri"/>
              </a:rPr>
              <a:t>Fig. 1.9: Input devices</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0"/>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Output Devices</a:t>
            </a:r>
            <a:endParaRPr b="1"/>
          </a:p>
        </p:txBody>
      </p:sp>
      <p:sp>
        <p:nvSpPr>
          <p:cNvPr id="302" name="Google Shape;302;p50"/>
          <p:cNvSpPr txBox="1">
            <a:spLocks noGrp="1"/>
          </p:cNvSpPr>
          <p:nvPr>
            <p:ph type="subTitle" idx="1"/>
          </p:nvPr>
        </p:nvSpPr>
        <p:spPr>
          <a:xfrm>
            <a:off x="3505537" y="1125879"/>
            <a:ext cx="5373329" cy="5147187"/>
          </a:xfrm>
          <a:prstGeom prst="rect">
            <a:avLst/>
          </a:prstGeom>
          <a:noFill/>
          <a:ln>
            <a:noFill/>
          </a:ln>
        </p:spPr>
        <p:txBody>
          <a:bodyPr spcFirstLastPara="1" wrap="square" lIns="91425" tIns="45700" rIns="91425" bIns="45700" anchor="t" anchorCtr="0">
            <a:noAutofit/>
          </a:bodyPr>
          <a:lstStyle/>
          <a:p>
            <a:pPr marL="12065" marR="5080" lvl="0" indent="0" algn="just" rtl="0">
              <a:lnSpc>
                <a:spcPct val="100000"/>
              </a:lnSpc>
              <a:spcBef>
                <a:spcPts val="640"/>
              </a:spcBef>
              <a:spcAft>
                <a:spcPts val="0"/>
              </a:spcAft>
              <a:buClr>
                <a:schemeClr val="dk1"/>
              </a:buClr>
              <a:buSzPts val="1200"/>
              <a:buNone/>
            </a:pPr>
            <a:r>
              <a:rPr lang="en-US" sz="1600">
                <a:solidFill>
                  <a:schemeClr val="dk1"/>
                </a:solidFill>
              </a:rPr>
              <a:t>The device that receives data from a computer system for display, physical production, etc., is called </a:t>
            </a:r>
            <a:r>
              <a:rPr lang="en-US" sz="1600" b="1">
                <a:solidFill>
                  <a:schemeClr val="dk1"/>
                </a:solidFill>
              </a:rPr>
              <a:t>output device. </a:t>
            </a:r>
            <a:r>
              <a:rPr lang="en-US" sz="1600">
                <a:solidFill>
                  <a:schemeClr val="dk1"/>
                </a:solidFill>
              </a:rPr>
              <a:t>It converts digital information into human-understandable form. For example, monitor, projector, headphone, speaker, printer, etc. </a:t>
            </a:r>
            <a:endParaRPr/>
          </a:p>
          <a:p>
            <a:pPr marL="469265" marR="5080" lvl="0" indent="-457200" algn="just" rtl="0">
              <a:lnSpc>
                <a:spcPct val="100000"/>
              </a:lnSpc>
              <a:spcBef>
                <a:spcPts val="640"/>
              </a:spcBef>
              <a:spcAft>
                <a:spcPts val="0"/>
              </a:spcAft>
              <a:buClr>
                <a:schemeClr val="dk1"/>
              </a:buClr>
              <a:buSzPts val="1200"/>
              <a:buFont typeface="Noto Sans Symbols"/>
              <a:buChar char="⮚"/>
            </a:pPr>
            <a:r>
              <a:rPr lang="en-US" sz="1600">
                <a:solidFill>
                  <a:schemeClr val="dk1"/>
                </a:solidFill>
              </a:rPr>
              <a:t>Some output devices are shown in Figure. A </a:t>
            </a:r>
            <a:r>
              <a:rPr lang="en-US" sz="1600" b="1" i="1">
                <a:solidFill>
                  <a:schemeClr val="dk1"/>
                </a:solidFill>
              </a:rPr>
              <a:t>braille display monitor</a:t>
            </a:r>
            <a:r>
              <a:rPr lang="en-US" sz="1600">
                <a:solidFill>
                  <a:schemeClr val="dk1"/>
                </a:solidFill>
              </a:rPr>
              <a:t> is useful for a visually challenged person to understand the textual output generated by computers.</a:t>
            </a:r>
            <a:endParaRPr/>
          </a:p>
          <a:p>
            <a:pPr marL="469265" marR="5080" lvl="0" indent="-457200" algn="just" rtl="0">
              <a:lnSpc>
                <a:spcPct val="100000"/>
              </a:lnSpc>
              <a:spcBef>
                <a:spcPts val="640"/>
              </a:spcBef>
              <a:spcAft>
                <a:spcPts val="0"/>
              </a:spcAft>
              <a:buClr>
                <a:schemeClr val="dk1"/>
              </a:buClr>
              <a:buSzPts val="1200"/>
              <a:buFont typeface="Noto Sans Symbols"/>
              <a:buChar char="⮚"/>
            </a:pPr>
            <a:r>
              <a:rPr lang="en-US" sz="1600">
                <a:solidFill>
                  <a:schemeClr val="dk1"/>
                </a:solidFill>
              </a:rPr>
              <a:t> A printer is the most commonly used device to get output in physical (hardcopy) form. Three types of commonly used printers are inkjet, laserjet and dot matrix.</a:t>
            </a:r>
            <a:endParaRPr/>
          </a:p>
          <a:p>
            <a:pPr marL="469265" marR="5080" lvl="0" indent="-457200" algn="just" rtl="0">
              <a:lnSpc>
                <a:spcPct val="100000"/>
              </a:lnSpc>
              <a:spcBef>
                <a:spcPts val="640"/>
              </a:spcBef>
              <a:spcAft>
                <a:spcPts val="0"/>
              </a:spcAft>
              <a:buClr>
                <a:schemeClr val="dk1"/>
              </a:buClr>
              <a:buSzPts val="1200"/>
              <a:buFont typeface="Noto Sans Symbols"/>
              <a:buChar char="⮚"/>
            </a:pPr>
            <a:r>
              <a:rPr lang="en-US" sz="1600">
                <a:solidFill>
                  <a:schemeClr val="dk1"/>
                </a:solidFill>
              </a:rPr>
              <a:t> Now-a-days, there is a new type of printer called </a:t>
            </a:r>
            <a:r>
              <a:rPr lang="en-US" sz="1600" b="1" i="1">
                <a:solidFill>
                  <a:schemeClr val="dk1"/>
                </a:solidFill>
              </a:rPr>
              <a:t>3D-printer</a:t>
            </a:r>
            <a:r>
              <a:rPr lang="en-US" sz="1600">
                <a:solidFill>
                  <a:schemeClr val="dk1"/>
                </a:solidFill>
              </a:rPr>
              <a:t>, which is used to build physical replica of a digital 3D design. These printers are being used in manufacturing industries to create prototypes of products. Their usage is also being explored in the medical field, particularly for developing body organs.</a:t>
            </a:r>
            <a:endParaRPr sz="1600">
              <a:solidFill>
                <a:schemeClr val="dk1"/>
              </a:solidFill>
            </a:endParaRPr>
          </a:p>
          <a:p>
            <a:pPr marL="469265" marR="5080" lvl="0" indent="-381000" algn="just" rtl="0">
              <a:lnSpc>
                <a:spcPct val="100000"/>
              </a:lnSpc>
              <a:spcBef>
                <a:spcPts val="640"/>
              </a:spcBef>
              <a:spcAft>
                <a:spcPts val="0"/>
              </a:spcAft>
              <a:buClr>
                <a:schemeClr val="dk1"/>
              </a:buClr>
              <a:buSzPts val="1200"/>
              <a:buFont typeface="Noto Sans Symbols"/>
              <a:buNone/>
            </a:pPr>
            <a:endParaRPr sz="1600">
              <a:solidFill>
                <a:schemeClr val="dk1"/>
              </a:solidFill>
            </a:endParaRPr>
          </a:p>
          <a:p>
            <a:pPr marL="469265" marR="5080" lvl="0" indent="-381000" algn="just" rtl="0">
              <a:lnSpc>
                <a:spcPct val="100000"/>
              </a:lnSpc>
              <a:spcBef>
                <a:spcPts val="640"/>
              </a:spcBef>
              <a:spcAft>
                <a:spcPts val="0"/>
              </a:spcAft>
              <a:buClr>
                <a:schemeClr val="dk1"/>
              </a:buClr>
              <a:buSzPts val="1200"/>
              <a:buFont typeface="Noto Sans Symbols"/>
              <a:buNone/>
            </a:pPr>
            <a:endParaRPr sz="1600">
              <a:solidFill>
                <a:schemeClr val="dk1"/>
              </a:solidFill>
            </a:endParaRPr>
          </a:p>
          <a:p>
            <a:pPr marL="469265" marR="5080" lvl="0" indent="-381000" algn="just" rtl="0">
              <a:lnSpc>
                <a:spcPct val="100000"/>
              </a:lnSpc>
              <a:spcBef>
                <a:spcPts val="640"/>
              </a:spcBef>
              <a:spcAft>
                <a:spcPts val="0"/>
              </a:spcAft>
              <a:buClr>
                <a:schemeClr val="dk1"/>
              </a:buClr>
              <a:buSzPts val="1200"/>
              <a:buFont typeface="Noto Sans Symbols"/>
              <a:buNone/>
            </a:pPr>
            <a:endParaRPr sz="1600">
              <a:solidFill>
                <a:schemeClr val="dk1"/>
              </a:solidFill>
            </a:endParaRPr>
          </a:p>
          <a:p>
            <a:pPr marL="482600" lvl="0" indent="-254000" algn="just" rtl="0">
              <a:lnSpc>
                <a:spcPct val="100000"/>
              </a:lnSpc>
              <a:spcBef>
                <a:spcPts val="640"/>
              </a:spcBef>
              <a:spcAft>
                <a:spcPts val="0"/>
              </a:spcAft>
              <a:buSzPts val="3200"/>
              <a:buFont typeface="Noto Sans Symbols"/>
              <a:buNone/>
            </a:pPr>
            <a:endParaRPr sz="1600">
              <a:solidFill>
                <a:schemeClr val="dk1"/>
              </a:solidFill>
              <a:latin typeface="Times New Roman"/>
              <a:ea typeface="Times New Roman"/>
              <a:cs typeface="Times New Roman"/>
              <a:sym typeface="Times New Roman"/>
            </a:endParaRPr>
          </a:p>
        </p:txBody>
      </p:sp>
      <p:grpSp>
        <p:nvGrpSpPr>
          <p:cNvPr id="303" name="Google Shape;303;p50"/>
          <p:cNvGrpSpPr/>
          <p:nvPr/>
        </p:nvGrpSpPr>
        <p:grpSpPr>
          <a:xfrm>
            <a:off x="403123" y="1066800"/>
            <a:ext cx="2733367" cy="4881716"/>
            <a:chOff x="6350" y="6350"/>
            <a:chExt cx="1675130" cy="3147695"/>
          </a:xfrm>
        </p:grpSpPr>
        <p:pic>
          <p:nvPicPr>
            <p:cNvPr id="304" name="Google Shape;304;p50"/>
            <p:cNvPicPr preferRelativeResize="0"/>
            <p:nvPr/>
          </p:nvPicPr>
          <p:blipFill rotWithShape="1">
            <a:blip r:embed="rId3">
              <a:alphaModFix/>
            </a:blip>
            <a:srcRect/>
            <a:stretch/>
          </p:blipFill>
          <p:spPr>
            <a:xfrm>
              <a:off x="619201" y="938149"/>
              <a:ext cx="425713" cy="435140"/>
            </a:xfrm>
            <a:prstGeom prst="rect">
              <a:avLst/>
            </a:prstGeom>
            <a:noFill/>
            <a:ln w="19050" cap="flat" cmpd="sng">
              <a:solidFill>
                <a:schemeClr val="dk1"/>
              </a:solidFill>
              <a:prstDash val="solid"/>
              <a:round/>
              <a:headEnd type="none" w="sm" len="sm"/>
              <a:tailEnd type="none" w="sm" len="sm"/>
            </a:ln>
          </p:spPr>
        </p:pic>
        <p:sp>
          <p:nvSpPr>
            <p:cNvPr id="305" name="Google Shape;305;p50"/>
            <p:cNvSpPr/>
            <p:nvPr/>
          </p:nvSpPr>
          <p:spPr>
            <a:xfrm>
              <a:off x="573928" y="2485713"/>
              <a:ext cx="539750" cy="389255"/>
            </a:xfrm>
            <a:custGeom>
              <a:avLst/>
              <a:gdLst/>
              <a:ahLst/>
              <a:cxnLst/>
              <a:rect l="l" t="t" r="r" b="b"/>
              <a:pathLst>
                <a:path w="539750" h="389255" extrusionOk="0">
                  <a:moveTo>
                    <a:pt x="518541" y="0"/>
                  </a:moveTo>
                  <a:lnTo>
                    <a:pt x="21286" y="0"/>
                  </a:lnTo>
                  <a:lnTo>
                    <a:pt x="11247" y="1183"/>
                  </a:lnTo>
                  <a:lnTo>
                    <a:pt x="4715" y="4987"/>
                  </a:lnTo>
                  <a:lnTo>
                    <a:pt x="1139" y="11905"/>
                  </a:lnTo>
                  <a:lnTo>
                    <a:pt x="83" y="22110"/>
                  </a:lnTo>
                  <a:lnTo>
                    <a:pt x="0" y="366471"/>
                  </a:lnTo>
                  <a:lnTo>
                    <a:pt x="190" y="377226"/>
                  </a:lnTo>
                  <a:lnTo>
                    <a:pt x="267" y="381546"/>
                  </a:lnTo>
                  <a:lnTo>
                    <a:pt x="6006" y="387988"/>
                  </a:lnTo>
                  <a:lnTo>
                    <a:pt x="6381" y="387988"/>
                  </a:lnTo>
                  <a:lnTo>
                    <a:pt x="18492" y="389204"/>
                  </a:lnTo>
                  <a:lnTo>
                    <a:pt x="517195" y="389204"/>
                  </a:lnTo>
                  <a:lnTo>
                    <a:pt x="528142" y="387988"/>
                  </a:lnTo>
                  <a:lnTo>
                    <a:pt x="534793" y="384209"/>
                  </a:lnTo>
                  <a:lnTo>
                    <a:pt x="538378" y="377226"/>
                  </a:lnTo>
                  <a:lnTo>
                    <a:pt x="539446" y="366471"/>
                  </a:lnTo>
                  <a:lnTo>
                    <a:pt x="539445" y="354736"/>
                  </a:lnTo>
                  <a:lnTo>
                    <a:pt x="281154" y="354736"/>
                  </a:lnTo>
                  <a:lnTo>
                    <a:pt x="278143" y="354342"/>
                  </a:lnTo>
                  <a:lnTo>
                    <a:pt x="276086" y="354164"/>
                  </a:lnTo>
                  <a:lnTo>
                    <a:pt x="32843" y="354164"/>
                  </a:lnTo>
                  <a:lnTo>
                    <a:pt x="32843" y="35153"/>
                  </a:lnTo>
                  <a:lnTo>
                    <a:pt x="425362" y="35153"/>
                  </a:lnTo>
                  <a:lnTo>
                    <a:pt x="425362" y="34975"/>
                  </a:lnTo>
                  <a:lnTo>
                    <a:pt x="539421" y="34975"/>
                  </a:lnTo>
                  <a:lnTo>
                    <a:pt x="539420" y="22110"/>
                  </a:lnTo>
                  <a:lnTo>
                    <a:pt x="538334" y="11905"/>
                  </a:lnTo>
                  <a:lnTo>
                    <a:pt x="534763" y="4987"/>
                  </a:lnTo>
                  <a:lnTo>
                    <a:pt x="528308" y="1183"/>
                  </a:lnTo>
                  <a:lnTo>
                    <a:pt x="518541" y="0"/>
                  </a:lnTo>
                  <a:close/>
                </a:path>
                <a:path w="539750" h="389255" extrusionOk="0">
                  <a:moveTo>
                    <a:pt x="539421" y="34975"/>
                  </a:moveTo>
                  <a:lnTo>
                    <a:pt x="506565" y="34975"/>
                  </a:lnTo>
                  <a:lnTo>
                    <a:pt x="506692" y="37325"/>
                  </a:lnTo>
                  <a:lnTo>
                    <a:pt x="506908" y="39649"/>
                  </a:lnTo>
                  <a:lnTo>
                    <a:pt x="506972" y="352132"/>
                  </a:lnTo>
                  <a:lnTo>
                    <a:pt x="506635" y="354164"/>
                  </a:lnTo>
                  <a:lnTo>
                    <a:pt x="506540" y="354736"/>
                  </a:lnTo>
                  <a:lnTo>
                    <a:pt x="539445" y="354736"/>
                  </a:lnTo>
                  <a:lnTo>
                    <a:pt x="539421" y="34975"/>
                  </a:lnTo>
                  <a:close/>
                </a:path>
                <a:path w="539750" h="389255" extrusionOk="0">
                  <a:moveTo>
                    <a:pt x="454648" y="315099"/>
                  </a:moveTo>
                  <a:lnTo>
                    <a:pt x="84811" y="315099"/>
                  </a:lnTo>
                  <a:lnTo>
                    <a:pt x="84214" y="322592"/>
                  </a:lnTo>
                  <a:lnTo>
                    <a:pt x="263398" y="322592"/>
                  </a:lnTo>
                  <a:lnTo>
                    <a:pt x="263398" y="354164"/>
                  </a:lnTo>
                  <a:lnTo>
                    <a:pt x="276086" y="354164"/>
                  </a:lnTo>
                  <a:lnTo>
                    <a:pt x="276086" y="322986"/>
                  </a:lnTo>
                  <a:lnTo>
                    <a:pt x="454648" y="322986"/>
                  </a:lnTo>
                  <a:lnTo>
                    <a:pt x="454648" y="315099"/>
                  </a:lnTo>
                  <a:close/>
                </a:path>
                <a:path w="539750" h="389255" extrusionOk="0">
                  <a:moveTo>
                    <a:pt x="411379" y="60502"/>
                  </a:moveTo>
                  <a:lnTo>
                    <a:pt x="266332" y="60502"/>
                  </a:lnTo>
                  <a:lnTo>
                    <a:pt x="266332" y="88480"/>
                  </a:lnTo>
                  <a:lnTo>
                    <a:pt x="243891" y="88480"/>
                  </a:lnTo>
                  <a:lnTo>
                    <a:pt x="243891" y="171653"/>
                  </a:lnTo>
                  <a:lnTo>
                    <a:pt x="259347" y="172796"/>
                  </a:lnTo>
                  <a:lnTo>
                    <a:pt x="260025" y="179699"/>
                  </a:lnTo>
                  <a:lnTo>
                    <a:pt x="260463" y="187036"/>
                  </a:lnTo>
                  <a:lnTo>
                    <a:pt x="262985" y="192834"/>
                  </a:lnTo>
                  <a:lnTo>
                    <a:pt x="269914" y="195122"/>
                  </a:lnTo>
                  <a:lnTo>
                    <a:pt x="276318" y="192834"/>
                  </a:lnTo>
                  <a:lnTo>
                    <a:pt x="276589" y="192834"/>
                  </a:lnTo>
                  <a:lnTo>
                    <a:pt x="279058" y="187036"/>
                  </a:lnTo>
                  <a:lnTo>
                    <a:pt x="279492" y="179699"/>
                  </a:lnTo>
                  <a:lnTo>
                    <a:pt x="280065" y="172796"/>
                  </a:lnTo>
                  <a:lnTo>
                    <a:pt x="278167" y="172796"/>
                  </a:lnTo>
                  <a:lnTo>
                    <a:pt x="295568" y="171869"/>
                  </a:lnTo>
                  <a:lnTo>
                    <a:pt x="295568" y="88684"/>
                  </a:lnTo>
                  <a:lnTo>
                    <a:pt x="273381" y="88684"/>
                  </a:lnTo>
                  <a:lnTo>
                    <a:pt x="273381" y="82448"/>
                  </a:lnTo>
                  <a:lnTo>
                    <a:pt x="273076" y="76949"/>
                  </a:lnTo>
                  <a:lnTo>
                    <a:pt x="273736" y="70218"/>
                  </a:lnTo>
                  <a:lnTo>
                    <a:pt x="276619" y="68237"/>
                  </a:lnTo>
                  <a:lnTo>
                    <a:pt x="285557" y="68031"/>
                  </a:lnTo>
                  <a:lnTo>
                    <a:pt x="425362" y="68031"/>
                  </a:lnTo>
                  <a:lnTo>
                    <a:pt x="425362" y="60845"/>
                  </a:lnTo>
                  <a:lnTo>
                    <a:pt x="413182" y="60845"/>
                  </a:lnTo>
                  <a:lnTo>
                    <a:pt x="411379" y="60502"/>
                  </a:lnTo>
                  <a:close/>
                </a:path>
                <a:path w="539750" h="389255" extrusionOk="0">
                  <a:moveTo>
                    <a:pt x="425362" y="35153"/>
                  </a:moveTo>
                  <a:lnTo>
                    <a:pt x="418135" y="35153"/>
                  </a:lnTo>
                  <a:lnTo>
                    <a:pt x="418135" y="42595"/>
                  </a:lnTo>
                  <a:lnTo>
                    <a:pt x="418288" y="50037"/>
                  </a:lnTo>
                  <a:lnTo>
                    <a:pt x="417983" y="57480"/>
                  </a:lnTo>
                  <a:lnTo>
                    <a:pt x="417957" y="58521"/>
                  </a:lnTo>
                  <a:lnTo>
                    <a:pt x="416002" y="59931"/>
                  </a:lnTo>
                  <a:lnTo>
                    <a:pt x="413182" y="60845"/>
                  </a:lnTo>
                  <a:lnTo>
                    <a:pt x="425362" y="60845"/>
                  </a:lnTo>
                  <a:lnTo>
                    <a:pt x="425362" y="35153"/>
                  </a:lnTo>
                  <a:close/>
                </a:path>
              </a:pathLst>
            </a:custGeom>
            <a:solidFill>
              <a:srgbClr val="00A76B"/>
            </a:solidFill>
            <a:ln w="1905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pic>
          <p:nvPicPr>
            <p:cNvPr id="306" name="Google Shape;306;p50"/>
            <p:cNvPicPr preferRelativeResize="0"/>
            <p:nvPr/>
          </p:nvPicPr>
          <p:blipFill rotWithShape="1">
            <a:blip r:embed="rId4">
              <a:alphaModFix/>
            </a:blip>
            <a:srcRect/>
            <a:stretch/>
          </p:blipFill>
          <p:spPr>
            <a:xfrm>
              <a:off x="800096" y="2685897"/>
              <a:ext cx="98338" cy="108146"/>
            </a:xfrm>
            <a:prstGeom prst="rect">
              <a:avLst/>
            </a:prstGeom>
            <a:noFill/>
            <a:ln w="19050" cap="flat" cmpd="sng">
              <a:solidFill>
                <a:schemeClr val="dk1"/>
              </a:solidFill>
              <a:prstDash val="solid"/>
              <a:round/>
              <a:headEnd type="none" w="sm" len="sm"/>
              <a:tailEnd type="none" w="sm" len="sm"/>
            </a:ln>
          </p:spPr>
        </p:pic>
        <p:sp>
          <p:nvSpPr>
            <p:cNvPr id="307" name="Google Shape;307;p50"/>
            <p:cNvSpPr/>
            <p:nvPr/>
          </p:nvSpPr>
          <p:spPr>
            <a:xfrm>
              <a:off x="6350" y="6350"/>
              <a:ext cx="1675130" cy="3147695"/>
            </a:xfrm>
            <a:custGeom>
              <a:avLst/>
              <a:gdLst/>
              <a:ahLst/>
              <a:cxnLst/>
              <a:rect l="l" t="t" r="r" b="b"/>
              <a:pathLst>
                <a:path w="1675130" h="3147695" extrusionOk="0">
                  <a:moveTo>
                    <a:pt x="0" y="3147529"/>
                  </a:moveTo>
                  <a:lnTo>
                    <a:pt x="1674609" y="3147529"/>
                  </a:lnTo>
                  <a:lnTo>
                    <a:pt x="1674609" y="0"/>
                  </a:lnTo>
                  <a:lnTo>
                    <a:pt x="0" y="0"/>
                  </a:lnTo>
                  <a:lnTo>
                    <a:pt x="0" y="3147529"/>
                  </a:lnTo>
                  <a:close/>
                </a:path>
              </a:pathLst>
            </a:custGeom>
            <a:noFill/>
            <a:ln w="19050"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pic>
          <p:nvPicPr>
            <p:cNvPr id="308" name="Google Shape;308;p50"/>
            <p:cNvPicPr preferRelativeResize="0"/>
            <p:nvPr/>
          </p:nvPicPr>
          <p:blipFill rotWithShape="1">
            <a:blip r:embed="rId5">
              <a:alphaModFix/>
            </a:blip>
            <a:srcRect/>
            <a:stretch/>
          </p:blipFill>
          <p:spPr>
            <a:xfrm>
              <a:off x="600078" y="1707117"/>
              <a:ext cx="487173" cy="469836"/>
            </a:xfrm>
            <a:prstGeom prst="rect">
              <a:avLst/>
            </a:prstGeom>
            <a:noFill/>
            <a:ln w="19050" cap="flat" cmpd="sng">
              <a:solidFill>
                <a:schemeClr val="dk1"/>
              </a:solidFill>
              <a:prstDash val="solid"/>
              <a:round/>
              <a:headEnd type="none" w="sm" len="sm"/>
              <a:tailEnd type="none" w="sm" len="sm"/>
            </a:ln>
          </p:spPr>
        </p:pic>
        <p:pic>
          <p:nvPicPr>
            <p:cNvPr id="309" name="Google Shape;309;p50"/>
            <p:cNvPicPr preferRelativeResize="0"/>
            <p:nvPr/>
          </p:nvPicPr>
          <p:blipFill rotWithShape="1">
            <a:blip r:embed="rId6">
              <a:alphaModFix/>
            </a:blip>
            <a:srcRect/>
            <a:stretch/>
          </p:blipFill>
          <p:spPr>
            <a:xfrm>
              <a:off x="606032" y="178587"/>
              <a:ext cx="475258" cy="457196"/>
            </a:xfrm>
            <a:prstGeom prst="rect">
              <a:avLst/>
            </a:prstGeom>
            <a:noFill/>
            <a:ln w="19050" cap="flat" cmpd="sng">
              <a:solidFill>
                <a:schemeClr val="dk1"/>
              </a:solidFill>
              <a:prstDash val="solid"/>
              <a:round/>
              <a:headEnd type="none" w="sm" len="sm"/>
              <a:tailEnd type="none" w="sm" len="sm"/>
            </a:ln>
          </p:spPr>
        </p:pic>
        <p:sp>
          <p:nvSpPr>
            <p:cNvPr id="310" name="Google Shape;310;p50"/>
            <p:cNvSpPr txBox="1"/>
            <p:nvPr/>
          </p:nvSpPr>
          <p:spPr>
            <a:xfrm>
              <a:off x="12700" y="12700"/>
              <a:ext cx="1662430" cy="3141345"/>
            </a:xfrm>
            <a:prstGeom prst="rect">
              <a:avLst/>
            </a:prstGeom>
            <a:noFill/>
            <a:ln w="1905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665"/>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Display monitor</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ctr" rtl="0">
                <a:lnSpc>
                  <a:spcPct val="100000"/>
                </a:lnSpc>
                <a:spcBef>
                  <a:spcPts val="60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Speaker</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965"/>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Printer</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 </a:t>
              </a:r>
              <a:endParaRPr sz="16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231F20"/>
                  </a:solidFill>
                  <a:latin typeface="Cambria"/>
                  <a:ea typeface="Cambria"/>
                  <a:cs typeface="Cambria"/>
                  <a:sym typeface="Cambria"/>
                </a:rPr>
                <a:t>3D printer</a:t>
              </a:r>
              <a:endParaRPr sz="1600" b="0" i="0" u="none" strike="noStrike" cap="none">
                <a:solidFill>
                  <a:srgbClr val="000000"/>
                </a:solidFill>
                <a:latin typeface="Cambria"/>
                <a:ea typeface="Cambria"/>
                <a:cs typeface="Cambria"/>
                <a:sym typeface="Cambria"/>
              </a:endParaRPr>
            </a:p>
          </p:txBody>
        </p:sp>
      </p:grpSp>
      <p:sp>
        <p:nvSpPr>
          <p:cNvPr id="311" name="Google Shape;311;p50"/>
          <p:cNvSpPr txBox="1"/>
          <p:nvPr/>
        </p:nvSpPr>
        <p:spPr>
          <a:xfrm>
            <a:off x="479719" y="6103789"/>
            <a:ext cx="2733367" cy="338554"/>
          </a:xfrm>
          <a:prstGeom prst="rect">
            <a:avLst/>
          </a:prstGeom>
          <a:noFill/>
          <a:ln>
            <a:noFill/>
          </a:ln>
        </p:spPr>
        <p:txBody>
          <a:bodyPr spcFirstLastPara="1" wrap="square" lIns="91425" tIns="45700" rIns="91425" bIns="45700" anchor="t" anchorCtr="0">
            <a:spAutoFit/>
          </a:bodyPr>
          <a:lstStyle/>
          <a:p>
            <a:pPr marL="295275"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31F20"/>
                </a:solidFill>
                <a:latin typeface="Calibri"/>
                <a:ea typeface="Calibri"/>
                <a:cs typeface="Calibri"/>
                <a:sym typeface="Calibri"/>
              </a:rPr>
              <a:t>Fig. 1.10: Output devices</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1"/>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pic>
        <p:nvPicPr>
          <p:cNvPr id="317" name="Google Shape;317;p51"/>
          <p:cNvPicPr preferRelativeResize="0"/>
          <p:nvPr/>
        </p:nvPicPr>
        <p:blipFill rotWithShape="1">
          <a:blip r:embed="rId3">
            <a:alphaModFix/>
          </a:blip>
          <a:srcRect b="3750"/>
          <a:stretch/>
        </p:blipFill>
        <p:spPr>
          <a:xfrm>
            <a:off x="0" y="381000"/>
            <a:ext cx="9144000" cy="586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2"/>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381000" algn="just" rtl="0">
              <a:lnSpc>
                <a:spcPct val="100000"/>
              </a:lnSpc>
              <a:spcBef>
                <a:spcPts val="640"/>
              </a:spcBef>
              <a:spcAft>
                <a:spcPts val="0"/>
              </a:spcAft>
              <a:buClr>
                <a:schemeClr val="dk1"/>
              </a:buClr>
              <a:buSzPts val="1200"/>
              <a:buFont typeface="Noto Sans Symbols"/>
              <a:buNone/>
            </a:pPr>
            <a:endParaRPr/>
          </a:p>
          <a:p>
            <a:pPr marL="482600" lvl="0" indent="-254000" algn="just" rtl="0">
              <a:lnSpc>
                <a:spcPct val="100000"/>
              </a:lnSpc>
              <a:spcBef>
                <a:spcPts val="640"/>
              </a:spcBef>
              <a:spcAft>
                <a:spcPts val="0"/>
              </a:spcAft>
              <a:buSzPts val="3200"/>
              <a:buFont typeface="Noto Sans Symbols"/>
              <a:buNone/>
            </a:pPr>
            <a:endParaRPr sz="2000">
              <a:solidFill>
                <a:schemeClr val="dk1"/>
              </a:solidFill>
              <a:latin typeface="Times New Roman"/>
              <a:ea typeface="Times New Roman"/>
              <a:cs typeface="Times New Roman"/>
              <a:sym typeface="Times New Roman"/>
            </a:endParaRPr>
          </a:p>
        </p:txBody>
      </p:sp>
      <p:pic>
        <p:nvPicPr>
          <p:cNvPr id="323" name="Google Shape;323;p52"/>
          <p:cNvPicPr preferRelativeResize="0"/>
          <p:nvPr/>
        </p:nvPicPr>
        <p:blipFill rotWithShape="1">
          <a:blip r:embed="rId3">
            <a:alphaModFix/>
          </a:blip>
          <a:srcRect b="2894"/>
          <a:stretch/>
        </p:blipFill>
        <p:spPr>
          <a:xfrm>
            <a:off x="50800" y="859831"/>
            <a:ext cx="9045677" cy="5855929"/>
          </a:xfrm>
          <a:prstGeom prst="rect">
            <a:avLst/>
          </a:prstGeom>
          <a:noFill/>
          <a:ln>
            <a:noFill/>
          </a:ln>
        </p:spPr>
      </p:pic>
      <p:sp>
        <p:nvSpPr>
          <p:cNvPr id="324" name="Google Shape;324;p52"/>
          <p:cNvSpPr/>
          <p:nvPr/>
        </p:nvSpPr>
        <p:spPr>
          <a:xfrm>
            <a:off x="1986116" y="2529840"/>
            <a:ext cx="625004" cy="69088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5" name="Google Shape;325;p52"/>
          <p:cNvSpPr/>
          <p:nvPr/>
        </p:nvSpPr>
        <p:spPr>
          <a:xfrm>
            <a:off x="6536812" y="3968627"/>
            <a:ext cx="801330" cy="560439"/>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6" name="Google Shape;326;p52"/>
          <p:cNvSpPr/>
          <p:nvPr/>
        </p:nvSpPr>
        <p:spPr>
          <a:xfrm>
            <a:off x="6435212" y="2595060"/>
            <a:ext cx="801330" cy="560439"/>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7" name="Google Shape;327;p52"/>
          <p:cNvSpPr/>
          <p:nvPr/>
        </p:nvSpPr>
        <p:spPr>
          <a:xfrm>
            <a:off x="1986116" y="3968627"/>
            <a:ext cx="722673" cy="478912"/>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3"/>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Computer Registers</a:t>
            </a:r>
            <a:endParaRPr/>
          </a:p>
        </p:txBody>
      </p:sp>
      <p:graphicFrame>
        <p:nvGraphicFramePr>
          <p:cNvPr id="333" name="Google Shape;333;p53"/>
          <p:cNvGraphicFramePr/>
          <p:nvPr/>
        </p:nvGraphicFramePr>
        <p:xfrm>
          <a:off x="543559" y="1209041"/>
          <a:ext cx="8056875" cy="5109680"/>
        </p:xfrm>
        <a:graphic>
          <a:graphicData uri="http://schemas.openxmlformats.org/drawingml/2006/table">
            <a:tbl>
              <a:tblPr>
                <a:noFill/>
                <a:tableStyleId>{AC9043A2-BFE7-45F1-85D9-B2EE3EF69A1F}</a:tableStyleId>
              </a:tblPr>
              <a:tblGrid>
                <a:gridCol w="2685625">
                  <a:extLst>
                    <a:ext uri="{9D8B030D-6E8A-4147-A177-3AD203B41FA5}">
                      <a16:colId xmlns:a16="http://schemas.microsoft.com/office/drawing/2014/main" val="20000"/>
                    </a:ext>
                  </a:extLst>
                </a:gridCol>
                <a:gridCol w="1784775">
                  <a:extLst>
                    <a:ext uri="{9D8B030D-6E8A-4147-A177-3AD203B41FA5}">
                      <a16:colId xmlns:a16="http://schemas.microsoft.com/office/drawing/2014/main" val="20001"/>
                    </a:ext>
                  </a:extLst>
                </a:gridCol>
                <a:gridCol w="3586475">
                  <a:extLst>
                    <a:ext uri="{9D8B030D-6E8A-4147-A177-3AD203B41FA5}">
                      <a16:colId xmlns:a16="http://schemas.microsoft.com/office/drawing/2014/main" val="20002"/>
                    </a:ext>
                  </a:extLst>
                </a:gridCol>
              </a:tblGrid>
              <a:tr h="1479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libri"/>
                          <a:ea typeface="Calibri"/>
                          <a:cs typeface="Calibri"/>
                          <a:sym typeface="Calibri"/>
                        </a:rPr>
                        <a:t>Register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libri"/>
                          <a:ea typeface="Calibri"/>
                          <a:cs typeface="Calibri"/>
                          <a:sym typeface="Calibri"/>
                        </a:rPr>
                        <a:t>Full Name</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libri"/>
                          <a:ea typeface="Calibri"/>
                          <a:cs typeface="Calibri"/>
                          <a:sym typeface="Calibri"/>
                        </a:rPr>
                        <a:t>Function</a:t>
                      </a:r>
                      <a:endParaRPr/>
                    </a:p>
                  </a:txBody>
                  <a:tcPr marL="44375" marR="44375" marT="22175" marB="22175" anchor="ctr"/>
                </a:tc>
                <a:extLst>
                  <a:ext uri="{0D108BD9-81ED-4DB2-BD59-A6C34878D82A}">
                    <a16:rowId xmlns:a16="http://schemas.microsoft.com/office/drawing/2014/main" val="10000"/>
                  </a:ext>
                </a:extLst>
              </a:tr>
              <a:tr h="4585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General Purpose Registers (GPRs)</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Data Registers</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Store operands, variables, and intermediate results during calculations. Examples: R0, R1, R2, R3.</a:t>
                      </a:r>
                      <a:endParaRPr/>
                    </a:p>
                  </a:txBody>
                  <a:tcPr marL="44375" marR="44375" marT="22175" marB="22175" anchor="ctr"/>
                </a:tc>
                <a:extLst>
                  <a:ext uri="{0D108BD9-81ED-4DB2-BD59-A6C34878D82A}">
                    <a16:rowId xmlns:a16="http://schemas.microsoft.com/office/drawing/2014/main" val="10001"/>
                  </a:ext>
                </a:extLst>
              </a:tr>
              <a:tr h="4585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Accumulator (ACC)</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Accumulator Register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Holds one of the operands and stores the result of arithmetic and logic operations performed by the ALU.</a:t>
                      </a:r>
                      <a:endParaRPr/>
                    </a:p>
                  </a:txBody>
                  <a:tcPr marL="44375" marR="44375" marT="22175" marB="22175" anchor="ctr"/>
                </a:tc>
                <a:extLst>
                  <a:ext uri="{0D108BD9-81ED-4DB2-BD59-A6C34878D82A}">
                    <a16:rowId xmlns:a16="http://schemas.microsoft.com/office/drawing/2014/main" val="10002"/>
                  </a:ext>
                </a:extLst>
              </a:tr>
              <a:tr h="6655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Program Counter (PC)</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Program Counter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Stores the address of the next instruction to be fetched from memory. It automatically increments after each instruction unless modified by a branch or jump instruction.</a:t>
                      </a:r>
                      <a:endParaRPr/>
                    </a:p>
                  </a:txBody>
                  <a:tcPr marL="44375" marR="44375" marT="22175" marB="22175" anchor="ctr"/>
                </a:tc>
                <a:extLst>
                  <a:ext uri="{0D108BD9-81ED-4DB2-BD59-A6C34878D82A}">
                    <a16:rowId xmlns:a16="http://schemas.microsoft.com/office/drawing/2014/main" val="10003"/>
                  </a:ext>
                </a:extLst>
              </a:tr>
              <a:tr h="4585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Instruction Register (IR)</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Instruction Register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Holds the instruction currently being executed by the CPU after it has been fetched from memory.</a:t>
                      </a:r>
                      <a:endParaRPr/>
                    </a:p>
                  </a:txBody>
                  <a:tcPr marL="44375" marR="44375" marT="22175" marB="22175" anchor="ctr"/>
                </a:tc>
                <a:extLst>
                  <a:ext uri="{0D108BD9-81ED-4DB2-BD59-A6C34878D82A}">
                    <a16:rowId xmlns:a16="http://schemas.microsoft.com/office/drawing/2014/main" val="10004"/>
                  </a:ext>
                </a:extLst>
              </a:tr>
              <a:tr h="3549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Memory Address Register (MAR)</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Memory Address Register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Stores the address of the memory location that the CPU wants to read from or write to.</a:t>
                      </a:r>
                      <a:endParaRPr/>
                    </a:p>
                  </a:txBody>
                  <a:tcPr marL="44375" marR="44375" marT="22175" marB="22175" anchor="ctr"/>
                </a:tc>
                <a:extLst>
                  <a:ext uri="{0D108BD9-81ED-4DB2-BD59-A6C34878D82A}">
                    <a16:rowId xmlns:a16="http://schemas.microsoft.com/office/drawing/2014/main" val="10005"/>
                  </a:ext>
                </a:extLst>
              </a:tr>
              <a:tr h="4585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Status Register / Flag Register (SR/FLAGS)</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Status Register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Stores the status of the CPU after an operation, such as Zero, Carry, Sign/Negative, Overflow, and Parity flags.</a:t>
                      </a:r>
                      <a:endParaRPr/>
                    </a:p>
                  </a:txBody>
                  <a:tcPr marL="44375" marR="44375" marT="22175" marB="22175" anchor="ctr"/>
                </a:tc>
                <a:extLst>
                  <a:ext uri="{0D108BD9-81ED-4DB2-BD59-A6C34878D82A}">
                    <a16:rowId xmlns:a16="http://schemas.microsoft.com/office/drawing/2014/main" val="10006"/>
                  </a:ext>
                </a:extLst>
              </a:tr>
              <a:tr h="45852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Stack Pointer (SP)</a:t>
                      </a:r>
                      <a:endParaRPr sz="1400" u="none" strike="noStrike" cap="none">
                        <a:latin typeface="Calibri"/>
                        <a:ea typeface="Calibri"/>
                        <a:cs typeface="Calibri"/>
                        <a:sym typeface="Calibri"/>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Stack Pointer</a:t>
                      </a:r>
                      <a:endParaRPr/>
                    </a:p>
                  </a:txBody>
                  <a:tcPr marL="44375" marR="44375" marT="22175" marB="2217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Stores the address of the top of the stack. Used during function calls, interrupts, and local variable storage.</a:t>
                      </a:r>
                      <a:endParaRPr/>
                    </a:p>
                  </a:txBody>
                  <a:tcPr marL="44375" marR="44375" marT="22175" marB="22175" anchor="ctr"/>
                </a:tc>
                <a:extLst>
                  <a:ext uri="{0D108BD9-81ED-4DB2-BD59-A6C34878D82A}">
                    <a16:rowId xmlns:a16="http://schemas.microsoft.com/office/drawing/2014/main" val="10007"/>
                  </a:ext>
                </a:extLst>
              </a:tr>
            </a:tbl>
          </a:graphicData>
        </a:graphic>
      </p:graphicFrame>
      <p:sp>
        <p:nvSpPr>
          <p:cNvPr id="334" name="Google Shape;334;p53"/>
          <p:cNvSpPr txBox="1"/>
          <p:nvPr/>
        </p:nvSpPr>
        <p:spPr>
          <a:xfrm>
            <a:off x="335281" y="901264"/>
            <a:ext cx="4135120" cy="307777"/>
          </a:xfrm>
          <a:prstGeom prst="rect">
            <a:avLst/>
          </a:prstGeom>
          <a:noFill/>
          <a:ln>
            <a:noFill/>
          </a:ln>
        </p:spPr>
        <p:txBody>
          <a:bodyPr spcFirstLastPara="1" wrap="square" lIns="91425" tIns="45700" rIns="91425" bIns="45700" anchor="t" anchorCtr="0">
            <a:spAutoFit/>
          </a:bodyPr>
          <a:lstStyle/>
          <a:p>
            <a:pPr marL="7200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231F20"/>
                </a:solidFill>
                <a:latin typeface="Cambria"/>
                <a:ea typeface="Cambria"/>
                <a:cs typeface="Cambria"/>
                <a:sym typeface="Cambria"/>
              </a:rPr>
              <a:t>Table 1.1 Computer registers</a:t>
            </a:r>
            <a:endParaRPr sz="1400" b="0" i="0" u="none" strike="noStrike" cap="none">
              <a:solidFill>
                <a:srgbClr val="000000"/>
              </a:solidFill>
              <a:latin typeface="Cambria"/>
              <a:ea typeface="Cambria"/>
              <a:cs typeface="Cambria"/>
              <a:sym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cap="small"/>
              <a:t>Computer Memory</a:t>
            </a:r>
            <a:endParaRPr b="1"/>
          </a:p>
        </p:txBody>
      </p:sp>
      <p:sp>
        <p:nvSpPr>
          <p:cNvPr id="340" name="Google Shape;340;p54"/>
          <p:cNvSpPr txBox="1">
            <a:spLocks noGrp="1"/>
          </p:cNvSpPr>
          <p:nvPr>
            <p:ph type="subTitle" idx="1"/>
          </p:nvPr>
        </p:nvSpPr>
        <p:spPr>
          <a:xfrm>
            <a:off x="495300" y="760946"/>
            <a:ext cx="8153400" cy="3975122"/>
          </a:xfrm>
          <a:prstGeom prst="rect">
            <a:avLst/>
          </a:prstGeom>
          <a:noFill/>
          <a:ln>
            <a:noFill/>
          </a:ln>
        </p:spPr>
        <p:txBody>
          <a:bodyPr spcFirstLastPara="1" wrap="square" lIns="91425" tIns="45700" rIns="91425" bIns="45700" anchor="t" anchorCtr="0">
            <a:noAutofit/>
          </a:bodyPr>
          <a:lstStyle/>
          <a:p>
            <a:pPr marL="12065" marR="5080" lvl="0" indent="0" algn="just" rtl="0">
              <a:lnSpc>
                <a:spcPct val="150000"/>
              </a:lnSpc>
              <a:spcBef>
                <a:spcPts val="640"/>
              </a:spcBef>
              <a:spcAft>
                <a:spcPts val="0"/>
              </a:spcAft>
              <a:buClr>
                <a:schemeClr val="dk1"/>
              </a:buClr>
              <a:buSzPts val="1200"/>
              <a:buNone/>
            </a:pPr>
            <a:r>
              <a:rPr lang="en-US" sz="1600">
                <a:solidFill>
                  <a:schemeClr val="dk1"/>
                </a:solidFill>
              </a:rPr>
              <a:t>A computer system needs memory to store the data and instructions for processing. Whenever we talk about the ‘memory’ of a computer system, we usually talk about the </a:t>
            </a:r>
            <a:r>
              <a:rPr lang="en-US" sz="1600" b="1">
                <a:solidFill>
                  <a:schemeClr val="dk1"/>
                </a:solidFill>
              </a:rPr>
              <a:t>main or primary </a:t>
            </a:r>
            <a:r>
              <a:rPr lang="en-US" sz="1600">
                <a:solidFill>
                  <a:schemeClr val="dk1"/>
                </a:solidFill>
              </a:rPr>
              <a:t>memory. The </a:t>
            </a:r>
            <a:r>
              <a:rPr lang="en-US" sz="1600" b="1">
                <a:solidFill>
                  <a:schemeClr val="dk1"/>
                </a:solidFill>
              </a:rPr>
              <a:t>secondary memory </a:t>
            </a:r>
            <a:r>
              <a:rPr lang="en-US" sz="1600">
                <a:solidFill>
                  <a:schemeClr val="dk1"/>
                </a:solidFill>
              </a:rPr>
              <a:t>(also called storage device) is used to store data, instructions and results permanently for future use.</a:t>
            </a:r>
            <a:endParaRPr sz="1600">
              <a:solidFill>
                <a:schemeClr val="dk1"/>
              </a:solidFill>
            </a:endParaRPr>
          </a:p>
          <a:p>
            <a:pPr marL="469265" marR="5080" lvl="0" indent="-457200" algn="just" rtl="0">
              <a:lnSpc>
                <a:spcPct val="150000"/>
              </a:lnSpc>
              <a:spcBef>
                <a:spcPts val="640"/>
              </a:spcBef>
              <a:spcAft>
                <a:spcPts val="0"/>
              </a:spcAft>
              <a:buClr>
                <a:schemeClr val="dk1"/>
              </a:buClr>
              <a:buSzPts val="1200"/>
              <a:buFont typeface="Noto Sans Symbols"/>
              <a:buChar char="⮚"/>
            </a:pPr>
            <a:r>
              <a:rPr lang="en-US" sz="1600" b="1">
                <a:solidFill>
                  <a:schemeClr val="dk1"/>
                </a:solidFill>
              </a:rPr>
              <a:t>Units of Memory</a:t>
            </a:r>
            <a:endParaRPr sz="1600" b="1">
              <a:solidFill>
                <a:schemeClr val="dk1"/>
              </a:solidFill>
            </a:endParaRPr>
          </a:p>
          <a:p>
            <a:pPr marL="457200" lvl="0" indent="-431800" algn="just" rtl="0">
              <a:lnSpc>
                <a:spcPct val="150000"/>
              </a:lnSpc>
              <a:spcBef>
                <a:spcPts val="640"/>
              </a:spcBef>
              <a:spcAft>
                <a:spcPts val="0"/>
              </a:spcAft>
              <a:buSzPts val="3200"/>
              <a:buNone/>
            </a:pPr>
            <a:r>
              <a:rPr lang="en-US" sz="1600">
                <a:solidFill>
                  <a:schemeClr val="dk1"/>
                </a:solidFill>
              </a:rPr>
              <a:t>	A computer system uses binary numbers to store and process data. The binary digits 0 and 1, which are the basic units of memory, are called </a:t>
            </a:r>
            <a:r>
              <a:rPr lang="en-US" sz="1600" b="1" i="1">
                <a:solidFill>
                  <a:schemeClr val="dk1"/>
                </a:solidFill>
              </a:rPr>
              <a:t>bits</a:t>
            </a:r>
            <a:r>
              <a:rPr lang="en-US" sz="1600">
                <a:solidFill>
                  <a:schemeClr val="dk1"/>
                </a:solidFill>
              </a:rPr>
              <a:t>. Further, these bits are grouped together to form </a:t>
            </a:r>
            <a:r>
              <a:rPr lang="en-US" sz="1600" b="1" i="1">
                <a:solidFill>
                  <a:schemeClr val="dk1"/>
                </a:solidFill>
              </a:rPr>
              <a:t>words</a:t>
            </a:r>
            <a:r>
              <a:rPr lang="en-US" sz="1600">
                <a:solidFill>
                  <a:schemeClr val="dk1"/>
                </a:solidFill>
              </a:rPr>
              <a:t>. A 4-bit word is called a </a:t>
            </a:r>
            <a:r>
              <a:rPr lang="en-US" sz="1600" b="1" i="1">
                <a:solidFill>
                  <a:schemeClr val="dk1"/>
                </a:solidFill>
              </a:rPr>
              <a:t>Nibble</a:t>
            </a:r>
            <a:r>
              <a:rPr lang="en-US" sz="1600">
                <a:solidFill>
                  <a:schemeClr val="dk1"/>
                </a:solidFill>
              </a:rPr>
              <a:t>. Examples of nibble are 1001, 1010, 0010, etc. A two nibble word, i.e., 8-bit word is called a </a:t>
            </a:r>
            <a:r>
              <a:rPr lang="en-US" sz="1600" b="1" i="1">
                <a:solidFill>
                  <a:schemeClr val="dk1"/>
                </a:solidFill>
              </a:rPr>
              <a:t>byte</a:t>
            </a:r>
            <a:r>
              <a:rPr lang="en-US" sz="1600">
                <a:solidFill>
                  <a:schemeClr val="dk1"/>
                </a:solidFill>
              </a:rPr>
              <a:t>, for example, 01000110, 01111100, 10000001, etc. </a:t>
            </a:r>
            <a:endParaRPr sz="1600">
              <a:solidFill>
                <a:schemeClr val="dk1"/>
              </a:solidFill>
            </a:endParaRPr>
          </a:p>
          <a:p>
            <a:pPr marL="482600" lvl="0" indent="-254000" algn="just" rtl="0">
              <a:lnSpc>
                <a:spcPct val="150000"/>
              </a:lnSpc>
              <a:spcBef>
                <a:spcPts val="640"/>
              </a:spcBef>
              <a:spcAft>
                <a:spcPts val="0"/>
              </a:spcAft>
              <a:buSzPts val="3200"/>
              <a:buFont typeface="Noto Sans Symbols"/>
              <a:buNone/>
            </a:pPr>
            <a:endParaRPr sz="1600">
              <a:solidFill>
                <a:schemeClr val="dk1"/>
              </a:solidFill>
              <a:latin typeface="Times New Roman"/>
              <a:ea typeface="Times New Roman"/>
              <a:cs typeface="Times New Roman"/>
              <a:sym typeface="Times New Roman"/>
            </a:endParaRPr>
          </a:p>
        </p:txBody>
      </p:sp>
      <p:sp>
        <p:nvSpPr>
          <p:cNvPr id="341" name="Google Shape;341;p54"/>
          <p:cNvSpPr txBox="1"/>
          <p:nvPr/>
        </p:nvSpPr>
        <p:spPr>
          <a:xfrm>
            <a:off x="1189703" y="4736068"/>
            <a:ext cx="646593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231F20"/>
                </a:solidFill>
                <a:latin typeface="Cambria"/>
                <a:ea typeface="Cambria"/>
                <a:cs typeface="Cambria"/>
                <a:sym typeface="Cambria"/>
              </a:rPr>
              <a:t>Table 1.2 Measurement units for digital data</a:t>
            </a:r>
            <a:endParaRPr sz="1400" b="0" i="0" u="none" strike="noStrike" cap="none">
              <a:solidFill>
                <a:srgbClr val="000000"/>
              </a:solidFill>
              <a:latin typeface="Cambria"/>
              <a:ea typeface="Cambria"/>
              <a:cs typeface="Cambria"/>
              <a:sym typeface="Cambria"/>
            </a:endParaRPr>
          </a:p>
        </p:txBody>
      </p:sp>
      <p:graphicFrame>
        <p:nvGraphicFramePr>
          <p:cNvPr id="342" name="Google Shape;342;p54"/>
          <p:cNvGraphicFramePr/>
          <p:nvPr/>
        </p:nvGraphicFramePr>
        <p:xfrm>
          <a:off x="1189703" y="5043845"/>
          <a:ext cx="6961225" cy="1408175"/>
        </p:xfrm>
        <a:graphic>
          <a:graphicData uri="http://schemas.openxmlformats.org/drawingml/2006/table">
            <a:tbl>
              <a:tblPr>
                <a:noFill/>
                <a:tableStyleId>{199520CF-0242-41DD-9577-A889C43BBA71}</a:tableStyleId>
              </a:tblPr>
              <a:tblGrid>
                <a:gridCol w="1566300">
                  <a:extLst>
                    <a:ext uri="{9D8B030D-6E8A-4147-A177-3AD203B41FA5}">
                      <a16:colId xmlns:a16="http://schemas.microsoft.com/office/drawing/2014/main" val="20000"/>
                    </a:ext>
                  </a:extLst>
                </a:gridCol>
                <a:gridCol w="2024500">
                  <a:extLst>
                    <a:ext uri="{9D8B030D-6E8A-4147-A177-3AD203B41FA5}">
                      <a16:colId xmlns:a16="http://schemas.microsoft.com/office/drawing/2014/main" val="20001"/>
                    </a:ext>
                  </a:extLst>
                </a:gridCol>
                <a:gridCol w="1532475">
                  <a:extLst>
                    <a:ext uri="{9D8B030D-6E8A-4147-A177-3AD203B41FA5}">
                      <a16:colId xmlns:a16="http://schemas.microsoft.com/office/drawing/2014/main" val="20002"/>
                    </a:ext>
                  </a:extLst>
                </a:gridCol>
                <a:gridCol w="1837950">
                  <a:extLst>
                    <a:ext uri="{9D8B030D-6E8A-4147-A177-3AD203B41FA5}">
                      <a16:colId xmlns:a16="http://schemas.microsoft.com/office/drawing/2014/main" val="20003"/>
                    </a:ext>
                  </a:extLst>
                </a:gridCol>
              </a:tblGrid>
              <a:tr h="323075">
                <a:tc>
                  <a:txBody>
                    <a:bodyPr/>
                    <a:lstStyle/>
                    <a:p>
                      <a:pPr marL="635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FFFFFF"/>
                          </a:solidFill>
                          <a:latin typeface="Cambria"/>
                          <a:ea typeface="Cambria"/>
                          <a:cs typeface="Cambria"/>
                          <a:sym typeface="Cambria"/>
                        </a:rPr>
                        <a:t>Unit</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B385"/>
                    </a:solidFill>
                  </a:tcPr>
                </a:tc>
                <a:tc>
                  <a:txBody>
                    <a:bodyPr/>
                    <a:lstStyle/>
                    <a:p>
                      <a:pPr marL="26225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FFFFFF"/>
                          </a:solidFill>
                          <a:latin typeface="Cambria"/>
                          <a:ea typeface="Cambria"/>
                          <a:cs typeface="Cambria"/>
                          <a:sym typeface="Cambria"/>
                        </a:rPr>
                        <a:t>Description</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B385"/>
                    </a:solidFill>
                  </a:tcPr>
                </a:tc>
                <a:tc>
                  <a:txBody>
                    <a:bodyPr/>
                    <a:lstStyle/>
                    <a:p>
                      <a:pPr marL="635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FFFFFF"/>
                          </a:solidFill>
                          <a:latin typeface="Cambria"/>
                          <a:ea typeface="Cambria"/>
                          <a:cs typeface="Cambria"/>
                          <a:sym typeface="Cambria"/>
                        </a:rPr>
                        <a:t>Unit</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B385"/>
                    </a:solidFill>
                  </a:tcPr>
                </a:tc>
                <a:tc>
                  <a:txBody>
                    <a:bodyPr/>
                    <a:lstStyle/>
                    <a:p>
                      <a:pPr marL="20510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FFFFFF"/>
                          </a:solidFill>
                          <a:latin typeface="Cambria"/>
                          <a:ea typeface="Cambria"/>
                          <a:cs typeface="Cambria"/>
                          <a:sym typeface="Cambria"/>
                        </a:rPr>
                        <a:t>Description</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B385"/>
                    </a:solidFill>
                  </a:tcPr>
                </a:tc>
                <a:extLst>
                  <a:ext uri="{0D108BD9-81ED-4DB2-BD59-A6C34878D82A}">
                    <a16:rowId xmlns:a16="http://schemas.microsoft.com/office/drawing/2014/main" val="10000"/>
                  </a:ext>
                </a:extLst>
              </a:tr>
              <a:tr h="271275">
                <a:tc>
                  <a:txBody>
                    <a:bodyPr/>
                    <a:lstStyle/>
                    <a:p>
                      <a:pPr marL="5651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KB (Kilobyte)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tc>
                  <a:txBody>
                    <a:bodyPr/>
                    <a:lstStyle/>
                    <a:p>
                      <a:pPr marL="57150"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KB = 1024 Bytes</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tc>
                  <a:txBody>
                    <a:bodyPr/>
                    <a:lstStyle/>
                    <a:p>
                      <a:pPr marL="17145" marR="6604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PB (Petabyte)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tc>
                  <a:txBody>
                    <a:bodyPr/>
                    <a:lstStyle/>
                    <a:p>
                      <a:pPr marL="5778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PB = 1024 TB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extLst>
                  <a:ext uri="{0D108BD9-81ED-4DB2-BD59-A6C34878D82A}">
                    <a16:rowId xmlns:a16="http://schemas.microsoft.com/office/drawing/2014/main" val="10001"/>
                  </a:ext>
                </a:extLst>
              </a:tr>
              <a:tr h="271275">
                <a:tc>
                  <a:txBody>
                    <a:bodyPr/>
                    <a:lstStyle/>
                    <a:p>
                      <a:pPr marL="5651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MB (Megabyte)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tc>
                  <a:txBody>
                    <a:bodyPr/>
                    <a:lstStyle/>
                    <a:p>
                      <a:pPr marL="5651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MB = 1024 KB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tc>
                  <a:txBody>
                    <a:bodyPr/>
                    <a:lstStyle/>
                    <a:p>
                      <a:pPr marL="6350" marR="7239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EB (Exabyte)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tc>
                  <a:txBody>
                    <a:bodyPr/>
                    <a:lstStyle/>
                    <a:p>
                      <a:pPr marL="5778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EB = 1024 PB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extLst>
                  <a:ext uri="{0D108BD9-81ED-4DB2-BD59-A6C34878D82A}">
                    <a16:rowId xmlns:a16="http://schemas.microsoft.com/office/drawing/2014/main" val="10002"/>
                  </a:ext>
                </a:extLst>
              </a:tr>
              <a:tr h="271275">
                <a:tc>
                  <a:txBody>
                    <a:bodyPr/>
                    <a:lstStyle/>
                    <a:p>
                      <a:pPr marL="5651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GB (Gigabyte)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tc>
                  <a:txBody>
                    <a:bodyPr/>
                    <a:lstStyle/>
                    <a:p>
                      <a:pPr marL="57150"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GB = 1024 MB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tc>
                  <a:txBody>
                    <a:bodyPr/>
                    <a:lstStyle/>
                    <a:p>
                      <a:pPr marL="6350" marR="635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ZB (Zettabyte)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tc>
                  <a:txBody>
                    <a:bodyPr/>
                    <a:lstStyle/>
                    <a:p>
                      <a:pPr marL="5778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ZB = 1024 EB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BE8DA"/>
                    </a:solidFill>
                  </a:tcPr>
                </a:tc>
                <a:extLst>
                  <a:ext uri="{0D108BD9-81ED-4DB2-BD59-A6C34878D82A}">
                    <a16:rowId xmlns:a16="http://schemas.microsoft.com/office/drawing/2014/main" val="10003"/>
                  </a:ext>
                </a:extLst>
              </a:tr>
              <a:tr h="271275">
                <a:tc>
                  <a:txBody>
                    <a:bodyPr/>
                    <a:lstStyle/>
                    <a:p>
                      <a:pPr marL="56515"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TB (Terabyte)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tc>
                  <a:txBody>
                    <a:bodyPr/>
                    <a:lstStyle/>
                    <a:p>
                      <a:pPr marL="57150"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TB = 1024 GB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tc>
                  <a:txBody>
                    <a:bodyPr/>
                    <a:lstStyle/>
                    <a:p>
                      <a:pPr marL="6350" marR="127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YB (Yottabyte)</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tc>
                  <a:txBody>
                    <a:bodyPr/>
                    <a:lstStyle/>
                    <a:p>
                      <a:pPr marL="58420" marR="0" lvl="0" indent="0" algn="l" rtl="0">
                        <a:lnSpc>
                          <a:spcPct val="100000"/>
                        </a:lnSpc>
                        <a:spcBef>
                          <a:spcPts val="0"/>
                        </a:spcBef>
                        <a:spcAft>
                          <a:spcPts val="0"/>
                        </a:spcAft>
                        <a:buClr>
                          <a:srgbClr val="000000"/>
                        </a:buClr>
                        <a:buSzPts val="1200"/>
                        <a:buFont typeface="Arial"/>
                        <a:buNone/>
                      </a:pPr>
                      <a:r>
                        <a:rPr lang="en-US" sz="1200" b="0" u="none" strike="noStrike" cap="none">
                          <a:solidFill>
                            <a:srgbClr val="231F20"/>
                          </a:solidFill>
                          <a:latin typeface="Cambria"/>
                          <a:ea typeface="Cambria"/>
                          <a:cs typeface="Cambria"/>
                          <a:sym typeface="Cambria"/>
                        </a:rPr>
                        <a:t>1 YB = 1024 ZB</a:t>
                      </a:r>
                      <a:endParaRPr sz="1800" b="0" u="none" strike="noStrike" cap="none">
                        <a:latin typeface="Cambria"/>
                        <a:ea typeface="Cambria"/>
                        <a:cs typeface="Cambria"/>
                        <a:sym typeface="Cambria"/>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3F2E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5"/>
          <p:cNvSpPr txBox="1">
            <a:spLocks noGrp="1"/>
          </p:cNvSpPr>
          <p:nvPr>
            <p:ph type="ctrTitle"/>
          </p:nvPr>
        </p:nvSpPr>
        <p:spPr>
          <a:xfrm>
            <a:off x="0" y="0"/>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Primary Memory</a:t>
            </a:r>
            <a:endParaRPr b="1"/>
          </a:p>
        </p:txBody>
      </p:sp>
      <p:sp>
        <p:nvSpPr>
          <p:cNvPr id="348" name="Google Shape;348;p55"/>
          <p:cNvSpPr/>
          <p:nvPr/>
        </p:nvSpPr>
        <p:spPr>
          <a:xfrm>
            <a:off x="583667" y="838330"/>
            <a:ext cx="7976663" cy="4116768"/>
          </a:xfrm>
          <a:prstGeom prst="rect">
            <a:avLst/>
          </a:prstGeom>
          <a:noFill/>
          <a:ln>
            <a:noFill/>
          </a:ln>
        </p:spPr>
        <p:txBody>
          <a:bodyPr spcFirstLastPara="1" wrap="square" lIns="91425" tIns="45700" rIns="91425" bIns="45700" anchor="ctr" anchorCtr="0">
            <a:spAutoFit/>
          </a:bodyPr>
          <a:lstStyle/>
          <a:p>
            <a:pPr marL="0" marR="0" lvl="0" indent="228600" algn="just" rtl="0">
              <a:lnSpc>
                <a:spcPct val="150000"/>
              </a:lnSpc>
              <a:spcBef>
                <a:spcPts val="0"/>
              </a:spcBef>
              <a:spcAft>
                <a:spcPts val="0"/>
              </a:spcAft>
              <a:buClr>
                <a:schemeClr val="dk1"/>
              </a:buClr>
              <a:buSzPts val="1600"/>
              <a:buFont typeface="Arial"/>
              <a:buNone/>
            </a:pPr>
            <a:r>
              <a:rPr lang="en-US" sz="1600" b="0" i="0" u="none" strike="noStrike" cap="none">
                <a:solidFill>
                  <a:schemeClr val="dk1"/>
                </a:solidFill>
                <a:latin typeface="Calibri"/>
                <a:ea typeface="Calibri"/>
                <a:cs typeface="Calibri"/>
                <a:sym typeface="Calibri"/>
              </a:rPr>
              <a:t>Primary memory is an essential component of a computer system. Program and data are loaded into the primary memory before processing. The CPU interacts directly with the primary memory to perform read or write operation. It is of two types viz. (i) </a:t>
            </a:r>
            <a:r>
              <a:rPr lang="en-US" sz="1600" b="1" i="0" u="none" strike="noStrike" cap="none">
                <a:solidFill>
                  <a:schemeClr val="dk1"/>
                </a:solidFill>
                <a:latin typeface="Calibri"/>
                <a:ea typeface="Calibri"/>
                <a:cs typeface="Calibri"/>
                <a:sym typeface="Calibri"/>
              </a:rPr>
              <a:t>Random Access Memory (RAM) </a:t>
            </a:r>
            <a:r>
              <a:rPr lang="en-US" sz="1600" b="0" i="0" u="none" strike="noStrike" cap="none">
                <a:solidFill>
                  <a:schemeClr val="dk1"/>
                </a:solidFill>
                <a:latin typeface="Calibri"/>
                <a:ea typeface="Calibri"/>
                <a:cs typeface="Calibri"/>
                <a:sym typeface="Calibri"/>
              </a:rPr>
              <a:t>and (ii) </a:t>
            </a:r>
            <a:r>
              <a:rPr lang="en-US" sz="1600" b="1" i="0" u="none" strike="noStrike" cap="none">
                <a:solidFill>
                  <a:schemeClr val="dk1"/>
                </a:solidFill>
                <a:latin typeface="Calibri"/>
                <a:ea typeface="Calibri"/>
                <a:cs typeface="Calibri"/>
                <a:sym typeface="Calibri"/>
              </a:rPr>
              <a:t>Read Only Memory (ROM).</a:t>
            </a:r>
            <a:endParaRPr/>
          </a:p>
          <a:p>
            <a:pPr marL="285750" marR="0" lvl="0" indent="-285750" algn="just" rtl="0">
              <a:lnSpc>
                <a:spcPct val="150000"/>
              </a:lnSpc>
              <a:spcBef>
                <a:spcPts val="0"/>
              </a:spcBef>
              <a:spcAft>
                <a:spcPts val="0"/>
              </a:spcAft>
              <a:buClr>
                <a:schemeClr val="dk1"/>
              </a:buClr>
              <a:buSzPts val="1600"/>
              <a:buFont typeface="Noto Sans Symbols"/>
              <a:buChar char="⮚"/>
            </a:pPr>
            <a:r>
              <a:rPr lang="en-US" sz="1600" b="1" i="1" u="none" strike="noStrike" cap="none">
                <a:solidFill>
                  <a:schemeClr val="dk1"/>
                </a:solidFill>
                <a:latin typeface="Calibri"/>
                <a:ea typeface="Calibri"/>
                <a:cs typeface="Calibri"/>
                <a:sym typeface="Calibri"/>
              </a:rPr>
              <a:t>RAM</a:t>
            </a:r>
            <a:r>
              <a:rPr lang="en-US" sz="1600" b="0" i="0" u="none" strike="noStrike" cap="none">
                <a:solidFill>
                  <a:schemeClr val="dk1"/>
                </a:solidFill>
                <a:latin typeface="Calibri"/>
                <a:ea typeface="Calibri"/>
                <a:cs typeface="Calibri"/>
                <a:sym typeface="Calibri"/>
              </a:rPr>
              <a:t> is volatile, i.e., as long as the power is supplied to the computer, it retains the data in it. But as soon as the power supply is turned off, all the contents of RAM are wiped out. It is used to store data temporarily while the computer is working. Whenever the computer is started or a software application is launched, the required program and data are loaded into RAM for processing. RAM is usually referred to as main memory and it is faster than the secondary memory or storage devices.</a:t>
            </a:r>
            <a:endParaRPr/>
          </a:p>
          <a:p>
            <a:pPr marL="0" marR="0" lvl="0" indent="228600" algn="just" rtl="0">
              <a:lnSpc>
                <a:spcPct val="150000"/>
              </a:lnSpc>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grpSp>
        <p:nvGrpSpPr>
          <p:cNvPr id="349" name="Google Shape;349;p55"/>
          <p:cNvGrpSpPr/>
          <p:nvPr/>
        </p:nvGrpSpPr>
        <p:grpSpPr>
          <a:xfrm>
            <a:off x="789077" y="10224626"/>
            <a:ext cx="1546570" cy="394891"/>
            <a:chOff x="0" y="0"/>
            <a:chExt cx="1667510" cy="394891"/>
          </a:xfrm>
        </p:grpSpPr>
        <p:pic>
          <p:nvPicPr>
            <p:cNvPr id="350" name="Google Shape;350;p55"/>
            <p:cNvPicPr preferRelativeResize="0"/>
            <p:nvPr/>
          </p:nvPicPr>
          <p:blipFill rotWithShape="1">
            <a:blip r:embed="rId3">
              <a:alphaModFix/>
            </a:blip>
            <a:srcRect/>
            <a:stretch/>
          </p:blipFill>
          <p:spPr>
            <a:xfrm>
              <a:off x="0" y="292085"/>
              <a:ext cx="124485" cy="102806"/>
            </a:xfrm>
            <a:prstGeom prst="rect">
              <a:avLst/>
            </a:prstGeom>
            <a:noFill/>
            <a:ln>
              <a:noFill/>
            </a:ln>
          </p:spPr>
        </p:pic>
        <p:sp>
          <p:nvSpPr>
            <p:cNvPr id="351" name="Google Shape;351;p55"/>
            <p:cNvSpPr/>
            <p:nvPr/>
          </p:nvSpPr>
          <p:spPr>
            <a:xfrm>
              <a:off x="0" y="0"/>
              <a:ext cx="1667510" cy="347345"/>
            </a:xfrm>
            <a:custGeom>
              <a:avLst/>
              <a:gdLst/>
              <a:ahLst/>
              <a:cxnLst/>
              <a:rect l="l" t="t" r="r" b="b"/>
              <a:pathLst>
                <a:path w="1667510" h="347345" extrusionOk="0">
                  <a:moveTo>
                    <a:pt x="1537309" y="0"/>
                  </a:moveTo>
                  <a:lnTo>
                    <a:pt x="0" y="0"/>
                  </a:lnTo>
                  <a:lnTo>
                    <a:pt x="0" y="10706"/>
                  </a:lnTo>
                  <a:lnTo>
                    <a:pt x="0" y="347014"/>
                  </a:lnTo>
                  <a:lnTo>
                    <a:pt x="47175" y="319772"/>
                  </a:lnTo>
                  <a:lnTo>
                    <a:pt x="323390" y="310021"/>
                  </a:lnTo>
                  <a:lnTo>
                    <a:pt x="823861" y="306916"/>
                  </a:lnTo>
                  <a:lnTo>
                    <a:pt x="1315465" y="305270"/>
                  </a:lnTo>
                  <a:lnTo>
                    <a:pt x="1537309" y="304787"/>
                  </a:lnTo>
                  <a:lnTo>
                    <a:pt x="1667256" y="166154"/>
                  </a:lnTo>
                  <a:lnTo>
                    <a:pt x="1537309" y="0"/>
                  </a:lnTo>
                  <a:close/>
                </a:path>
              </a:pathLst>
            </a:custGeom>
            <a:solidFill>
              <a:srgbClr val="A97B50"/>
            </a:solidFill>
            <a:ln>
              <a:noFill/>
            </a:ln>
          </p:spPr>
          <p:txBody>
            <a:bodyPr spcFirstLastPara="1" wrap="square" lIns="0" tIns="0" rIns="0" bIns="0" anchor="t" anchorCtr="0">
              <a:noAutofit/>
            </a:bodyPr>
            <a:lstStyle/>
            <a:p>
              <a:pPr marL="0" marR="0" lvl="0" indent="0" algn="just" rtl="0">
                <a:lnSpc>
                  <a:spcPct val="15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grpSp>
      <p:sp>
        <p:nvSpPr>
          <p:cNvPr id="352" name="Google Shape;352;p55"/>
          <p:cNvSpPr/>
          <p:nvPr/>
        </p:nvSpPr>
        <p:spPr>
          <a:xfrm>
            <a:off x="583667" y="4440570"/>
            <a:ext cx="7813947" cy="1524007"/>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rgbClr val="231F20"/>
              </a:buClr>
              <a:buSzPts val="1600"/>
              <a:buFont typeface="Noto Sans Symbols"/>
              <a:buChar char="⮚"/>
            </a:pPr>
            <a:r>
              <a:rPr lang="en-US" sz="1600" b="1" i="1" u="none" strike="noStrike" cap="none">
                <a:solidFill>
                  <a:srgbClr val="231F20"/>
                </a:solidFill>
                <a:latin typeface="Calibri"/>
                <a:ea typeface="Calibri"/>
                <a:cs typeface="Calibri"/>
                <a:sym typeface="Calibri"/>
              </a:rPr>
              <a:t>ROM</a:t>
            </a:r>
            <a:r>
              <a:rPr lang="en-US" sz="1600" b="0" i="0" u="none" strike="noStrike" cap="none">
                <a:solidFill>
                  <a:srgbClr val="231F20"/>
                </a:solidFill>
                <a:latin typeface="Calibri"/>
                <a:ea typeface="Calibri"/>
                <a:cs typeface="Calibri"/>
                <a:sym typeface="Calibri"/>
              </a:rPr>
              <a:t> is non-volatile, which means its contents are not lost even when the power is turned off. It is used as a small but faster permanent storage for the contents which are rarely changed. For example, the startup program (boot loader) that loads the operating system into primary memory, is stored in ROM.</a:t>
            </a:r>
            <a:endParaRPr sz="1600" b="0" i="0" u="none" strike="noStrike" cap="none">
              <a:solidFill>
                <a:schemeClr val="dk1"/>
              </a:solidFill>
              <a:latin typeface="Calibri"/>
              <a:ea typeface="Calibri"/>
              <a:cs typeface="Calibri"/>
              <a:sym typeface="Calibri"/>
            </a:endParaRPr>
          </a:p>
        </p:txBody>
      </p:sp>
      <p:pic>
        <p:nvPicPr>
          <p:cNvPr id="353" name="Google Shape;353;p55"/>
          <p:cNvPicPr preferRelativeResize="0"/>
          <p:nvPr/>
        </p:nvPicPr>
        <p:blipFill rotWithShape="1">
          <a:blip r:embed="rId4">
            <a:alphaModFix/>
          </a:blip>
          <a:srcRect l="9300" b="7443"/>
          <a:stretch/>
        </p:blipFill>
        <p:spPr>
          <a:xfrm>
            <a:off x="6853084" y="5574279"/>
            <a:ext cx="1707246" cy="128372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6"/>
          <p:cNvSpPr txBox="1">
            <a:spLocks noGrp="1"/>
          </p:cNvSpPr>
          <p:nvPr>
            <p:ph type="ctrTitle"/>
          </p:nvPr>
        </p:nvSpPr>
        <p:spPr>
          <a:xfrm>
            <a:off x="-17576" y="683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solidFill>
                  <a:schemeClr val="dk1"/>
                </a:solidFill>
              </a:rPr>
              <a:t>Secondary Memory</a:t>
            </a:r>
            <a:endParaRPr b="1"/>
          </a:p>
        </p:txBody>
      </p:sp>
      <p:sp>
        <p:nvSpPr>
          <p:cNvPr id="359" name="Google Shape;359;p56"/>
          <p:cNvSpPr txBox="1">
            <a:spLocks noGrp="1"/>
          </p:cNvSpPr>
          <p:nvPr>
            <p:ph type="subTitle" idx="1"/>
          </p:nvPr>
        </p:nvSpPr>
        <p:spPr>
          <a:xfrm>
            <a:off x="2568517" y="1273492"/>
            <a:ext cx="6233296" cy="4724400"/>
          </a:xfrm>
          <a:prstGeom prst="rect">
            <a:avLst/>
          </a:prstGeom>
          <a:noFill/>
          <a:ln>
            <a:noFill/>
          </a:ln>
        </p:spPr>
        <p:txBody>
          <a:bodyPr spcFirstLastPara="1" wrap="square" lIns="91425" tIns="45700" rIns="91425" bIns="45700" anchor="t" anchorCtr="0">
            <a:noAutofit/>
          </a:bodyPr>
          <a:lstStyle/>
          <a:p>
            <a:pPr marL="25400" lvl="0" indent="0" algn="just" rtl="0">
              <a:lnSpc>
                <a:spcPct val="100000"/>
              </a:lnSpc>
              <a:spcBef>
                <a:spcPts val="640"/>
              </a:spcBef>
              <a:spcAft>
                <a:spcPts val="0"/>
              </a:spcAft>
              <a:buSzPts val="3200"/>
              <a:buNone/>
            </a:pPr>
            <a:r>
              <a:rPr lang="en-US" sz="1600">
                <a:solidFill>
                  <a:srgbClr val="FF0000"/>
                </a:solidFill>
              </a:rPr>
              <a:t>Primary memory has limited storage capacity and is either volatile (RAM) or read-only (ROM).</a:t>
            </a:r>
            <a:r>
              <a:rPr lang="en-US" sz="1600">
                <a:solidFill>
                  <a:schemeClr val="dk1"/>
                </a:solidFill>
              </a:rPr>
              <a:t> Thus, a computer system needs auxiliary or </a:t>
            </a:r>
            <a:r>
              <a:rPr lang="en-US" sz="1600" b="1" i="1">
                <a:solidFill>
                  <a:schemeClr val="dk1"/>
                </a:solidFill>
              </a:rPr>
              <a:t>secondary memory </a:t>
            </a:r>
            <a:r>
              <a:rPr lang="en-US" sz="1600">
                <a:solidFill>
                  <a:schemeClr val="dk1"/>
                </a:solidFill>
              </a:rPr>
              <a:t>to permanently store the data or instructions for future use.</a:t>
            </a:r>
            <a:endParaRPr/>
          </a:p>
          <a:p>
            <a:pPr marL="311150" lvl="0" indent="-285750" algn="just" rtl="0">
              <a:lnSpc>
                <a:spcPct val="100000"/>
              </a:lnSpc>
              <a:spcBef>
                <a:spcPts val="640"/>
              </a:spcBef>
              <a:spcAft>
                <a:spcPts val="0"/>
              </a:spcAft>
              <a:buSzPts val="3200"/>
              <a:buFont typeface="Noto Sans Symbols"/>
              <a:buChar char="▪"/>
            </a:pPr>
            <a:r>
              <a:rPr lang="en-US" sz="1600">
                <a:solidFill>
                  <a:schemeClr val="dk1"/>
                </a:solidFill>
              </a:rPr>
              <a:t>The secondary memory is non-volatile and has larger storage capacity than primary memory. </a:t>
            </a:r>
            <a:endParaRPr/>
          </a:p>
          <a:p>
            <a:pPr marL="311150" lvl="0" indent="-285750" algn="just" rtl="0">
              <a:lnSpc>
                <a:spcPct val="100000"/>
              </a:lnSpc>
              <a:spcBef>
                <a:spcPts val="640"/>
              </a:spcBef>
              <a:spcAft>
                <a:spcPts val="0"/>
              </a:spcAft>
              <a:buSzPts val="3200"/>
              <a:buFont typeface="Noto Sans Symbols"/>
              <a:buChar char="▪"/>
            </a:pPr>
            <a:r>
              <a:rPr lang="en-US" sz="1600">
                <a:solidFill>
                  <a:schemeClr val="dk1"/>
                </a:solidFill>
              </a:rPr>
              <a:t>It is slower and cheaper than the main memory. </a:t>
            </a:r>
            <a:endParaRPr/>
          </a:p>
          <a:p>
            <a:pPr marL="311150" lvl="0" indent="-285750" algn="just" rtl="0">
              <a:lnSpc>
                <a:spcPct val="100000"/>
              </a:lnSpc>
              <a:spcBef>
                <a:spcPts val="640"/>
              </a:spcBef>
              <a:spcAft>
                <a:spcPts val="0"/>
              </a:spcAft>
              <a:buSzPts val="3200"/>
              <a:buFont typeface="Noto Sans Symbols"/>
              <a:buChar char="▪"/>
            </a:pPr>
            <a:r>
              <a:rPr lang="en-US" sz="1600">
                <a:solidFill>
                  <a:schemeClr val="dk1"/>
                </a:solidFill>
              </a:rPr>
              <a:t>But, it cannot be accessed directly by the CPU. Contents of secondary storage need to be first brought into the main memory for the CPU to access. </a:t>
            </a:r>
            <a:endParaRPr/>
          </a:p>
          <a:p>
            <a:pPr marL="311150" lvl="0" indent="-285750" algn="just" rtl="0">
              <a:lnSpc>
                <a:spcPct val="100000"/>
              </a:lnSpc>
              <a:spcBef>
                <a:spcPts val="640"/>
              </a:spcBef>
              <a:spcAft>
                <a:spcPts val="0"/>
              </a:spcAft>
              <a:buSzPts val="3200"/>
              <a:buFont typeface="Noto Sans Symbols"/>
              <a:buChar char="▪"/>
            </a:pPr>
            <a:r>
              <a:rPr lang="en-US" sz="1600">
                <a:solidFill>
                  <a:schemeClr val="dk1"/>
                </a:solidFill>
              </a:rPr>
              <a:t>Examples of secondary memory devices include Hard Disk Drive (HDD), CD/ DVD, Memory Card, etc., as shown in Figure 1.7.</a:t>
            </a:r>
            <a:endParaRPr sz="1600">
              <a:solidFill>
                <a:schemeClr val="dk1"/>
              </a:solidFill>
            </a:endParaRPr>
          </a:p>
          <a:p>
            <a:pPr marL="92075" lvl="0" indent="-66675" algn="just" rtl="0">
              <a:lnSpc>
                <a:spcPct val="100000"/>
              </a:lnSpc>
              <a:spcBef>
                <a:spcPts val="640"/>
              </a:spcBef>
              <a:spcAft>
                <a:spcPts val="0"/>
              </a:spcAft>
              <a:buSzPts val="3200"/>
              <a:buNone/>
            </a:pPr>
            <a:r>
              <a:rPr lang="en-US" sz="1600">
                <a:solidFill>
                  <a:schemeClr val="dk1"/>
                </a:solidFill>
              </a:rPr>
              <a:t>However, these days, there are secondary storage devices like SSD which support very fast data transfer speed as compared to earlier HDDs. Also, data transfer between computers have become easier and simple due to the availability of small-sized and portable flash or pen drives.</a:t>
            </a:r>
            <a:endParaRPr sz="1600">
              <a:solidFill>
                <a:schemeClr val="dk1"/>
              </a:solidFill>
            </a:endParaRPr>
          </a:p>
          <a:p>
            <a:pPr marL="457200" lvl="0" indent="-431800" algn="just" rtl="0">
              <a:lnSpc>
                <a:spcPct val="100000"/>
              </a:lnSpc>
              <a:spcBef>
                <a:spcPts val="640"/>
              </a:spcBef>
              <a:spcAft>
                <a:spcPts val="0"/>
              </a:spcAft>
              <a:buSzPts val="3200"/>
              <a:buNone/>
            </a:pPr>
            <a:endParaRPr sz="1600" i="1">
              <a:solidFill>
                <a:schemeClr val="dk1"/>
              </a:solidFill>
            </a:endParaRPr>
          </a:p>
          <a:p>
            <a:pPr marL="482600" lvl="0" indent="-254000" algn="just" rtl="0">
              <a:lnSpc>
                <a:spcPct val="100000"/>
              </a:lnSpc>
              <a:spcBef>
                <a:spcPts val="640"/>
              </a:spcBef>
              <a:spcAft>
                <a:spcPts val="0"/>
              </a:spcAft>
              <a:buSzPts val="3200"/>
              <a:buFont typeface="Noto Sans Symbols"/>
              <a:buNone/>
            </a:pPr>
            <a:endParaRPr sz="1600">
              <a:solidFill>
                <a:schemeClr val="dk1"/>
              </a:solidFill>
              <a:latin typeface="Times New Roman"/>
              <a:ea typeface="Times New Roman"/>
              <a:cs typeface="Times New Roman"/>
              <a:sym typeface="Times New Roman"/>
            </a:endParaRPr>
          </a:p>
        </p:txBody>
      </p:sp>
      <p:grpSp>
        <p:nvGrpSpPr>
          <p:cNvPr id="360" name="Google Shape;360;p56"/>
          <p:cNvGrpSpPr/>
          <p:nvPr/>
        </p:nvGrpSpPr>
        <p:grpSpPr>
          <a:xfrm>
            <a:off x="533400" y="1371600"/>
            <a:ext cx="1963994" cy="4528185"/>
            <a:chOff x="0" y="0"/>
            <a:chExt cx="1663700" cy="4528185"/>
          </a:xfrm>
        </p:grpSpPr>
        <p:sp>
          <p:nvSpPr>
            <p:cNvPr id="361" name="Google Shape;361;p56"/>
            <p:cNvSpPr/>
            <p:nvPr/>
          </p:nvSpPr>
          <p:spPr>
            <a:xfrm>
              <a:off x="0" y="0"/>
              <a:ext cx="1663700" cy="4528185"/>
            </a:xfrm>
            <a:custGeom>
              <a:avLst/>
              <a:gdLst/>
              <a:ahLst/>
              <a:cxnLst/>
              <a:rect l="l" t="t" r="r" b="b"/>
              <a:pathLst>
                <a:path w="1663700" h="4528185" extrusionOk="0">
                  <a:moveTo>
                    <a:pt x="1651025" y="0"/>
                  </a:moveTo>
                  <a:lnTo>
                    <a:pt x="0" y="6807"/>
                  </a:lnTo>
                  <a:lnTo>
                    <a:pt x="0" y="4527867"/>
                  </a:lnTo>
                  <a:lnTo>
                    <a:pt x="1663446" y="4527867"/>
                  </a:lnTo>
                  <a:lnTo>
                    <a:pt x="1663446" y="4514392"/>
                  </a:lnTo>
                  <a:lnTo>
                    <a:pt x="12700" y="4514392"/>
                  </a:lnTo>
                  <a:lnTo>
                    <a:pt x="12700" y="20218"/>
                  </a:lnTo>
                  <a:lnTo>
                    <a:pt x="1651066" y="13538"/>
                  </a:lnTo>
                  <a:lnTo>
                    <a:pt x="1651025" y="0"/>
                  </a:lnTo>
                  <a:close/>
                </a:path>
                <a:path w="1663700" h="4528185" extrusionOk="0">
                  <a:moveTo>
                    <a:pt x="1651066" y="13538"/>
                  </a:moveTo>
                  <a:lnTo>
                    <a:pt x="1638376" y="13538"/>
                  </a:lnTo>
                  <a:lnTo>
                    <a:pt x="1651990" y="4514392"/>
                  </a:lnTo>
                  <a:lnTo>
                    <a:pt x="1663446" y="4514392"/>
                  </a:lnTo>
                  <a:lnTo>
                    <a:pt x="1663446" y="4098074"/>
                  </a:lnTo>
                  <a:lnTo>
                    <a:pt x="1651086" y="20218"/>
                  </a:lnTo>
                  <a:lnTo>
                    <a:pt x="1651066" y="1353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2" name="Google Shape;362;p56"/>
            <p:cNvSpPr/>
            <p:nvPr/>
          </p:nvSpPr>
          <p:spPr>
            <a:xfrm>
              <a:off x="180205" y="442083"/>
              <a:ext cx="473709" cy="330200"/>
            </a:xfrm>
            <a:custGeom>
              <a:avLst/>
              <a:gdLst/>
              <a:ahLst/>
              <a:cxnLst/>
              <a:rect l="l" t="t" r="r" b="b"/>
              <a:pathLst>
                <a:path w="473709" h="330200" extrusionOk="0">
                  <a:moveTo>
                    <a:pt x="370835" y="0"/>
                  </a:moveTo>
                  <a:lnTo>
                    <a:pt x="331341" y="8566"/>
                  </a:lnTo>
                  <a:lnTo>
                    <a:pt x="73253" y="159034"/>
                  </a:lnTo>
                  <a:lnTo>
                    <a:pt x="70599" y="179493"/>
                  </a:lnTo>
                  <a:lnTo>
                    <a:pt x="70916" y="186453"/>
                  </a:lnTo>
                  <a:lnTo>
                    <a:pt x="70104" y="187723"/>
                  </a:lnTo>
                  <a:lnTo>
                    <a:pt x="2184" y="226966"/>
                  </a:lnTo>
                  <a:lnTo>
                    <a:pt x="419" y="229938"/>
                  </a:lnTo>
                  <a:lnTo>
                    <a:pt x="12" y="237189"/>
                  </a:lnTo>
                  <a:lnTo>
                    <a:pt x="312" y="263665"/>
                  </a:lnTo>
                  <a:lnTo>
                    <a:pt x="0" y="276661"/>
                  </a:lnTo>
                  <a:lnTo>
                    <a:pt x="2628" y="280941"/>
                  </a:lnTo>
                  <a:lnTo>
                    <a:pt x="10769" y="284903"/>
                  </a:lnTo>
                  <a:lnTo>
                    <a:pt x="88176" y="329379"/>
                  </a:lnTo>
                  <a:lnTo>
                    <a:pt x="91211" y="329772"/>
                  </a:lnTo>
                  <a:lnTo>
                    <a:pt x="96685" y="328134"/>
                  </a:lnTo>
                  <a:lnTo>
                    <a:pt x="99796" y="326077"/>
                  </a:lnTo>
                  <a:lnTo>
                    <a:pt x="145801" y="299714"/>
                  </a:lnTo>
                  <a:lnTo>
                    <a:pt x="165277" y="288167"/>
                  </a:lnTo>
                  <a:lnTo>
                    <a:pt x="169138" y="287621"/>
                  </a:lnTo>
                  <a:lnTo>
                    <a:pt x="174625" y="291012"/>
                  </a:lnTo>
                  <a:lnTo>
                    <a:pt x="183169" y="294859"/>
                  </a:lnTo>
                  <a:lnTo>
                    <a:pt x="191787" y="296003"/>
                  </a:lnTo>
                  <a:lnTo>
                    <a:pt x="200412" y="294509"/>
                  </a:lnTo>
                  <a:lnTo>
                    <a:pt x="208978" y="290441"/>
                  </a:lnTo>
                  <a:lnTo>
                    <a:pt x="213728" y="287456"/>
                  </a:lnTo>
                  <a:lnTo>
                    <a:pt x="458355" y="144022"/>
                  </a:lnTo>
                  <a:lnTo>
                    <a:pt x="473646" y="86009"/>
                  </a:lnTo>
                  <a:lnTo>
                    <a:pt x="473125" y="86009"/>
                  </a:lnTo>
                  <a:lnTo>
                    <a:pt x="473036" y="55668"/>
                  </a:lnTo>
                  <a:lnTo>
                    <a:pt x="451053" y="23880"/>
                  </a:lnTo>
                  <a:lnTo>
                    <a:pt x="409103" y="4430"/>
                  </a:lnTo>
                  <a:lnTo>
                    <a:pt x="382282" y="320"/>
                  </a:lnTo>
                  <a:lnTo>
                    <a:pt x="37083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3" name="Google Shape;363;p56"/>
            <p:cNvSpPr/>
            <p:nvPr/>
          </p:nvSpPr>
          <p:spPr>
            <a:xfrm>
              <a:off x="180207" y="442080"/>
              <a:ext cx="473709" cy="330200"/>
            </a:xfrm>
            <a:custGeom>
              <a:avLst/>
              <a:gdLst/>
              <a:ahLst/>
              <a:cxnLst/>
              <a:rect l="l" t="t" r="r" b="b"/>
              <a:pathLst>
                <a:path w="473709" h="330200" extrusionOk="0">
                  <a:moveTo>
                    <a:pt x="370835" y="0"/>
                  </a:moveTo>
                  <a:lnTo>
                    <a:pt x="331346" y="8570"/>
                  </a:lnTo>
                  <a:lnTo>
                    <a:pt x="73240" y="159037"/>
                  </a:lnTo>
                  <a:lnTo>
                    <a:pt x="70738" y="163990"/>
                  </a:lnTo>
                  <a:lnTo>
                    <a:pt x="70802" y="183789"/>
                  </a:lnTo>
                  <a:lnTo>
                    <a:pt x="70929" y="186456"/>
                  </a:lnTo>
                  <a:lnTo>
                    <a:pt x="70091" y="187726"/>
                  </a:lnTo>
                  <a:lnTo>
                    <a:pt x="2184" y="226969"/>
                  </a:lnTo>
                  <a:lnTo>
                    <a:pt x="419" y="229941"/>
                  </a:lnTo>
                  <a:lnTo>
                    <a:pt x="289" y="232329"/>
                  </a:lnTo>
                  <a:lnTo>
                    <a:pt x="223" y="233548"/>
                  </a:lnTo>
                  <a:lnTo>
                    <a:pt x="109" y="273223"/>
                  </a:lnTo>
                  <a:lnTo>
                    <a:pt x="0" y="276664"/>
                  </a:lnTo>
                  <a:lnTo>
                    <a:pt x="2628" y="280944"/>
                  </a:lnTo>
                  <a:lnTo>
                    <a:pt x="8229" y="283687"/>
                  </a:lnTo>
                  <a:lnTo>
                    <a:pt x="10769" y="284894"/>
                  </a:lnTo>
                  <a:lnTo>
                    <a:pt x="13195" y="286316"/>
                  </a:lnTo>
                  <a:lnTo>
                    <a:pt x="88176" y="329369"/>
                  </a:lnTo>
                  <a:lnTo>
                    <a:pt x="91211" y="329776"/>
                  </a:lnTo>
                  <a:lnTo>
                    <a:pt x="93294" y="329179"/>
                  </a:lnTo>
                  <a:lnTo>
                    <a:pt x="96685" y="328137"/>
                  </a:lnTo>
                  <a:lnTo>
                    <a:pt x="99783" y="326080"/>
                  </a:lnTo>
                  <a:lnTo>
                    <a:pt x="108976" y="320848"/>
                  </a:lnTo>
                  <a:lnTo>
                    <a:pt x="91046" y="320848"/>
                  </a:lnTo>
                  <a:lnTo>
                    <a:pt x="89712" y="320238"/>
                  </a:lnTo>
                  <a:lnTo>
                    <a:pt x="88899" y="319959"/>
                  </a:lnTo>
                  <a:lnTo>
                    <a:pt x="9499" y="274200"/>
                  </a:lnTo>
                  <a:lnTo>
                    <a:pt x="8724" y="273223"/>
                  </a:lnTo>
                  <a:lnTo>
                    <a:pt x="8724" y="234183"/>
                  </a:lnTo>
                  <a:lnTo>
                    <a:pt x="9448" y="233243"/>
                  </a:lnTo>
                  <a:lnTo>
                    <a:pt x="11074" y="232329"/>
                  </a:lnTo>
                  <a:lnTo>
                    <a:pt x="87833" y="188044"/>
                  </a:lnTo>
                  <a:lnTo>
                    <a:pt x="89547" y="187078"/>
                  </a:lnTo>
                  <a:lnTo>
                    <a:pt x="90879" y="186456"/>
                  </a:lnTo>
                  <a:lnTo>
                    <a:pt x="103110" y="186456"/>
                  </a:lnTo>
                  <a:lnTo>
                    <a:pt x="83794" y="175217"/>
                  </a:lnTo>
                  <a:lnTo>
                    <a:pt x="82118" y="173566"/>
                  </a:lnTo>
                  <a:lnTo>
                    <a:pt x="80759" y="171623"/>
                  </a:lnTo>
                  <a:lnTo>
                    <a:pt x="172536" y="171623"/>
                  </a:lnTo>
                  <a:lnTo>
                    <a:pt x="173685" y="167152"/>
                  </a:lnTo>
                  <a:lnTo>
                    <a:pt x="175319" y="161183"/>
                  </a:lnTo>
                  <a:lnTo>
                    <a:pt x="175437" y="160751"/>
                  </a:lnTo>
                  <a:lnTo>
                    <a:pt x="177495" y="151480"/>
                  </a:lnTo>
                  <a:lnTo>
                    <a:pt x="178794" y="149880"/>
                  </a:lnTo>
                  <a:lnTo>
                    <a:pt x="179456" y="149474"/>
                  </a:lnTo>
                  <a:lnTo>
                    <a:pt x="181343" y="148458"/>
                  </a:lnTo>
                  <a:lnTo>
                    <a:pt x="185737" y="146159"/>
                  </a:lnTo>
                  <a:lnTo>
                    <a:pt x="189953" y="143556"/>
                  </a:lnTo>
                  <a:lnTo>
                    <a:pt x="194221" y="141117"/>
                  </a:lnTo>
                  <a:lnTo>
                    <a:pt x="191515" y="135428"/>
                  </a:lnTo>
                  <a:lnTo>
                    <a:pt x="193001" y="132519"/>
                  </a:lnTo>
                  <a:lnTo>
                    <a:pt x="204762" y="130881"/>
                  </a:lnTo>
                  <a:lnTo>
                    <a:pt x="249963" y="130881"/>
                  </a:lnTo>
                  <a:lnTo>
                    <a:pt x="251548" y="129967"/>
                  </a:lnTo>
                  <a:lnTo>
                    <a:pt x="242633" y="124531"/>
                  </a:lnTo>
                  <a:lnTo>
                    <a:pt x="242735" y="123883"/>
                  </a:lnTo>
                  <a:lnTo>
                    <a:pt x="272630" y="121356"/>
                  </a:lnTo>
                  <a:lnTo>
                    <a:pt x="385929" y="121356"/>
                  </a:lnTo>
                  <a:lnTo>
                    <a:pt x="433144" y="93713"/>
                  </a:lnTo>
                  <a:lnTo>
                    <a:pt x="462584" y="66670"/>
                  </a:lnTo>
                  <a:lnTo>
                    <a:pt x="473069" y="66670"/>
                  </a:lnTo>
                  <a:lnTo>
                    <a:pt x="457826" y="29456"/>
                  </a:lnTo>
                  <a:lnTo>
                    <a:pt x="423821" y="9047"/>
                  </a:lnTo>
                  <a:lnTo>
                    <a:pt x="382282" y="321"/>
                  </a:lnTo>
                  <a:lnTo>
                    <a:pt x="370835" y="0"/>
                  </a:lnTo>
                  <a:close/>
                </a:path>
                <a:path w="473709" h="330200" extrusionOk="0">
                  <a:moveTo>
                    <a:pt x="103110" y="186456"/>
                  </a:moveTo>
                  <a:lnTo>
                    <a:pt x="90928" y="186456"/>
                  </a:lnTo>
                  <a:lnTo>
                    <a:pt x="170256" y="232329"/>
                  </a:lnTo>
                  <a:lnTo>
                    <a:pt x="172084" y="233548"/>
                  </a:lnTo>
                  <a:lnTo>
                    <a:pt x="170383" y="234678"/>
                  </a:lnTo>
                  <a:lnTo>
                    <a:pt x="169163" y="235554"/>
                  </a:lnTo>
                  <a:lnTo>
                    <a:pt x="167881" y="236316"/>
                  </a:lnTo>
                  <a:lnTo>
                    <a:pt x="94360" y="278772"/>
                  </a:lnTo>
                  <a:lnTo>
                    <a:pt x="91871" y="280169"/>
                  </a:lnTo>
                  <a:lnTo>
                    <a:pt x="90931" y="281719"/>
                  </a:lnTo>
                  <a:lnTo>
                    <a:pt x="91046" y="320848"/>
                  </a:lnTo>
                  <a:lnTo>
                    <a:pt x="108976" y="320848"/>
                  </a:lnTo>
                  <a:lnTo>
                    <a:pt x="145800" y="299717"/>
                  </a:lnTo>
                  <a:lnTo>
                    <a:pt x="165277" y="288170"/>
                  </a:lnTo>
                  <a:lnTo>
                    <a:pt x="169138" y="287624"/>
                  </a:lnTo>
                  <a:lnTo>
                    <a:pt x="213465" y="287624"/>
                  </a:lnTo>
                  <a:lnTo>
                    <a:pt x="213728" y="287459"/>
                  </a:lnTo>
                  <a:lnTo>
                    <a:pt x="218617" y="284754"/>
                  </a:lnTo>
                  <a:lnTo>
                    <a:pt x="302104" y="235770"/>
                  </a:lnTo>
                  <a:lnTo>
                    <a:pt x="188264" y="235770"/>
                  </a:lnTo>
                  <a:lnTo>
                    <a:pt x="103110" y="186456"/>
                  </a:lnTo>
                  <a:close/>
                </a:path>
                <a:path w="473709" h="330200" extrusionOk="0">
                  <a:moveTo>
                    <a:pt x="213465" y="287624"/>
                  </a:moveTo>
                  <a:lnTo>
                    <a:pt x="169138" y="287624"/>
                  </a:lnTo>
                  <a:lnTo>
                    <a:pt x="174637" y="291015"/>
                  </a:lnTo>
                  <a:lnTo>
                    <a:pt x="183173" y="294862"/>
                  </a:lnTo>
                  <a:lnTo>
                    <a:pt x="191784" y="296006"/>
                  </a:lnTo>
                  <a:lnTo>
                    <a:pt x="200406" y="294512"/>
                  </a:lnTo>
                  <a:lnTo>
                    <a:pt x="208978" y="290444"/>
                  </a:lnTo>
                  <a:lnTo>
                    <a:pt x="213465" y="287624"/>
                  </a:lnTo>
                  <a:close/>
                </a:path>
                <a:path w="473709" h="330200" extrusionOk="0">
                  <a:moveTo>
                    <a:pt x="473069" y="66670"/>
                  </a:moveTo>
                  <a:lnTo>
                    <a:pt x="462584" y="66670"/>
                  </a:lnTo>
                  <a:lnTo>
                    <a:pt x="463473" y="67000"/>
                  </a:lnTo>
                  <a:lnTo>
                    <a:pt x="463029" y="68854"/>
                  </a:lnTo>
                  <a:lnTo>
                    <a:pt x="462826" y="70848"/>
                  </a:lnTo>
                  <a:lnTo>
                    <a:pt x="459435" y="78112"/>
                  </a:lnTo>
                  <a:lnTo>
                    <a:pt x="455460" y="82583"/>
                  </a:lnTo>
                  <a:lnTo>
                    <a:pt x="213512" y="223947"/>
                  </a:lnTo>
                  <a:lnTo>
                    <a:pt x="195884" y="235161"/>
                  </a:lnTo>
                  <a:lnTo>
                    <a:pt x="188264" y="235770"/>
                  </a:lnTo>
                  <a:lnTo>
                    <a:pt x="302104" y="235770"/>
                  </a:lnTo>
                  <a:lnTo>
                    <a:pt x="456762" y="145029"/>
                  </a:lnTo>
                  <a:lnTo>
                    <a:pt x="473646" y="86012"/>
                  </a:lnTo>
                  <a:lnTo>
                    <a:pt x="473125" y="86012"/>
                  </a:lnTo>
                  <a:lnTo>
                    <a:pt x="473069" y="66670"/>
                  </a:lnTo>
                  <a:close/>
                </a:path>
                <a:path w="473709" h="330200" extrusionOk="0">
                  <a:moveTo>
                    <a:pt x="172536" y="171623"/>
                  </a:moveTo>
                  <a:lnTo>
                    <a:pt x="80759" y="171623"/>
                  </a:lnTo>
                  <a:lnTo>
                    <a:pt x="177304" y="227642"/>
                  </a:lnTo>
                  <a:lnTo>
                    <a:pt x="178917" y="228392"/>
                  </a:lnTo>
                  <a:lnTo>
                    <a:pt x="180454" y="229204"/>
                  </a:lnTo>
                  <a:lnTo>
                    <a:pt x="188468" y="233548"/>
                  </a:lnTo>
                  <a:lnTo>
                    <a:pt x="187666" y="233548"/>
                  </a:lnTo>
                  <a:lnTo>
                    <a:pt x="195719" y="232621"/>
                  </a:lnTo>
                  <a:lnTo>
                    <a:pt x="262138" y="193721"/>
                  </a:lnTo>
                  <a:lnTo>
                    <a:pt x="165658" y="193721"/>
                  </a:lnTo>
                  <a:lnTo>
                    <a:pt x="154736" y="191523"/>
                  </a:lnTo>
                  <a:lnTo>
                    <a:pt x="148424" y="183789"/>
                  </a:lnTo>
                  <a:lnTo>
                    <a:pt x="148996" y="180805"/>
                  </a:lnTo>
                  <a:lnTo>
                    <a:pt x="156044" y="177401"/>
                  </a:lnTo>
                  <a:lnTo>
                    <a:pt x="171052" y="177401"/>
                  </a:lnTo>
                  <a:lnTo>
                    <a:pt x="172429" y="172042"/>
                  </a:lnTo>
                  <a:lnTo>
                    <a:pt x="172536" y="171623"/>
                  </a:lnTo>
                  <a:close/>
                </a:path>
                <a:path w="473709" h="330200" extrusionOk="0">
                  <a:moveTo>
                    <a:pt x="249059" y="158554"/>
                  </a:moveTo>
                  <a:lnTo>
                    <a:pt x="247012" y="158554"/>
                  </a:lnTo>
                  <a:lnTo>
                    <a:pt x="245084" y="160104"/>
                  </a:lnTo>
                  <a:lnTo>
                    <a:pt x="238395" y="164286"/>
                  </a:lnTo>
                  <a:lnTo>
                    <a:pt x="231227" y="166838"/>
                  </a:lnTo>
                  <a:lnTo>
                    <a:pt x="223694" y="168165"/>
                  </a:lnTo>
                  <a:lnTo>
                    <a:pt x="214171" y="168790"/>
                  </a:lnTo>
                  <a:lnTo>
                    <a:pt x="211975" y="168790"/>
                  </a:lnTo>
                  <a:lnTo>
                    <a:pt x="208064" y="169591"/>
                  </a:lnTo>
                  <a:lnTo>
                    <a:pt x="195636" y="169591"/>
                  </a:lnTo>
                  <a:lnTo>
                    <a:pt x="188988" y="172042"/>
                  </a:lnTo>
                  <a:lnTo>
                    <a:pt x="179285" y="178735"/>
                  </a:lnTo>
                  <a:lnTo>
                    <a:pt x="175844" y="180449"/>
                  </a:lnTo>
                  <a:lnTo>
                    <a:pt x="172313" y="182468"/>
                  </a:lnTo>
                  <a:lnTo>
                    <a:pt x="173304" y="184488"/>
                  </a:lnTo>
                  <a:lnTo>
                    <a:pt x="174467" y="187078"/>
                  </a:lnTo>
                  <a:lnTo>
                    <a:pt x="174536" y="187231"/>
                  </a:lnTo>
                  <a:lnTo>
                    <a:pt x="173936" y="188945"/>
                  </a:lnTo>
                  <a:lnTo>
                    <a:pt x="173824" y="189263"/>
                  </a:lnTo>
                  <a:lnTo>
                    <a:pt x="171145" y="190698"/>
                  </a:lnTo>
                  <a:lnTo>
                    <a:pt x="165658" y="193721"/>
                  </a:lnTo>
                  <a:lnTo>
                    <a:pt x="262138" y="193721"/>
                  </a:lnTo>
                  <a:lnTo>
                    <a:pt x="317778" y="161183"/>
                  </a:lnTo>
                  <a:lnTo>
                    <a:pt x="255041" y="161183"/>
                  </a:lnTo>
                  <a:lnTo>
                    <a:pt x="251373" y="160104"/>
                  </a:lnTo>
                  <a:lnTo>
                    <a:pt x="250087" y="159265"/>
                  </a:lnTo>
                  <a:lnTo>
                    <a:pt x="249059" y="158554"/>
                  </a:lnTo>
                  <a:close/>
                </a:path>
                <a:path w="473709" h="330200" extrusionOk="0">
                  <a:moveTo>
                    <a:pt x="170893" y="177401"/>
                  </a:moveTo>
                  <a:lnTo>
                    <a:pt x="156044" y="177401"/>
                  </a:lnTo>
                  <a:lnTo>
                    <a:pt x="159969" y="177706"/>
                  </a:lnTo>
                  <a:lnTo>
                    <a:pt x="167829" y="179497"/>
                  </a:lnTo>
                  <a:lnTo>
                    <a:pt x="167446" y="179497"/>
                  </a:lnTo>
                  <a:lnTo>
                    <a:pt x="170893" y="177401"/>
                  </a:lnTo>
                  <a:close/>
                </a:path>
                <a:path w="473709" h="330200" extrusionOk="0">
                  <a:moveTo>
                    <a:pt x="206903" y="145029"/>
                  </a:moveTo>
                  <a:lnTo>
                    <a:pt x="199529" y="145029"/>
                  </a:lnTo>
                  <a:lnTo>
                    <a:pt x="194436" y="147632"/>
                  </a:lnTo>
                  <a:lnTo>
                    <a:pt x="186982" y="152103"/>
                  </a:lnTo>
                  <a:lnTo>
                    <a:pt x="184988" y="153931"/>
                  </a:lnTo>
                  <a:lnTo>
                    <a:pt x="183700" y="158554"/>
                  </a:lnTo>
                  <a:lnTo>
                    <a:pt x="180581" y="170899"/>
                  </a:lnTo>
                  <a:lnTo>
                    <a:pt x="224817" y="145384"/>
                  </a:lnTo>
                  <a:lnTo>
                    <a:pt x="209448" y="145384"/>
                  </a:lnTo>
                  <a:lnTo>
                    <a:pt x="206903" y="145029"/>
                  </a:lnTo>
                  <a:close/>
                </a:path>
                <a:path w="473709" h="330200" extrusionOk="0">
                  <a:moveTo>
                    <a:pt x="256108" y="134208"/>
                  </a:moveTo>
                  <a:lnTo>
                    <a:pt x="204393" y="163990"/>
                  </a:lnTo>
                  <a:lnTo>
                    <a:pt x="203492" y="164917"/>
                  </a:lnTo>
                  <a:lnTo>
                    <a:pt x="207124" y="164917"/>
                  </a:lnTo>
                  <a:lnTo>
                    <a:pt x="210744" y="164638"/>
                  </a:lnTo>
                  <a:lnTo>
                    <a:pt x="213801" y="163990"/>
                  </a:lnTo>
                  <a:lnTo>
                    <a:pt x="227902" y="163990"/>
                  </a:lnTo>
                  <a:lnTo>
                    <a:pt x="233736" y="160104"/>
                  </a:lnTo>
                  <a:lnTo>
                    <a:pt x="240995" y="155633"/>
                  </a:lnTo>
                  <a:lnTo>
                    <a:pt x="241693" y="154719"/>
                  </a:lnTo>
                  <a:lnTo>
                    <a:pt x="239737" y="153512"/>
                  </a:lnTo>
                  <a:lnTo>
                    <a:pt x="237845" y="152382"/>
                  </a:lnTo>
                  <a:lnTo>
                    <a:pt x="235572" y="150985"/>
                  </a:lnTo>
                  <a:lnTo>
                    <a:pt x="240474" y="148166"/>
                  </a:lnTo>
                  <a:lnTo>
                    <a:pt x="244906" y="145537"/>
                  </a:lnTo>
                  <a:lnTo>
                    <a:pt x="249453" y="143048"/>
                  </a:lnTo>
                  <a:lnTo>
                    <a:pt x="348811" y="143048"/>
                  </a:lnTo>
                  <a:lnTo>
                    <a:pt x="355244" y="139288"/>
                  </a:lnTo>
                  <a:lnTo>
                    <a:pt x="268058" y="139288"/>
                  </a:lnTo>
                  <a:lnTo>
                    <a:pt x="264960" y="137523"/>
                  </a:lnTo>
                  <a:lnTo>
                    <a:pt x="262254" y="135834"/>
                  </a:lnTo>
                  <a:lnTo>
                    <a:pt x="259435" y="134450"/>
                  </a:lnTo>
                  <a:lnTo>
                    <a:pt x="256108" y="134208"/>
                  </a:lnTo>
                  <a:close/>
                </a:path>
                <a:path w="473709" h="330200" extrusionOk="0">
                  <a:moveTo>
                    <a:pt x="227902" y="163990"/>
                  </a:moveTo>
                  <a:lnTo>
                    <a:pt x="217406" y="163990"/>
                  </a:lnTo>
                  <a:lnTo>
                    <a:pt x="228599" y="164638"/>
                  </a:lnTo>
                  <a:lnTo>
                    <a:pt x="226929" y="164638"/>
                  </a:lnTo>
                  <a:lnTo>
                    <a:pt x="227902" y="163990"/>
                  </a:lnTo>
                  <a:close/>
                </a:path>
                <a:path w="473709" h="330200" extrusionOk="0">
                  <a:moveTo>
                    <a:pt x="348811" y="143048"/>
                  </a:moveTo>
                  <a:lnTo>
                    <a:pt x="252109" y="143048"/>
                  </a:lnTo>
                  <a:lnTo>
                    <a:pt x="257695" y="146159"/>
                  </a:lnTo>
                  <a:lnTo>
                    <a:pt x="263296" y="149474"/>
                  </a:lnTo>
                  <a:lnTo>
                    <a:pt x="269455" y="152992"/>
                  </a:lnTo>
                  <a:lnTo>
                    <a:pt x="264363" y="155951"/>
                  </a:lnTo>
                  <a:lnTo>
                    <a:pt x="259803" y="158757"/>
                  </a:lnTo>
                  <a:lnTo>
                    <a:pt x="255041" y="161183"/>
                  </a:lnTo>
                  <a:lnTo>
                    <a:pt x="317778" y="161183"/>
                  </a:lnTo>
                  <a:lnTo>
                    <a:pt x="348811" y="143048"/>
                  </a:lnTo>
                  <a:close/>
                </a:path>
                <a:path w="473709" h="330200" extrusionOk="0">
                  <a:moveTo>
                    <a:pt x="249963" y="130881"/>
                  </a:moveTo>
                  <a:lnTo>
                    <a:pt x="204762" y="130881"/>
                  </a:lnTo>
                  <a:lnTo>
                    <a:pt x="210146" y="132011"/>
                  </a:lnTo>
                  <a:lnTo>
                    <a:pt x="215912" y="136952"/>
                  </a:lnTo>
                  <a:lnTo>
                    <a:pt x="217158" y="139288"/>
                  </a:lnTo>
                  <a:lnTo>
                    <a:pt x="217233" y="139428"/>
                  </a:lnTo>
                  <a:lnTo>
                    <a:pt x="216915" y="140965"/>
                  </a:lnTo>
                  <a:lnTo>
                    <a:pt x="216623" y="142514"/>
                  </a:lnTo>
                  <a:lnTo>
                    <a:pt x="214375" y="144508"/>
                  </a:lnTo>
                  <a:lnTo>
                    <a:pt x="209448" y="145384"/>
                  </a:lnTo>
                  <a:lnTo>
                    <a:pt x="224817" y="145384"/>
                  </a:lnTo>
                  <a:lnTo>
                    <a:pt x="249963" y="130881"/>
                  </a:lnTo>
                  <a:close/>
                </a:path>
                <a:path w="473709" h="330200" extrusionOk="0">
                  <a:moveTo>
                    <a:pt x="385929" y="121356"/>
                  </a:moveTo>
                  <a:lnTo>
                    <a:pt x="272630" y="121356"/>
                  </a:lnTo>
                  <a:lnTo>
                    <a:pt x="268058" y="139288"/>
                  </a:lnTo>
                  <a:lnTo>
                    <a:pt x="355244" y="139288"/>
                  </a:lnTo>
                  <a:lnTo>
                    <a:pt x="385929" y="121356"/>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64" name="Google Shape;364;p56"/>
            <p:cNvPicPr preferRelativeResize="0"/>
            <p:nvPr/>
          </p:nvPicPr>
          <p:blipFill rotWithShape="1">
            <a:blip r:embed="rId3">
              <a:alphaModFix/>
            </a:blip>
            <a:srcRect/>
            <a:stretch/>
          </p:blipFill>
          <p:spPr>
            <a:xfrm>
              <a:off x="188927" y="563458"/>
              <a:ext cx="263899" cy="199486"/>
            </a:xfrm>
            <a:prstGeom prst="rect">
              <a:avLst/>
            </a:prstGeom>
            <a:noFill/>
            <a:ln>
              <a:noFill/>
            </a:ln>
          </p:spPr>
        </p:pic>
        <p:sp>
          <p:nvSpPr>
            <p:cNvPr id="365" name="Google Shape;365;p56"/>
            <p:cNvSpPr/>
            <p:nvPr/>
          </p:nvSpPr>
          <p:spPr>
            <a:xfrm>
              <a:off x="260967" y="508763"/>
              <a:ext cx="382905" cy="169545"/>
            </a:xfrm>
            <a:custGeom>
              <a:avLst/>
              <a:gdLst/>
              <a:ahLst/>
              <a:cxnLst/>
              <a:rect l="l" t="t" r="r" b="b"/>
              <a:pathLst>
                <a:path w="382905" h="169545" extrusionOk="0">
                  <a:moveTo>
                    <a:pt x="381825" y="0"/>
                  </a:moveTo>
                  <a:lnTo>
                    <a:pt x="352385" y="27030"/>
                  </a:lnTo>
                  <a:lnTo>
                    <a:pt x="114960" y="165938"/>
                  </a:lnTo>
                  <a:lnTo>
                    <a:pt x="107568" y="166789"/>
                  </a:lnTo>
                  <a:lnTo>
                    <a:pt x="96545" y="160947"/>
                  </a:lnTo>
                  <a:lnTo>
                    <a:pt x="0" y="104940"/>
                  </a:lnTo>
                  <a:lnTo>
                    <a:pt x="1371" y="106883"/>
                  </a:lnTo>
                  <a:lnTo>
                    <a:pt x="3035" y="108534"/>
                  </a:lnTo>
                  <a:lnTo>
                    <a:pt x="107505" y="169075"/>
                  </a:lnTo>
                  <a:lnTo>
                    <a:pt x="115125" y="168465"/>
                  </a:lnTo>
                  <a:lnTo>
                    <a:pt x="132727" y="157264"/>
                  </a:lnTo>
                  <a:lnTo>
                    <a:pt x="374713" y="15874"/>
                  </a:lnTo>
                  <a:lnTo>
                    <a:pt x="378675" y="11429"/>
                  </a:lnTo>
                  <a:lnTo>
                    <a:pt x="382079" y="4165"/>
                  </a:lnTo>
                  <a:lnTo>
                    <a:pt x="382269" y="2171"/>
                  </a:lnTo>
                  <a:lnTo>
                    <a:pt x="382714" y="317"/>
                  </a:lnTo>
                  <a:lnTo>
                    <a:pt x="38182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6" name="Google Shape;366;p56"/>
            <p:cNvSpPr/>
            <p:nvPr/>
          </p:nvSpPr>
          <p:spPr>
            <a:xfrm>
              <a:off x="190665" y="658744"/>
              <a:ext cx="108585" cy="55880"/>
            </a:xfrm>
            <a:custGeom>
              <a:avLst/>
              <a:gdLst/>
              <a:ahLst/>
              <a:cxnLst/>
              <a:rect l="l" t="t" r="r" b="b"/>
              <a:pathLst>
                <a:path w="108585" h="55880" extrusionOk="0">
                  <a:moveTo>
                    <a:pt x="25946" y="34124"/>
                  </a:moveTo>
                  <a:lnTo>
                    <a:pt x="0" y="19202"/>
                  </a:lnTo>
                  <a:lnTo>
                    <a:pt x="0" y="55486"/>
                  </a:lnTo>
                  <a:lnTo>
                    <a:pt x="3670" y="54521"/>
                  </a:lnTo>
                  <a:lnTo>
                    <a:pt x="4165" y="54229"/>
                  </a:lnTo>
                  <a:lnTo>
                    <a:pt x="3543" y="47726"/>
                  </a:lnTo>
                  <a:lnTo>
                    <a:pt x="4864" y="46101"/>
                  </a:lnTo>
                  <a:lnTo>
                    <a:pt x="13563" y="41440"/>
                  </a:lnTo>
                  <a:lnTo>
                    <a:pt x="19392" y="37909"/>
                  </a:lnTo>
                  <a:lnTo>
                    <a:pt x="25946" y="34124"/>
                  </a:lnTo>
                  <a:close/>
                </a:path>
                <a:path w="108585" h="55880" extrusionOk="0">
                  <a:moveTo>
                    <a:pt x="84366" y="7327"/>
                  </a:moveTo>
                  <a:lnTo>
                    <a:pt x="73101" y="0"/>
                  </a:lnTo>
                  <a:lnTo>
                    <a:pt x="50253" y="13208"/>
                  </a:lnTo>
                  <a:lnTo>
                    <a:pt x="54267" y="15392"/>
                  </a:lnTo>
                  <a:lnTo>
                    <a:pt x="57353" y="17272"/>
                  </a:lnTo>
                  <a:lnTo>
                    <a:pt x="61798" y="19278"/>
                  </a:lnTo>
                  <a:lnTo>
                    <a:pt x="63703" y="19278"/>
                  </a:lnTo>
                  <a:lnTo>
                    <a:pt x="70319" y="15760"/>
                  </a:lnTo>
                  <a:lnTo>
                    <a:pt x="75653" y="12560"/>
                  </a:lnTo>
                  <a:lnTo>
                    <a:pt x="82067" y="8839"/>
                  </a:lnTo>
                  <a:lnTo>
                    <a:pt x="84366" y="7327"/>
                  </a:lnTo>
                  <a:close/>
                </a:path>
                <a:path w="108585" h="55880" extrusionOk="0">
                  <a:moveTo>
                    <a:pt x="108216" y="20777"/>
                  </a:moveTo>
                  <a:lnTo>
                    <a:pt x="96266" y="13690"/>
                  </a:lnTo>
                  <a:lnTo>
                    <a:pt x="74053" y="26530"/>
                  </a:lnTo>
                  <a:lnTo>
                    <a:pt x="77762" y="28790"/>
                  </a:lnTo>
                  <a:lnTo>
                    <a:pt x="80708" y="30480"/>
                  </a:lnTo>
                  <a:lnTo>
                    <a:pt x="85382" y="33578"/>
                  </a:lnTo>
                  <a:lnTo>
                    <a:pt x="86893" y="33413"/>
                  </a:lnTo>
                  <a:lnTo>
                    <a:pt x="93929" y="29197"/>
                  </a:lnTo>
                  <a:lnTo>
                    <a:pt x="99263" y="26212"/>
                  </a:lnTo>
                  <a:lnTo>
                    <a:pt x="105664" y="22479"/>
                  </a:lnTo>
                  <a:lnTo>
                    <a:pt x="108216" y="20777"/>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67" name="Google Shape;367;p56"/>
            <p:cNvPicPr preferRelativeResize="0"/>
            <p:nvPr/>
          </p:nvPicPr>
          <p:blipFill rotWithShape="1">
            <a:blip r:embed="rId4">
              <a:alphaModFix/>
            </a:blip>
            <a:srcRect/>
            <a:stretch/>
          </p:blipFill>
          <p:spPr>
            <a:xfrm>
              <a:off x="705283" y="120346"/>
              <a:ext cx="839570" cy="1262696"/>
            </a:xfrm>
            <a:prstGeom prst="rect">
              <a:avLst/>
            </a:prstGeom>
            <a:noFill/>
            <a:ln>
              <a:noFill/>
            </a:ln>
          </p:spPr>
        </p:pic>
        <p:pic>
          <p:nvPicPr>
            <p:cNvPr id="368" name="Google Shape;368;p56"/>
            <p:cNvPicPr preferRelativeResize="0"/>
            <p:nvPr/>
          </p:nvPicPr>
          <p:blipFill rotWithShape="1">
            <a:blip r:embed="rId5">
              <a:alphaModFix/>
            </a:blip>
            <a:srcRect/>
            <a:stretch/>
          </p:blipFill>
          <p:spPr>
            <a:xfrm>
              <a:off x="405611" y="4067960"/>
              <a:ext cx="958248" cy="326979"/>
            </a:xfrm>
            <a:prstGeom prst="rect">
              <a:avLst/>
            </a:prstGeom>
            <a:noFill/>
            <a:ln>
              <a:noFill/>
            </a:ln>
          </p:spPr>
        </p:pic>
        <p:pic>
          <p:nvPicPr>
            <p:cNvPr id="369" name="Google Shape;369;p56"/>
            <p:cNvPicPr preferRelativeResize="0"/>
            <p:nvPr/>
          </p:nvPicPr>
          <p:blipFill rotWithShape="1">
            <a:blip r:embed="rId6">
              <a:alphaModFix/>
            </a:blip>
            <a:srcRect/>
            <a:stretch/>
          </p:blipFill>
          <p:spPr>
            <a:xfrm>
              <a:off x="476098" y="3454105"/>
              <a:ext cx="766864" cy="575246"/>
            </a:xfrm>
            <a:prstGeom prst="rect">
              <a:avLst/>
            </a:prstGeom>
            <a:noFill/>
            <a:ln>
              <a:noFill/>
            </a:ln>
          </p:spPr>
        </p:pic>
        <p:pic>
          <p:nvPicPr>
            <p:cNvPr id="370" name="Google Shape;370;p56"/>
            <p:cNvPicPr preferRelativeResize="0"/>
            <p:nvPr/>
          </p:nvPicPr>
          <p:blipFill rotWithShape="1">
            <a:blip r:embed="rId7">
              <a:alphaModFix/>
            </a:blip>
            <a:srcRect/>
            <a:stretch/>
          </p:blipFill>
          <p:spPr>
            <a:xfrm>
              <a:off x="281813" y="1349828"/>
              <a:ext cx="488937" cy="484225"/>
            </a:xfrm>
            <a:prstGeom prst="rect">
              <a:avLst/>
            </a:prstGeom>
            <a:noFill/>
            <a:ln>
              <a:noFill/>
            </a:ln>
          </p:spPr>
        </p:pic>
        <p:pic>
          <p:nvPicPr>
            <p:cNvPr id="371" name="Google Shape;371;p56"/>
            <p:cNvPicPr preferRelativeResize="0"/>
            <p:nvPr/>
          </p:nvPicPr>
          <p:blipFill rotWithShape="1">
            <a:blip r:embed="rId8">
              <a:alphaModFix/>
            </a:blip>
            <a:srcRect/>
            <a:stretch/>
          </p:blipFill>
          <p:spPr>
            <a:xfrm>
              <a:off x="958443" y="1398230"/>
              <a:ext cx="569036" cy="502589"/>
            </a:xfrm>
            <a:prstGeom prst="rect">
              <a:avLst/>
            </a:prstGeom>
            <a:noFill/>
            <a:ln>
              <a:noFill/>
            </a:ln>
          </p:spPr>
        </p:pic>
        <p:pic>
          <p:nvPicPr>
            <p:cNvPr id="372" name="Google Shape;372;p56"/>
            <p:cNvPicPr preferRelativeResize="0"/>
            <p:nvPr/>
          </p:nvPicPr>
          <p:blipFill rotWithShape="1">
            <a:blip r:embed="rId9">
              <a:alphaModFix/>
            </a:blip>
            <a:srcRect/>
            <a:stretch/>
          </p:blipFill>
          <p:spPr>
            <a:xfrm>
              <a:off x="1018464" y="1953757"/>
              <a:ext cx="520700" cy="326979"/>
            </a:xfrm>
            <a:prstGeom prst="rect">
              <a:avLst/>
            </a:prstGeom>
            <a:noFill/>
            <a:ln>
              <a:noFill/>
            </a:ln>
          </p:spPr>
        </p:pic>
        <p:pic>
          <p:nvPicPr>
            <p:cNvPr id="373" name="Google Shape;373;p56"/>
            <p:cNvPicPr preferRelativeResize="0"/>
            <p:nvPr/>
          </p:nvPicPr>
          <p:blipFill rotWithShape="1">
            <a:blip r:embed="rId10">
              <a:alphaModFix/>
            </a:blip>
            <a:srcRect/>
            <a:stretch/>
          </p:blipFill>
          <p:spPr>
            <a:xfrm>
              <a:off x="412572" y="2477321"/>
              <a:ext cx="839571" cy="419785"/>
            </a:xfrm>
            <a:prstGeom prst="rect">
              <a:avLst/>
            </a:prstGeom>
            <a:noFill/>
            <a:ln>
              <a:noFill/>
            </a:ln>
          </p:spPr>
        </p:pic>
        <p:pic>
          <p:nvPicPr>
            <p:cNvPr id="374" name="Google Shape;374;p56"/>
            <p:cNvPicPr preferRelativeResize="0"/>
            <p:nvPr/>
          </p:nvPicPr>
          <p:blipFill rotWithShape="1">
            <a:blip r:embed="rId11">
              <a:alphaModFix/>
            </a:blip>
            <a:srcRect/>
            <a:stretch/>
          </p:blipFill>
          <p:spPr>
            <a:xfrm>
              <a:off x="613020" y="3002982"/>
              <a:ext cx="345423" cy="281546"/>
            </a:xfrm>
            <a:prstGeom prst="rect">
              <a:avLst/>
            </a:prstGeom>
            <a:noFill/>
            <a:ln>
              <a:noFill/>
            </a:ln>
          </p:spPr>
        </p:pic>
        <p:sp>
          <p:nvSpPr>
            <p:cNvPr id="375" name="Google Shape;375;p56"/>
            <p:cNvSpPr txBox="1"/>
            <p:nvPr/>
          </p:nvSpPr>
          <p:spPr>
            <a:xfrm>
              <a:off x="88686" y="827816"/>
              <a:ext cx="488937" cy="344007"/>
            </a:xfrm>
            <a:prstGeom prst="rect">
              <a:avLst/>
            </a:prstGeom>
            <a:noFill/>
            <a:ln>
              <a:noFill/>
            </a:ln>
          </p:spPr>
          <p:txBody>
            <a:bodyPr spcFirstLastPara="1" wrap="square" lIns="0" tIns="0" rIns="0" bIns="0" anchor="t" anchorCtr="0">
              <a:noAutofit/>
            </a:bodyPr>
            <a:lstStyle/>
            <a:p>
              <a:pPr marL="0" marR="11430" lvl="0" indent="44450" algn="l" rtl="0">
                <a:lnSpc>
                  <a:spcPct val="101000"/>
                </a:lnSpc>
                <a:spcBef>
                  <a:spcPts val="0"/>
                </a:spcBef>
                <a:spcAft>
                  <a:spcPts val="0"/>
                </a:spcAft>
                <a:buClr>
                  <a:srgbClr val="000000"/>
                </a:buClr>
                <a:buSzPts val="1400"/>
                <a:buFont typeface="Arial"/>
                <a:buNone/>
              </a:pPr>
              <a:r>
                <a:rPr lang="en-US" sz="1400" b="0" i="0" u="none" strike="noStrike" cap="none">
                  <a:solidFill>
                    <a:srgbClr val="231F20"/>
                  </a:solidFill>
                  <a:latin typeface="Cambria"/>
                  <a:ea typeface="Cambria"/>
                  <a:cs typeface="Cambria"/>
                  <a:sym typeface="Cambria"/>
                </a:rPr>
                <a:t>Pen Drive</a:t>
              </a:r>
              <a:endParaRPr sz="1400" b="0" i="0" u="none" strike="noStrike" cap="none">
                <a:solidFill>
                  <a:srgbClr val="000000"/>
                </a:solidFill>
                <a:latin typeface="Cambria"/>
                <a:ea typeface="Cambria"/>
                <a:cs typeface="Cambria"/>
                <a:sym typeface="Cambria"/>
              </a:endParaRPr>
            </a:p>
          </p:txBody>
        </p:sp>
        <p:sp>
          <p:nvSpPr>
            <p:cNvPr id="376" name="Google Shape;376;p56"/>
            <p:cNvSpPr txBox="1"/>
            <p:nvPr/>
          </p:nvSpPr>
          <p:spPr>
            <a:xfrm>
              <a:off x="188928" y="1940040"/>
              <a:ext cx="657892" cy="1820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31F20"/>
                  </a:solidFill>
                  <a:latin typeface="Cambria"/>
                  <a:ea typeface="Cambria"/>
                  <a:cs typeface="Cambria"/>
                  <a:sym typeface="Cambria"/>
                </a:rPr>
                <a:t>CD/DVD</a:t>
              </a:r>
              <a:endParaRPr sz="1400" b="0" i="0" u="none" strike="noStrike" cap="none">
                <a:solidFill>
                  <a:srgbClr val="000000"/>
                </a:solidFill>
                <a:latin typeface="Cambria"/>
                <a:ea typeface="Cambria"/>
                <a:cs typeface="Cambria"/>
                <a:sym typeface="Cambria"/>
              </a:endParaRPr>
            </a:p>
          </p:txBody>
        </p:sp>
      </p:grpSp>
      <p:sp>
        <p:nvSpPr>
          <p:cNvPr id="377" name="Google Shape;377;p56"/>
          <p:cNvSpPr txBox="1"/>
          <p:nvPr/>
        </p:nvSpPr>
        <p:spPr>
          <a:xfrm>
            <a:off x="285135" y="6019477"/>
            <a:ext cx="2468225"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600" b="0" i="1" u="none" strike="noStrike" cap="none">
                <a:solidFill>
                  <a:schemeClr val="dk1"/>
                </a:solidFill>
                <a:latin typeface="Calibri"/>
                <a:ea typeface="Calibri"/>
                <a:cs typeface="Calibri"/>
                <a:sym typeface="Calibri"/>
              </a:rPr>
              <a:t>Figure 1.11:Storage devices</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7"/>
          <p:cNvSpPr txBox="1">
            <a:spLocks noGrp="1"/>
          </p:cNvSpPr>
          <p:nvPr>
            <p:ph type="ctrTitle"/>
          </p:nvPr>
        </p:nvSpPr>
        <p:spPr>
          <a:xfrm>
            <a:off x="0" y="0"/>
            <a:ext cx="6167535"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t>SYSTEM Bus- Data, Address &amp; Control</a:t>
            </a:r>
            <a:endParaRPr/>
          </a:p>
        </p:txBody>
      </p:sp>
      <p:sp>
        <p:nvSpPr>
          <p:cNvPr id="383" name="Google Shape;383;p57"/>
          <p:cNvSpPr txBox="1"/>
          <p:nvPr/>
        </p:nvSpPr>
        <p:spPr>
          <a:xfrm>
            <a:off x="304385" y="752869"/>
            <a:ext cx="8249920" cy="3041667"/>
          </a:xfrm>
          <a:prstGeom prst="rect">
            <a:avLst/>
          </a:prstGeom>
          <a:noFill/>
          <a:ln>
            <a:noFill/>
          </a:ln>
        </p:spPr>
        <p:txBody>
          <a:bodyPr spcFirstLastPara="1" wrap="square" lIns="91425" tIns="45700" rIns="91425" bIns="45700" anchor="t" anchorCtr="0">
            <a:spAutoFit/>
          </a:bodyPr>
          <a:lstStyle/>
          <a:p>
            <a:pPr marL="257810" marR="0" lvl="0" indent="0" algn="just" rtl="0">
              <a:lnSpc>
                <a:spcPct val="200000"/>
              </a:lnSpc>
              <a:spcBef>
                <a:spcPts val="0"/>
              </a:spcBef>
              <a:spcAft>
                <a:spcPts val="0"/>
              </a:spcAft>
              <a:buClr>
                <a:srgbClr val="000000"/>
              </a:buClr>
              <a:buSzPts val="1400"/>
              <a:buFont typeface="Arial"/>
              <a:buNone/>
            </a:pPr>
            <a:r>
              <a:rPr lang="en-US" sz="1400" b="1" i="0" u="none" strike="noStrike" cap="none">
                <a:solidFill>
                  <a:srgbClr val="231F20"/>
                </a:solidFill>
                <a:latin typeface="Calibri"/>
                <a:ea typeface="Calibri"/>
                <a:cs typeface="Calibri"/>
                <a:sym typeface="Calibri"/>
              </a:rPr>
              <a:t>Function of system Bus: </a:t>
            </a:r>
            <a:r>
              <a:rPr lang="en-US" sz="1400" b="0" i="0" u="none" strike="noStrike" cap="none">
                <a:solidFill>
                  <a:srgbClr val="231F20"/>
                </a:solidFill>
                <a:latin typeface="Calibri"/>
                <a:ea typeface="Calibri"/>
                <a:cs typeface="Calibri"/>
                <a:sym typeface="Calibri"/>
              </a:rPr>
              <a:t>Data need to be transferred between the CPU and primary memory as well as between the primary and secondary memory.</a:t>
            </a:r>
            <a:endParaRPr sz="1400" b="0" i="0" u="none" strike="noStrike" cap="none">
              <a:solidFill>
                <a:srgbClr val="000000"/>
              </a:solidFill>
              <a:latin typeface="Calibri"/>
              <a:ea typeface="Calibri"/>
              <a:cs typeface="Calibri"/>
              <a:sym typeface="Calibri"/>
            </a:endParaRPr>
          </a:p>
          <a:p>
            <a:pPr marL="257810" marR="0" lvl="0" indent="228600" algn="just" rtl="0">
              <a:lnSpc>
                <a:spcPct val="200000"/>
              </a:lnSpc>
              <a:spcBef>
                <a:spcPts val="0"/>
              </a:spcBef>
              <a:spcAft>
                <a:spcPts val="0"/>
              </a:spcAft>
              <a:buClr>
                <a:srgbClr val="000000"/>
              </a:buClr>
              <a:buSzPts val="1400"/>
              <a:buFont typeface="Arial"/>
              <a:buNone/>
            </a:pPr>
            <a:r>
              <a:rPr lang="en-US" sz="1400" b="0" i="0" u="none" strike="noStrike" cap="none">
                <a:solidFill>
                  <a:srgbClr val="231F20"/>
                </a:solidFill>
                <a:latin typeface="Calibri"/>
                <a:ea typeface="Calibri"/>
                <a:cs typeface="Calibri"/>
                <a:sym typeface="Calibri"/>
              </a:rPr>
              <a:t>Data are transferred between different components of a computer system using physical wires called </a:t>
            </a:r>
            <a:r>
              <a:rPr lang="en-US" sz="1400" b="1" i="1" u="none" strike="noStrike" cap="none">
                <a:solidFill>
                  <a:srgbClr val="231F20"/>
                </a:solidFill>
                <a:latin typeface="Calibri"/>
                <a:ea typeface="Calibri"/>
                <a:cs typeface="Calibri"/>
                <a:sym typeface="Calibri"/>
              </a:rPr>
              <a:t>bus</a:t>
            </a:r>
            <a:r>
              <a:rPr lang="en-US" sz="1400" b="0" i="0" u="none" strike="noStrike" cap="none">
                <a:solidFill>
                  <a:srgbClr val="231F20"/>
                </a:solidFill>
                <a:latin typeface="Calibri"/>
                <a:ea typeface="Calibri"/>
                <a:cs typeface="Calibri"/>
                <a:sym typeface="Calibri"/>
              </a:rPr>
              <a:t>. For example, bus is used for data transfer between a USB port and hard disk or between a hard disk and main memory. </a:t>
            </a:r>
            <a:r>
              <a:rPr lang="en-US" sz="1400" b="1" i="0" u="none" strike="noStrike" cap="none">
                <a:solidFill>
                  <a:srgbClr val="231F20"/>
                </a:solidFill>
                <a:latin typeface="Calibri"/>
                <a:ea typeface="Calibri"/>
                <a:cs typeface="Calibri"/>
                <a:sym typeface="Calibri"/>
              </a:rPr>
              <a:t>Bus is of three types </a:t>
            </a:r>
            <a:r>
              <a:rPr lang="en-US" sz="1400" b="0" i="0" u="none" strike="noStrike" cap="none">
                <a:solidFill>
                  <a:srgbClr val="231F20"/>
                </a:solidFill>
                <a:latin typeface="Calibri"/>
                <a:ea typeface="Calibri"/>
                <a:cs typeface="Calibri"/>
                <a:sym typeface="Calibri"/>
              </a:rPr>
              <a:t>— (i) </a:t>
            </a:r>
            <a:r>
              <a:rPr lang="en-US" sz="1400" b="1" i="1" u="none" strike="noStrike" cap="none">
                <a:solidFill>
                  <a:srgbClr val="231F20"/>
                </a:solidFill>
                <a:latin typeface="Calibri"/>
                <a:ea typeface="Calibri"/>
                <a:cs typeface="Calibri"/>
                <a:sym typeface="Calibri"/>
              </a:rPr>
              <a:t>Data bus </a:t>
            </a:r>
            <a:r>
              <a:rPr lang="en-US" sz="1400" b="0" i="0" u="none" strike="noStrike" cap="none">
                <a:solidFill>
                  <a:srgbClr val="231F20"/>
                </a:solidFill>
                <a:latin typeface="Calibri"/>
                <a:ea typeface="Calibri"/>
                <a:cs typeface="Calibri"/>
                <a:sym typeface="Calibri"/>
              </a:rPr>
              <a:t>to transfer data between different components, (ii) </a:t>
            </a:r>
            <a:r>
              <a:rPr lang="en-US" sz="1400" b="1" i="1" u="none" strike="noStrike" cap="none">
                <a:solidFill>
                  <a:srgbClr val="231F20"/>
                </a:solidFill>
                <a:latin typeface="Calibri"/>
                <a:ea typeface="Calibri"/>
                <a:cs typeface="Calibri"/>
                <a:sym typeface="Calibri"/>
              </a:rPr>
              <a:t>Address bus </a:t>
            </a:r>
            <a:r>
              <a:rPr lang="en-US" sz="1400" b="0" i="0" u="none" strike="noStrike" cap="none">
                <a:solidFill>
                  <a:srgbClr val="231F20"/>
                </a:solidFill>
                <a:latin typeface="Calibri"/>
                <a:ea typeface="Calibri"/>
                <a:cs typeface="Calibri"/>
                <a:sym typeface="Calibri"/>
              </a:rPr>
              <a:t>to transfer addresses between CPU and main memory. The address of the memory location that the CPU wants to read or write from is specified in the address bus,</a:t>
            </a:r>
            <a:endParaRPr sz="1400" b="0" i="0" u="none" strike="noStrike" cap="none">
              <a:solidFill>
                <a:srgbClr val="000000"/>
              </a:solidFill>
              <a:latin typeface="Calibri"/>
              <a:ea typeface="Calibri"/>
              <a:cs typeface="Calibri"/>
              <a:sym typeface="Calibri"/>
            </a:endParaRPr>
          </a:p>
        </p:txBody>
      </p:sp>
      <p:grpSp>
        <p:nvGrpSpPr>
          <p:cNvPr id="384" name="Google Shape;384;p57"/>
          <p:cNvGrpSpPr/>
          <p:nvPr/>
        </p:nvGrpSpPr>
        <p:grpSpPr>
          <a:xfrm>
            <a:off x="2690177" y="3793571"/>
            <a:ext cx="4472623" cy="2560277"/>
            <a:chOff x="1587" y="1587"/>
            <a:chExt cx="3255645" cy="1793875"/>
          </a:xfrm>
        </p:grpSpPr>
        <p:sp>
          <p:nvSpPr>
            <p:cNvPr id="385" name="Google Shape;385;p57"/>
            <p:cNvSpPr/>
            <p:nvPr/>
          </p:nvSpPr>
          <p:spPr>
            <a:xfrm>
              <a:off x="1587" y="1587"/>
              <a:ext cx="3255645" cy="1793875"/>
            </a:xfrm>
            <a:custGeom>
              <a:avLst/>
              <a:gdLst/>
              <a:ahLst/>
              <a:cxnLst/>
              <a:rect l="l" t="t" r="r" b="b"/>
              <a:pathLst>
                <a:path w="3255645" h="1793875" extrusionOk="0">
                  <a:moveTo>
                    <a:pt x="3255429" y="1793544"/>
                  </a:moveTo>
                  <a:lnTo>
                    <a:pt x="0" y="1793544"/>
                  </a:lnTo>
                  <a:lnTo>
                    <a:pt x="0" y="0"/>
                  </a:lnTo>
                  <a:lnTo>
                    <a:pt x="3255429" y="0"/>
                  </a:lnTo>
                  <a:lnTo>
                    <a:pt x="3255429" y="1793544"/>
                  </a:lnTo>
                  <a:close/>
                </a:path>
              </a:pathLst>
            </a:custGeom>
            <a:noFill/>
            <a:ln w="9525" cap="flat" cmpd="sng">
              <a:solidFill>
                <a:srgbClr val="005835"/>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6" name="Google Shape;386;p57"/>
            <p:cNvSpPr/>
            <p:nvPr/>
          </p:nvSpPr>
          <p:spPr>
            <a:xfrm>
              <a:off x="3072872" y="1665287"/>
              <a:ext cx="12700" cy="12700"/>
            </a:xfrm>
            <a:custGeom>
              <a:avLst/>
              <a:gdLst/>
              <a:ahLst/>
              <a:cxnLst/>
              <a:rect l="l" t="t" r="r" b="b"/>
              <a:pathLst>
                <a:path w="12700" h="12700" extrusionOk="0">
                  <a:moveTo>
                    <a:pt x="12700" y="0"/>
                  </a:moveTo>
                  <a:lnTo>
                    <a:pt x="12700" y="12700"/>
                  </a:lnTo>
                  <a:lnTo>
                    <a:pt x="0" y="1270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7" name="Google Shape;387;p57"/>
            <p:cNvSpPr/>
            <p:nvPr/>
          </p:nvSpPr>
          <p:spPr>
            <a:xfrm>
              <a:off x="149824" y="1677987"/>
              <a:ext cx="2898140" cy="1270"/>
            </a:xfrm>
            <a:custGeom>
              <a:avLst/>
              <a:gdLst/>
              <a:ahLst/>
              <a:cxnLst/>
              <a:rect l="l" t="t" r="r" b="b"/>
              <a:pathLst>
                <a:path w="2898140" h="120000" extrusionOk="0">
                  <a:moveTo>
                    <a:pt x="2897517" y="0"/>
                  </a:moveTo>
                  <a:lnTo>
                    <a:pt x="0" y="0"/>
                  </a:lnTo>
                </a:path>
              </a:pathLst>
            </a:custGeom>
            <a:noFill/>
            <a:ln w="9525" cap="flat" cmpd="sng">
              <a:solidFill>
                <a:srgbClr val="231F20"/>
              </a:solidFill>
              <a:prstDash val="dash"/>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8" name="Google Shape;388;p57"/>
            <p:cNvSpPr/>
            <p:nvPr/>
          </p:nvSpPr>
          <p:spPr>
            <a:xfrm>
              <a:off x="124358" y="1665287"/>
              <a:ext cx="12700" cy="12700"/>
            </a:xfrm>
            <a:custGeom>
              <a:avLst/>
              <a:gdLst/>
              <a:ahLst/>
              <a:cxnLst/>
              <a:rect l="l" t="t" r="r" b="b"/>
              <a:pathLst>
                <a:path w="12700" h="12700" extrusionOk="0">
                  <a:moveTo>
                    <a:pt x="12700" y="12700"/>
                  </a:moveTo>
                  <a:lnTo>
                    <a:pt x="0" y="12700"/>
                  </a:ln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9" name="Google Shape;389;p57"/>
            <p:cNvSpPr/>
            <p:nvPr/>
          </p:nvSpPr>
          <p:spPr>
            <a:xfrm>
              <a:off x="124358" y="629974"/>
              <a:ext cx="1270" cy="1010285"/>
            </a:xfrm>
            <a:custGeom>
              <a:avLst/>
              <a:gdLst/>
              <a:ahLst/>
              <a:cxnLst/>
              <a:rect l="l" t="t" r="r" b="b"/>
              <a:pathLst>
                <a:path w="120000" h="1010285" extrusionOk="0">
                  <a:moveTo>
                    <a:pt x="0" y="1009751"/>
                  </a:moveTo>
                  <a:lnTo>
                    <a:pt x="0" y="0"/>
                  </a:lnTo>
                </a:path>
              </a:pathLst>
            </a:custGeom>
            <a:noFill/>
            <a:ln w="9525" cap="flat" cmpd="sng">
              <a:solidFill>
                <a:srgbClr val="231F20"/>
              </a:solidFill>
              <a:prstDash val="dash"/>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0" name="Google Shape;390;p57"/>
            <p:cNvSpPr/>
            <p:nvPr/>
          </p:nvSpPr>
          <p:spPr>
            <a:xfrm>
              <a:off x="124358" y="604490"/>
              <a:ext cx="12700" cy="12700"/>
            </a:xfrm>
            <a:custGeom>
              <a:avLst/>
              <a:gdLst/>
              <a:ahLst/>
              <a:cxnLst/>
              <a:rect l="l" t="t" r="r" b="b"/>
              <a:pathLst>
                <a:path w="12700" h="12700" extrusionOk="0">
                  <a:moveTo>
                    <a:pt x="0" y="12700"/>
                  </a:moveTo>
                  <a:lnTo>
                    <a:pt x="0" y="0"/>
                  </a:lnTo>
                  <a:lnTo>
                    <a:pt x="1270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1" name="Google Shape;391;p57"/>
            <p:cNvSpPr/>
            <p:nvPr/>
          </p:nvSpPr>
          <p:spPr>
            <a:xfrm>
              <a:off x="162589" y="604490"/>
              <a:ext cx="2898140" cy="1270"/>
            </a:xfrm>
            <a:custGeom>
              <a:avLst/>
              <a:gdLst/>
              <a:ahLst/>
              <a:cxnLst/>
              <a:rect l="l" t="t" r="r" b="b"/>
              <a:pathLst>
                <a:path w="2898140" h="120000" extrusionOk="0">
                  <a:moveTo>
                    <a:pt x="0" y="0"/>
                  </a:moveTo>
                  <a:lnTo>
                    <a:pt x="662104" y="0"/>
                  </a:lnTo>
                </a:path>
                <a:path w="2898140" h="120000" extrusionOk="0">
                  <a:moveTo>
                    <a:pt x="2495911" y="0"/>
                  </a:moveTo>
                  <a:lnTo>
                    <a:pt x="2897517" y="0"/>
                  </a:lnTo>
                </a:path>
              </a:pathLst>
            </a:custGeom>
            <a:noFill/>
            <a:ln w="9525" cap="flat" cmpd="sng">
              <a:solidFill>
                <a:srgbClr val="231F20"/>
              </a:solidFill>
              <a:prstDash val="dash"/>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2" name="Google Shape;392;p57"/>
            <p:cNvSpPr/>
            <p:nvPr/>
          </p:nvSpPr>
          <p:spPr>
            <a:xfrm>
              <a:off x="3072872" y="604490"/>
              <a:ext cx="12700" cy="12700"/>
            </a:xfrm>
            <a:custGeom>
              <a:avLst/>
              <a:gdLst/>
              <a:ahLst/>
              <a:cxnLst/>
              <a:rect l="l" t="t" r="r" b="b"/>
              <a:pathLst>
                <a:path w="12700" h="12700" extrusionOk="0">
                  <a:moveTo>
                    <a:pt x="0" y="0"/>
                  </a:moveTo>
                  <a:lnTo>
                    <a:pt x="12700" y="0"/>
                  </a:lnTo>
                  <a:lnTo>
                    <a:pt x="12700" y="1270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93" name="Google Shape;393;p57"/>
            <p:cNvPicPr preferRelativeResize="0"/>
            <p:nvPr/>
          </p:nvPicPr>
          <p:blipFill rotWithShape="1">
            <a:blip r:embed="rId3">
              <a:alphaModFix/>
            </a:blip>
            <a:srcRect/>
            <a:stretch/>
          </p:blipFill>
          <p:spPr>
            <a:xfrm>
              <a:off x="2910189" y="642752"/>
              <a:ext cx="180145" cy="1009751"/>
            </a:xfrm>
            <a:prstGeom prst="rect">
              <a:avLst/>
            </a:prstGeom>
            <a:noFill/>
            <a:ln>
              <a:noFill/>
            </a:ln>
          </p:spPr>
        </p:pic>
        <p:sp>
          <p:nvSpPr>
            <p:cNvPr id="394" name="Google Shape;394;p57"/>
            <p:cNvSpPr/>
            <p:nvPr/>
          </p:nvSpPr>
          <p:spPr>
            <a:xfrm>
              <a:off x="454888" y="454024"/>
              <a:ext cx="1294765" cy="963294"/>
            </a:xfrm>
            <a:custGeom>
              <a:avLst/>
              <a:gdLst/>
              <a:ahLst/>
              <a:cxnLst/>
              <a:rect l="l" t="t" r="r" b="b"/>
              <a:pathLst>
                <a:path w="1294765" h="963294" extrusionOk="0">
                  <a:moveTo>
                    <a:pt x="53314" y="60921"/>
                  </a:moveTo>
                  <a:lnTo>
                    <a:pt x="26733" y="0"/>
                  </a:lnTo>
                  <a:lnTo>
                    <a:pt x="0" y="60896"/>
                  </a:lnTo>
                  <a:lnTo>
                    <a:pt x="21971" y="60921"/>
                  </a:lnTo>
                  <a:lnTo>
                    <a:pt x="21945" y="101600"/>
                  </a:lnTo>
                  <a:lnTo>
                    <a:pt x="21932" y="126034"/>
                  </a:lnTo>
                  <a:lnTo>
                    <a:pt x="21920" y="150469"/>
                  </a:lnTo>
                  <a:lnTo>
                    <a:pt x="21971" y="191147"/>
                  </a:lnTo>
                  <a:lnTo>
                    <a:pt x="0" y="191173"/>
                  </a:lnTo>
                  <a:lnTo>
                    <a:pt x="26733" y="252069"/>
                  </a:lnTo>
                  <a:lnTo>
                    <a:pt x="53314" y="191147"/>
                  </a:lnTo>
                  <a:lnTo>
                    <a:pt x="32626" y="191173"/>
                  </a:lnTo>
                  <a:lnTo>
                    <a:pt x="32588" y="126034"/>
                  </a:lnTo>
                  <a:lnTo>
                    <a:pt x="32626" y="60896"/>
                  </a:lnTo>
                  <a:lnTo>
                    <a:pt x="53314" y="60921"/>
                  </a:lnTo>
                  <a:close/>
                </a:path>
                <a:path w="1294765" h="963294" extrusionOk="0">
                  <a:moveTo>
                    <a:pt x="1294168" y="789203"/>
                  </a:moveTo>
                  <a:lnTo>
                    <a:pt x="1240853" y="789203"/>
                  </a:lnTo>
                  <a:lnTo>
                    <a:pt x="1240853" y="963269"/>
                  </a:lnTo>
                  <a:lnTo>
                    <a:pt x="1294168" y="963269"/>
                  </a:lnTo>
                  <a:lnTo>
                    <a:pt x="1294168" y="789203"/>
                  </a:lnTo>
                  <a:close/>
                </a:path>
              </a:pathLst>
            </a:custGeom>
            <a:solidFill>
              <a:srgbClr val="020302"/>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5" name="Google Shape;395;p57"/>
            <p:cNvSpPr/>
            <p:nvPr/>
          </p:nvSpPr>
          <p:spPr>
            <a:xfrm>
              <a:off x="319176" y="97027"/>
              <a:ext cx="673735" cy="337820"/>
            </a:xfrm>
            <a:custGeom>
              <a:avLst/>
              <a:gdLst/>
              <a:ahLst/>
              <a:cxnLst/>
              <a:rect l="l" t="t" r="r" b="b"/>
              <a:pathLst>
                <a:path w="673735" h="337820" extrusionOk="0">
                  <a:moveTo>
                    <a:pt x="673138" y="0"/>
                  </a:moveTo>
                  <a:lnTo>
                    <a:pt x="0" y="0"/>
                  </a:lnTo>
                  <a:lnTo>
                    <a:pt x="0" y="337515"/>
                  </a:lnTo>
                  <a:lnTo>
                    <a:pt x="673138" y="337515"/>
                  </a:lnTo>
                  <a:lnTo>
                    <a:pt x="673138" y="0"/>
                  </a:lnTo>
                  <a:close/>
                </a:path>
              </a:pathLst>
            </a:custGeom>
            <a:solidFill>
              <a:srgbClr val="CBE8DA"/>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96" name="Google Shape;396;p57"/>
            <p:cNvPicPr preferRelativeResize="0"/>
            <p:nvPr/>
          </p:nvPicPr>
          <p:blipFill rotWithShape="1">
            <a:blip r:embed="rId4">
              <a:alphaModFix/>
            </a:blip>
            <a:srcRect/>
            <a:stretch/>
          </p:blipFill>
          <p:spPr>
            <a:xfrm>
              <a:off x="550274" y="222987"/>
              <a:ext cx="225385" cy="80543"/>
            </a:xfrm>
            <a:prstGeom prst="rect">
              <a:avLst/>
            </a:prstGeom>
            <a:noFill/>
            <a:ln>
              <a:noFill/>
            </a:ln>
          </p:spPr>
        </p:pic>
        <p:sp>
          <p:nvSpPr>
            <p:cNvPr id="397" name="Google Shape;397;p57"/>
            <p:cNvSpPr/>
            <p:nvPr/>
          </p:nvSpPr>
          <p:spPr>
            <a:xfrm>
              <a:off x="1192834" y="101041"/>
              <a:ext cx="673735" cy="337820"/>
            </a:xfrm>
            <a:custGeom>
              <a:avLst/>
              <a:gdLst/>
              <a:ahLst/>
              <a:cxnLst/>
              <a:rect l="l" t="t" r="r" b="b"/>
              <a:pathLst>
                <a:path w="673735" h="337820" extrusionOk="0">
                  <a:moveTo>
                    <a:pt x="673138" y="0"/>
                  </a:moveTo>
                  <a:lnTo>
                    <a:pt x="0" y="0"/>
                  </a:lnTo>
                  <a:lnTo>
                    <a:pt x="0" y="337515"/>
                  </a:lnTo>
                  <a:lnTo>
                    <a:pt x="673138" y="337515"/>
                  </a:lnTo>
                  <a:lnTo>
                    <a:pt x="673138" y="0"/>
                  </a:lnTo>
                  <a:close/>
                </a:path>
              </a:pathLst>
            </a:custGeom>
            <a:solidFill>
              <a:srgbClr val="CBE8DA"/>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98" name="Google Shape;398;p57"/>
            <p:cNvPicPr preferRelativeResize="0"/>
            <p:nvPr/>
          </p:nvPicPr>
          <p:blipFill rotWithShape="1">
            <a:blip r:embed="rId5">
              <a:alphaModFix/>
            </a:blip>
            <a:srcRect/>
            <a:stretch/>
          </p:blipFill>
          <p:spPr>
            <a:xfrm>
              <a:off x="1325147" y="226218"/>
              <a:ext cx="426850" cy="103588"/>
            </a:xfrm>
            <a:prstGeom prst="rect">
              <a:avLst/>
            </a:prstGeom>
            <a:noFill/>
            <a:ln>
              <a:noFill/>
            </a:ln>
          </p:spPr>
        </p:pic>
        <p:pic>
          <p:nvPicPr>
            <p:cNvPr id="399" name="Google Shape;399;p57"/>
            <p:cNvPicPr preferRelativeResize="0"/>
            <p:nvPr/>
          </p:nvPicPr>
          <p:blipFill rotWithShape="1">
            <a:blip r:embed="rId6">
              <a:alphaModFix/>
            </a:blip>
            <a:srcRect/>
            <a:stretch/>
          </p:blipFill>
          <p:spPr>
            <a:xfrm>
              <a:off x="878008" y="111721"/>
              <a:ext cx="1880241" cy="930414"/>
            </a:xfrm>
            <a:prstGeom prst="rect">
              <a:avLst/>
            </a:prstGeom>
            <a:noFill/>
            <a:ln>
              <a:noFill/>
            </a:ln>
          </p:spPr>
        </p:pic>
        <p:sp>
          <p:nvSpPr>
            <p:cNvPr id="400" name="Google Shape;400;p57"/>
            <p:cNvSpPr/>
            <p:nvPr/>
          </p:nvSpPr>
          <p:spPr>
            <a:xfrm>
              <a:off x="234441" y="1420012"/>
              <a:ext cx="2602230" cy="201295"/>
            </a:xfrm>
            <a:custGeom>
              <a:avLst/>
              <a:gdLst/>
              <a:ahLst/>
              <a:cxnLst/>
              <a:rect l="l" t="t" r="r" b="b"/>
              <a:pathLst>
                <a:path w="2602230" h="201295" extrusionOk="0">
                  <a:moveTo>
                    <a:pt x="2601772" y="201091"/>
                  </a:moveTo>
                  <a:lnTo>
                    <a:pt x="0" y="201091"/>
                  </a:lnTo>
                  <a:lnTo>
                    <a:pt x="0" y="0"/>
                  </a:lnTo>
                  <a:lnTo>
                    <a:pt x="2601772" y="0"/>
                  </a:lnTo>
                  <a:lnTo>
                    <a:pt x="2601772" y="201091"/>
                  </a:lnTo>
                  <a:close/>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01" name="Google Shape;401;p57"/>
            <p:cNvPicPr preferRelativeResize="0"/>
            <p:nvPr/>
          </p:nvPicPr>
          <p:blipFill rotWithShape="1">
            <a:blip r:embed="rId7">
              <a:alphaModFix/>
            </a:blip>
            <a:srcRect/>
            <a:stretch/>
          </p:blipFill>
          <p:spPr>
            <a:xfrm>
              <a:off x="1293973" y="1475139"/>
              <a:ext cx="482610" cy="83219"/>
            </a:xfrm>
            <a:prstGeom prst="rect">
              <a:avLst/>
            </a:prstGeom>
            <a:noFill/>
            <a:ln>
              <a:noFill/>
            </a:ln>
          </p:spPr>
        </p:pic>
        <p:sp>
          <p:nvSpPr>
            <p:cNvPr id="402" name="Google Shape;402;p57"/>
            <p:cNvSpPr/>
            <p:nvPr/>
          </p:nvSpPr>
          <p:spPr>
            <a:xfrm>
              <a:off x="234442" y="700531"/>
              <a:ext cx="2602230" cy="201295"/>
            </a:xfrm>
            <a:custGeom>
              <a:avLst/>
              <a:gdLst/>
              <a:ahLst/>
              <a:cxnLst/>
              <a:rect l="l" t="t" r="r" b="b"/>
              <a:pathLst>
                <a:path w="2602230" h="201295" extrusionOk="0">
                  <a:moveTo>
                    <a:pt x="590245" y="0"/>
                  </a:moveTo>
                  <a:lnTo>
                    <a:pt x="0" y="0"/>
                  </a:lnTo>
                  <a:lnTo>
                    <a:pt x="0" y="201079"/>
                  </a:lnTo>
                  <a:lnTo>
                    <a:pt x="590245" y="201079"/>
                  </a:lnTo>
                  <a:lnTo>
                    <a:pt x="590245" y="0"/>
                  </a:lnTo>
                  <a:close/>
                </a:path>
                <a:path w="2602230" h="201295" extrusionOk="0">
                  <a:moveTo>
                    <a:pt x="2370734" y="0"/>
                  </a:moveTo>
                  <a:lnTo>
                    <a:pt x="643559" y="0"/>
                  </a:lnTo>
                  <a:lnTo>
                    <a:pt x="643559" y="201079"/>
                  </a:lnTo>
                  <a:lnTo>
                    <a:pt x="2370734" y="201079"/>
                  </a:lnTo>
                  <a:lnTo>
                    <a:pt x="2370734" y="0"/>
                  </a:lnTo>
                  <a:close/>
                </a:path>
                <a:path w="2602230" h="201295" extrusionOk="0">
                  <a:moveTo>
                    <a:pt x="2601772" y="0"/>
                  </a:moveTo>
                  <a:lnTo>
                    <a:pt x="2424049" y="0"/>
                  </a:lnTo>
                  <a:lnTo>
                    <a:pt x="2424049" y="201079"/>
                  </a:lnTo>
                  <a:lnTo>
                    <a:pt x="2601772" y="201079"/>
                  </a:lnTo>
                  <a:lnTo>
                    <a:pt x="2601772" y="0"/>
                  </a:lnTo>
                  <a:close/>
                </a:path>
              </a:pathLst>
            </a:custGeom>
            <a:solidFill>
              <a:srgbClr val="FFFFFF"/>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03" name="Google Shape;403;p57"/>
            <p:cNvSpPr/>
            <p:nvPr/>
          </p:nvSpPr>
          <p:spPr>
            <a:xfrm>
              <a:off x="234441" y="700519"/>
              <a:ext cx="2602230" cy="201295"/>
            </a:xfrm>
            <a:custGeom>
              <a:avLst/>
              <a:gdLst/>
              <a:ahLst/>
              <a:cxnLst/>
              <a:rect l="l" t="t" r="r" b="b"/>
              <a:pathLst>
                <a:path w="2602230" h="201295" extrusionOk="0">
                  <a:moveTo>
                    <a:pt x="2601772" y="201091"/>
                  </a:moveTo>
                  <a:lnTo>
                    <a:pt x="0" y="201091"/>
                  </a:lnTo>
                  <a:lnTo>
                    <a:pt x="0" y="0"/>
                  </a:lnTo>
                  <a:lnTo>
                    <a:pt x="2601772" y="0"/>
                  </a:lnTo>
                  <a:lnTo>
                    <a:pt x="2601772" y="201091"/>
                  </a:lnTo>
                  <a:close/>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04" name="Google Shape;404;p57"/>
            <p:cNvPicPr preferRelativeResize="0"/>
            <p:nvPr/>
          </p:nvPicPr>
          <p:blipFill rotWithShape="1">
            <a:blip r:embed="rId8">
              <a:alphaModFix/>
            </a:blip>
            <a:srcRect/>
            <a:stretch/>
          </p:blipFill>
          <p:spPr>
            <a:xfrm>
              <a:off x="1223163" y="755655"/>
              <a:ext cx="624956" cy="83218"/>
            </a:xfrm>
            <a:prstGeom prst="rect">
              <a:avLst/>
            </a:prstGeom>
            <a:noFill/>
            <a:ln>
              <a:noFill/>
            </a:ln>
          </p:spPr>
        </p:pic>
        <p:sp>
          <p:nvSpPr>
            <p:cNvPr id="405" name="Google Shape;405;p57"/>
            <p:cNvSpPr/>
            <p:nvPr/>
          </p:nvSpPr>
          <p:spPr>
            <a:xfrm>
              <a:off x="234441" y="1042136"/>
              <a:ext cx="2602230" cy="201295"/>
            </a:xfrm>
            <a:custGeom>
              <a:avLst/>
              <a:gdLst/>
              <a:ahLst/>
              <a:cxnLst/>
              <a:rect l="l" t="t" r="r" b="b"/>
              <a:pathLst>
                <a:path w="2602230" h="201295" extrusionOk="0">
                  <a:moveTo>
                    <a:pt x="2601772" y="201091"/>
                  </a:moveTo>
                  <a:lnTo>
                    <a:pt x="0" y="201091"/>
                  </a:lnTo>
                  <a:lnTo>
                    <a:pt x="0" y="0"/>
                  </a:lnTo>
                  <a:lnTo>
                    <a:pt x="2601772" y="0"/>
                  </a:lnTo>
                  <a:lnTo>
                    <a:pt x="2601772" y="201091"/>
                  </a:lnTo>
                  <a:close/>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06" name="Google Shape;406;p57"/>
            <p:cNvPicPr preferRelativeResize="0"/>
            <p:nvPr/>
          </p:nvPicPr>
          <p:blipFill rotWithShape="1">
            <a:blip r:embed="rId9">
              <a:alphaModFix/>
            </a:blip>
            <a:srcRect/>
            <a:stretch/>
          </p:blipFill>
          <p:spPr>
            <a:xfrm>
              <a:off x="1201882" y="1097262"/>
              <a:ext cx="661697" cy="83223"/>
            </a:xfrm>
            <a:prstGeom prst="rect">
              <a:avLst/>
            </a:prstGeom>
            <a:noFill/>
            <a:ln>
              <a:noFill/>
            </a:ln>
          </p:spPr>
        </p:pic>
        <p:sp>
          <p:nvSpPr>
            <p:cNvPr id="407" name="Google Shape;407;p57"/>
            <p:cNvSpPr/>
            <p:nvPr/>
          </p:nvSpPr>
          <p:spPr>
            <a:xfrm>
              <a:off x="632129" y="441324"/>
              <a:ext cx="2026920" cy="975994"/>
            </a:xfrm>
            <a:custGeom>
              <a:avLst/>
              <a:gdLst/>
              <a:ahLst/>
              <a:cxnLst/>
              <a:rect l="l" t="t" r="r" b="b"/>
              <a:pathLst>
                <a:path w="2026920" h="975994" extrusionOk="0">
                  <a:moveTo>
                    <a:pt x="53314" y="60921"/>
                  </a:moveTo>
                  <a:lnTo>
                    <a:pt x="26720" y="0"/>
                  </a:lnTo>
                  <a:lnTo>
                    <a:pt x="0" y="60896"/>
                  </a:lnTo>
                  <a:lnTo>
                    <a:pt x="21958" y="60921"/>
                  </a:lnTo>
                  <a:lnTo>
                    <a:pt x="21932" y="203200"/>
                  </a:lnTo>
                  <a:lnTo>
                    <a:pt x="21920" y="272376"/>
                  </a:lnTo>
                  <a:lnTo>
                    <a:pt x="21920" y="328269"/>
                  </a:lnTo>
                  <a:lnTo>
                    <a:pt x="21958" y="534047"/>
                  </a:lnTo>
                  <a:lnTo>
                    <a:pt x="0" y="534073"/>
                  </a:lnTo>
                  <a:lnTo>
                    <a:pt x="26720" y="594969"/>
                  </a:lnTo>
                  <a:lnTo>
                    <a:pt x="53314" y="534047"/>
                  </a:lnTo>
                  <a:lnTo>
                    <a:pt x="32626" y="534073"/>
                  </a:lnTo>
                  <a:lnTo>
                    <a:pt x="32588" y="272376"/>
                  </a:lnTo>
                  <a:lnTo>
                    <a:pt x="32626" y="60896"/>
                  </a:lnTo>
                  <a:lnTo>
                    <a:pt x="53314" y="60921"/>
                  </a:lnTo>
                  <a:close/>
                </a:path>
                <a:path w="2026920" h="975994" extrusionOk="0">
                  <a:moveTo>
                    <a:pt x="245872" y="60921"/>
                  </a:moveTo>
                  <a:lnTo>
                    <a:pt x="219278" y="0"/>
                  </a:lnTo>
                  <a:lnTo>
                    <a:pt x="192557" y="60896"/>
                  </a:lnTo>
                  <a:lnTo>
                    <a:pt x="214515" y="60921"/>
                  </a:lnTo>
                  <a:lnTo>
                    <a:pt x="214503" y="63500"/>
                  </a:lnTo>
                  <a:lnTo>
                    <a:pt x="214477" y="265010"/>
                  </a:lnTo>
                  <a:lnTo>
                    <a:pt x="214477" y="328269"/>
                  </a:lnTo>
                  <a:lnTo>
                    <a:pt x="214515" y="915047"/>
                  </a:lnTo>
                  <a:lnTo>
                    <a:pt x="192557" y="915073"/>
                  </a:lnTo>
                  <a:lnTo>
                    <a:pt x="219278" y="975969"/>
                  </a:lnTo>
                  <a:lnTo>
                    <a:pt x="245872" y="915047"/>
                  </a:lnTo>
                  <a:lnTo>
                    <a:pt x="225183" y="915073"/>
                  </a:lnTo>
                  <a:lnTo>
                    <a:pt x="225145" y="328269"/>
                  </a:lnTo>
                  <a:lnTo>
                    <a:pt x="225145" y="265010"/>
                  </a:lnTo>
                  <a:lnTo>
                    <a:pt x="225183" y="60896"/>
                  </a:lnTo>
                  <a:lnTo>
                    <a:pt x="245872" y="60921"/>
                  </a:lnTo>
                  <a:close/>
                </a:path>
                <a:path w="2026920" h="975994" extrusionOk="0">
                  <a:moveTo>
                    <a:pt x="1833803" y="60921"/>
                  </a:moveTo>
                  <a:lnTo>
                    <a:pt x="1807210" y="0"/>
                  </a:lnTo>
                  <a:lnTo>
                    <a:pt x="1780489" y="60896"/>
                  </a:lnTo>
                  <a:lnTo>
                    <a:pt x="1802447" y="60921"/>
                  </a:lnTo>
                  <a:lnTo>
                    <a:pt x="1802434" y="114300"/>
                  </a:lnTo>
                  <a:lnTo>
                    <a:pt x="1802409" y="246532"/>
                  </a:lnTo>
                  <a:lnTo>
                    <a:pt x="1802409" y="328269"/>
                  </a:lnTo>
                  <a:lnTo>
                    <a:pt x="1802447" y="546747"/>
                  </a:lnTo>
                  <a:lnTo>
                    <a:pt x="1780489" y="546773"/>
                  </a:lnTo>
                  <a:lnTo>
                    <a:pt x="1807210" y="607669"/>
                  </a:lnTo>
                  <a:lnTo>
                    <a:pt x="1833803" y="546747"/>
                  </a:lnTo>
                  <a:lnTo>
                    <a:pt x="1813115" y="546773"/>
                  </a:lnTo>
                  <a:lnTo>
                    <a:pt x="1813077" y="246532"/>
                  </a:lnTo>
                  <a:lnTo>
                    <a:pt x="1813115" y="60896"/>
                  </a:lnTo>
                  <a:lnTo>
                    <a:pt x="1833803" y="60921"/>
                  </a:lnTo>
                  <a:close/>
                </a:path>
                <a:path w="2026920" h="975994" extrusionOk="0">
                  <a:moveTo>
                    <a:pt x="2026361" y="60921"/>
                  </a:moveTo>
                  <a:lnTo>
                    <a:pt x="1999767" y="0"/>
                  </a:lnTo>
                  <a:lnTo>
                    <a:pt x="1973046" y="60896"/>
                  </a:lnTo>
                  <a:lnTo>
                    <a:pt x="1995004" y="60921"/>
                  </a:lnTo>
                  <a:lnTo>
                    <a:pt x="1994992" y="63500"/>
                  </a:lnTo>
                  <a:lnTo>
                    <a:pt x="1994966" y="265010"/>
                  </a:lnTo>
                  <a:lnTo>
                    <a:pt x="1994966" y="328269"/>
                  </a:lnTo>
                  <a:lnTo>
                    <a:pt x="1995004" y="915047"/>
                  </a:lnTo>
                  <a:lnTo>
                    <a:pt x="1973046" y="915073"/>
                  </a:lnTo>
                  <a:lnTo>
                    <a:pt x="1999767" y="975969"/>
                  </a:lnTo>
                  <a:lnTo>
                    <a:pt x="2026361" y="915047"/>
                  </a:lnTo>
                  <a:lnTo>
                    <a:pt x="2005672" y="915073"/>
                  </a:lnTo>
                  <a:lnTo>
                    <a:pt x="2005634" y="328269"/>
                  </a:lnTo>
                  <a:lnTo>
                    <a:pt x="2005634" y="265010"/>
                  </a:lnTo>
                  <a:lnTo>
                    <a:pt x="2005672" y="60896"/>
                  </a:lnTo>
                  <a:lnTo>
                    <a:pt x="2026361" y="60921"/>
                  </a:lnTo>
                  <a:close/>
                </a:path>
              </a:pathLst>
            </a:custGeom>
            <a:solidFill>
              <a:srgbClr val="020302"/>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408" name="Google Shape;408;p57"/>
          <p:cNvSpPr txBox="1"/>
          <p:nvPr/>
        </p:nvSpPr>
        <p:spPr>
          <a:xfrm>
            <a:off x="2052320" y="6400543"/>
            <a:ext cx="6319520" cy="332976"/>
          </a:xfrm>
          <a:prstGeom prst="rect">
            <a:avLst/>
          </a:prstGeom>
          <a:noFill/>
          <a:ln>
            <a:noFill/>
          </a:ln>
        </p:spPr>
        <p:txBody>
          <a:bodyPr spcFirstLastPara="1" wrap="square" lIns="91425" tIns="45700" rIns="91425" bIns="45700" anchor="t" anchorCtr="0">
            <a:spAutoFit/>
          </a:bodyPr>
          <a:lstStyle/>
          <a:p>
            <a:pPr marL="1320800" marR="0" lvl="0" indent="-1308100" algn="l" rtl="0">
              <a:lnSpc>
                <a:spcPct val="101000"/>
              </a:lnSpc>
              <a:spcBef>
                <a:spcPts val="0"/>
              </a:spcBef>
              <a:spcAft>
                <a:spcPts val="0"/>
              </a:spcAft>
              <a:buClr>
                <a:srgbClr val="000000"/>
              </a:buClr>
              <a:buSzPts val="1600"/>
              <a:buFont typeface="Arial"/>
              <a:buNone/>
            </a:pPr>
            <a:r>
              <a:rPr lang="en-US" sz="1600" b="0" i="1" u="none" strike="noStrike" cap="none">
                <a:solidFill>
                  <a:srgbClr val="231F20"/>
                </a:solidFill>
                <a:latin typeface="Calibri"/>
                <a:ea typeface="Calibri"/>
                <a:cs typeface="Calibri"/>
                <a:sym typeface="Calibri"/>
              </a:rPr>
              <a:t>Figure 1.12: Data transfer between components through system bus</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8"/>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Continue..</a:t>
            </a:r>
            <a:endParaRPr/>
          </a:p>
        </p:txBody>
      </p:sp>
      <p:sp>
        <p:nvSpPr>
          <p:cNvPr id="414" name="Google Shape;414;p58"/>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57200" lvl="0" indent="-431800" algn="just" rtl="0">
              <a:lnSpc>
                <a:spcPct val="100000"/>
              </a:lnSpc>
              <a:spcBef>
                <a:spcPts val="640"/>
              </a:spcBef>
              <a:spcAft>
                <a:spcPts val="0"/>
              </a:spcAft>
              <a:buSzPts val="3200"/>
              <a:buNone/>
            </a:pPr>
            <a:r>
              <a:rPr lang="en-US" sz="1600">
                <a:solidFill>
                  <a:schemeClr val="dk1"/>
                </a:solidFill>
              </a:rPr>
              <a:t>(iii) </a:t>
            </a:r>
            <a:r>
              <a:rPr lang="en-US" sz="1600" b="1">
                <a:solidFill>
                  <a:schemeClr val="dk1"/>
                </a:solidFill>
              </a:rPr>
              <a:t>Control bus </a:t>
            </a:r>
            <a:r>
              <a:rPr lang="en-US" sz="1600">
                <a:solidFill>
                  <a:schemeClr val="dk1"/>
                </a:solidFill>
              </a:rPr>
              <a:t>to communicate control signals between different components of a computer. All these three buses collectively make the system bus, as shown in Figure 1.8.</a:t>
            </a:r>
            <a:endParaRPr sz="1600">
              <a:solidFill>
                <a:schemeClr val="dk1"/>
              </a:solidFill>
            </a:endParaRPr>
          </a:p>
          <a:p>
            <a:pPr marL="468000" lvl="0" indent="-431800" algn="just" rtl="0">
              <a:lnSpc>
                <a:spcPct val="100000"/>
              </a:lnSpc>
              <a:spcBef>
                <a:spcPts val="600"/>
              </a:spcBef>
              <a:spcAft>
                <a:spcPts val="0"/>
              </a:spcAft>
              <a:buSzPts val="3200"/>
              <a:buNone/>
            </a:pPr>
            <a:r>
              <a:rPr lang="en-US" sz="1600" b="1">
                <a:solidFill>
                  <a:schemeClr val="dk1"/>
                </a:solidFill>
              </a:rPr>
              <a:t>How these buses works when CPU need to perform some task ?</a:t>
            </a:r>
            <a:endParaRPr/>
          </a:p>
          <a:p>
            <a:pPr marL="447675" lvl="0" indent="-422275" algn="just" rtl="0">
              <a:lnSpc>
                <a:spcPct val="100000"/>
              </a:lnSpc>
              <a:spcBef>
                <a:spcPts val="1200"/>
              </a:spcBef>
              <a:spcAft>
                <a:spcPts val="0"/>
              </a:spcAft>
              <a:buSzPts val="3200"/>
              <a:buFont typeface="Noto Sans Symbols"/>
              <a:buChar char="▪"/>
            </a:pPr>
            <a:r>
              <a:rPr lang="en-US" sz="1600">
                <a:solidFill>
                  <a:schemeClr val="dk1"/>
                </a:solidFill>
              </a:rPr>
              <a:t>As the CPU interacts directly with main memory, any data entered from input device or the data to be accessed from hard disk needs to be placed in the main memory for further processing. The data is then transferred between CPU and main memory using bus.</a:t>
            </a:r>
            <a:endParaRPr/>
          </a:p>
          <a:p>
            <a:pPr marL="457200" lvl="0" indent="-431800" algn="just" rtl="0">
              <a:lnSpc>
                <a:spcPct val="100000"/>
              </a:lnSpc>
              <a:spcBef>
                <a:spcPts val="1200"/>
              </a:spcBef>
              <a:spcAft>
                <a:spcPts val="0"/>
              </a:spcAft>
              <a:buSzPts val="3200"/>
              <a:buFont typeface="Noto Sans Symbols"/>
              <a:buChar char="▪"/>
            </a:pPr>
            <a:r>
              <a:rPr lang="en-US" sz="1600">
                <a:solidFill>
                  <a:schemeClr val="dk1"/>
                </a:solidFill>
              </a:rPr>
              <a:t>The CPU places on the </a:t>
            </a:r>
            <a:r>
              <a:rPr lang="en-US" sz="1600" i="1">
                <a:solidFill>
                  <a:schemeClr val="dk1"/>
                </a:solidFill>
              </a:rPr>
              <a:t>address bus</a:t>
            </a:r>
            <a:r>
              <a:rPr lang="en-US" sz="1600">
                <a:solidFill>
                  <a:schemeClr val="dk1"/>
                </a:solidFill>
              </a:rPr>
              <a:t>, the address of the main memory location from which it wants to read data or to write data. While executing the instructions, the CPU specifies the read or write control signal through the </a:t>
            </a:r>
            <a:r>
              <a:rPr lang="en-US" sz="1600" i="1">
                <a:solidFill>
                  <a:schemeClr val="dk1"/>
                </a:solidFill>
              </a:rPr>
              <a:t>control bus</a:t>
            </a:r>
            <a:r>
              <a:rPr lang="en-US" sz="1600">
                <a:solidFill>
                  <a:schemeClr val="dk1"/>
                </a:solidFill>
              </a:rPr>
              <a:t>.</a:t>
            </a:r>
            <a:endParaRPr sz="1600">
              <a:solidFill>
                <a:schemeClr val="dk1"/>
              </a:solidFill>
            </a:endParaRPr>
          </a:p>
          <a:p>
            <a:pPr marL="457200" lvl="0" indent="-431800" algn="just" rtl="0">
              <a:lnSpc>
                <a:spcPct val="100000"/>
              </a:lnSpc>
              <a:spcBef>
                <a:spcPts val="1200"/>
              </a:spcBef>
              <a:spcAft>
                <a:spcPts val="0"/>
              </a:spcAft>
              <a:buSzPts val="3200"/>
              <a:buFont typeface="Noto Sans Symbols"/>
              <a:buChar char="▪"/>
            </a:pPr>
            <a:r>
              <a:rPr lang="en-US" sz="1600">
                <a:solidFill>
                  <a:schemeClr val="dk1"/>
                </a:solidFill>
              </a:rPr>
              <a:t>As the CPU may require to read data from main memory or write data to main memory, a </a:t>
            </a:r>
            <a:r>
              <a:rPr lang="en-US" sz="1600" i="1">
                <a:solidFill>
                  <a:schemeClr val="dk1"/>
                </a:solidFill>
              </a:rPr>
              <a:t>data bus </a:t>
            </a:r>
            <a:r>
              <a:rPr lang="en-US" sz="1600">
                <a:solidFill>
                  <a:schemeClr val="dk1"/>
                </a:solidFill>
              </a:rPr>
              <a:t>is </a:t>
            </a:r>
            <a:r>
              <a:rPr lang="en-US" sz="1600" b="1">
                <a:solidFill>
                  <a:schemeClr val="dk1"/>
                </a:solidFill>
              </a:rPr>
              <a:t>bidirectional.</a:t>
            </a:r>
            <a:r>
              <a:rPr lang="en-US" sz="1600">
                <a:solidFill>
                  <a:schemeClr val="dk1"/>
                </a:solidFill>
              </a:rPr>
              <a:t> But the control bus and address bus are </a:t>
            </a:r>
            <a:r>
              <a:rPr lang="en-US" sz="1600" b="1">
                <a:solidFill>
                  <a:schemeClr val="dk1"/>
                </a:solidFill>
              </a:rPr>
              <a:t>unidirectional</a:t>
            </a:r>
            <a:r>
              <a:rPr lang="en-US" sz="1600">
                <a:solidFill>
                  <a:schemeClr val="dk1"/>
                </a:solidFill>
              </a:rPr>
              <a:t>. </a:t>
            </a:r>
            <a:endParaRPr/>
          </a:p>
          <a:p>
            <a:pPr marL="457200" lvl="0" indent="-431800" algn="just" rtl="0">
              <a:lnSpc>
                <a:spcPct val="100000"/>
              </a:lnSpc>
              <a:spcBef>
                <a:spcPts val="1200"/>
              </a:spcBef>
              <a:spcAft>
                <a:spcPts val="0"/>
              </a:spcAft>
              <a:buSzPts val="3200"/>
              <a:buFont typeface="Noto Sans Symbols"/>
              <a:buChar char="▪"/>
            </a:pPr>
            <a:r>
              <a:rPr lang="en-US" sz="1600">
                <a:solidFill>
                  <a:schemeClr val="dk1"/>
                </a:solidFill>
              </a:rPr>
              <a:t>To write data into memory, the CPU places the data on the </a:t>
            </a:r>
            <a:r>
              <a:rPr lang="en-US" sz="1600" i="1">
                <a:solidFill>
                  <a:schemeClr val="dk1"/>
                </a:solidFill>
              </a:rPr>
              <a:t>data bus</a:t>
            </a:r>
            <a:r>
              <a:rPr lang="en-US" sz="1600">
                <a:solidFill>
                  <a:schemeClr val="dk1"/>
                </a:solidFill>
              </a:rPr>
              <a:t>, which is then written to the specific address provided through the </a:t>
            </a:r>
            <a:r>
              <a:rPr lang="en-US" sz="1600" i="1">
                <a:solidFill>
                  <a:schemeClr val="dk1"/>
                </a:solidFill>
              </a:rPr>
              <a:t>address bus</a:t>
            </a:r>
            <a:r>
              <a:rPr lang="en-US" sz="1600">
                <a:solidFill>
                  <a:schemeClr val="dk1"/>
                </a:solidFill>
              </a:rPr>
              <a:t>. </a:t>
            </a:r>
            <a:endParaRPr/>
          </a:p>
          <a:p>
            <a:pPr marL="457200" lvl="0" indent="-431800" algn="just" rtl="0">
              <a:lnSpc>
                <a:spcPct val="100000"/>
              </a:lnSpc>
              <a:spcBef>
                <a:spcPts val="1200"/>
              </a:spcBef>
              <a:spcAft>
                <a:spcPts val="0"/>
              </a:spcAft>
              <a:buSzPts val="3200"/>
              <a:buFont typeface="Noto Sans Symbols"/>
              <a:buChar char="▪"/>
            </a:pPr>
            <a:r>
              <a:rPr lang="en-US" sz="1600">
                <a:solidFill>
                  <a:schemeClr val="dk1"/>
                </a:solidFill>
              </a:rPr>
              <a:t>In case of </a:t>
            </a:r>
            <a:r>
              <a:rPr lang="en-US" sz="1600" b="1" i="1">
                <a:solidFill>
                  <a:schemeClr val="dk1"/>
                </a:solidFill>
              </a:rPr>
              <a:t>read operation</a:t>
            </a:r>
            <a:r>
              <a:rPr lang="en-US" sz="1600">
                <a:solidFill>
                  <a:schemeClr val="dk1"/>
                </a:solidFill>
              </a:rPr>
              <a:t>, the CPU specifies the address, and the data is placed on the data bus by a dedicated hardware, called </a:t>
            </a:r>
            <a:r>
              <a:rPr lang="en-US" sz="1600" b="1">
                <a:solidFill>
                  <a:schemeClr val="dk1"/>
                </a:solidFill>
              </a:rPr>
              <a:t>memory controller</a:t>
            </a:r>
            <a:r>
              <a:rPr lang="en-US" sz="1600">
                <a:solidFill>
                  <a:schemeClr val="dk1"/>
                </a:solidFill>
              </a:rPr>
              <a:t>. The memory controller manages the flow of data into and out of the computer's main memory.</a:t>
            </a:r>
            <a:endParaRPr sz="1600">
              <a:solidFill>
                <a:schemeClr val="dk1"/>
              </a:solidFill>
            </a:endParaRPr>
          </a:p>
          <a:p>
            <a:pPr marL="457200" lvl="0" indent="-431800" algn="just" rtl="0">
              <a:lnSpc>
                <a:spcPct val="100000"/>
              </a:lnSpc>
              <a:spcBef>
                <a:spcPts val="1240"/>
              </a:spcBef>
              <a:spcAft>
                <a:spcPts val="0"/>
              </a:spcAft>
              <a:buSzPts val="3200"/>
              <a:buNone/>
            </a:pPr>
            <a:endParaRPr sz="1600">
              <a:solidFill>
                <a:schemeClr val="dk1"/>
              </a:solidFill>
            </a:endParaRPr>
          </a:p>
          <a:p>
            <a:pPr marL="457200" lvl="0" indent="-431800" algn="just" rtl="0">
              <a:lnSpc>
                <a:spcPct val="100000"/>
              </a:lnSpc>
              <a:spcBef>
                <a:spcPts val="640"/>
              </a:spcBef>
              <a:spcAft>
                <a:spcPts val="0"/>
              </a:spcAft>
              <a:buSzPts val="3200"/>
              <a:buNone/>
            </a:pPr>
            <a:endParaRPr sz="16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8DBD0-ED6B-168F-744F-9C3F479A7FF8}"/>
              </a:ext>
            </a:extLst>
          </p:cNvPr>
          <p:cNvSpPr txBox="1"/>
          <p:nvPr/>
        </p:nvSpPr>
        <p:spPr>
          <a:xfrm>
            <a:off x="594360" y="968117"/>
            <a:ext cx="6233160" cy="5632311"/>
          </a:xfrm>
          <a:prstGeom prst="rect">
            <a:avLst/>
          </a:prstGeom>
          <a:noFill/>
        </p:spPr>
        <p:txBody>
          <a:bodyPr wrap="square">
            <a:spAutoFit/>
          </a:bodyPr>
          <a:lstStyle/>
          <a:p>
            <a:pPr>
              <a:buNone/>
            </a:pPr>
            <a:r>
              <a:rPr lang="en-IN" sz="1200" b="1" dirty="0"/>
              <a:t>1.</a:t>
            </a:r>
            <a:r>
              <a:rPr lang="en-IN" sz="1200" dirty="0"/>
              <a:t> Which of the following is a characteristic of a computer?</a:t>
            </a:r>
            <a:br>
              <a:rPr lang="en-IN" sz="1200" dirty="0"/>
            </a:br>
            <a:r>
              <a:rPr lang="en-IN" sz="1200" dirty="0"/>
              <a:t>A. Slow processing</a:t>
            </a:r>
            <a:br>
              <a:rPr lang="en-IN" sz="1200" dirty="0"/>
            </a:br>
            <a:r>
              <a:rPr lang="en-IN" sz="1200" dirty="0"/>
              <a:t>B. High accuracy</a:t>
            </a:r>
            <a:br>
              <a:rPr lang="en-IN" sz="1200" dirty="0"/>
            </a:br>
            <a:r>
              <a:rPr lang="en-IN" sz="1200" dirty="0"/>
              <a:t>C. Limited storage</a:t>
            </a:r>
            <a:br>
              <a:rPr lang="en-IN" sz="1200" dirty="0"/>
            </a:br>
            <a:r>
              <a:rPr lang="en-IN" sz="1200" dirty="0"/>
              <a:t>D. Emotional intelligence</a:t>
            </a:r>
            <a:br>
              <a:rPr lang="en-IN" sz="1200" dirty="0"/>
            </a:br>
            <a:r>
              <a:rPr lang="en-IN" sz="1200" b="1" dirty="0"/>
              <a:t>Answer: B</a:t>
            </a:r>
            <a:endParaRPr lang="en-IN" sz="1200" dirty="0"/>
          </a:p>
          <a:p>
            <a:pPr>
              <a:buNone/>
            </a:pPr>
            <a:r>
              <a:rPr lang="en-IN" sz="1200" b="1" dirty="0"/>
              <a:t>2.</a:t>
            </a:r>
            <a:r>
              <a:rPr lang="en-IN" sz="1200" dirty="0"/>
              <a:t> Which computer application is commonly used in education?</a:t>
            </a:r>
            <a:br>
              <a:rPr lang="en-IN" sz="1200" dirty="0"/>
            </a:br>
            <a:r>
              <a:rPr lang="en-IN" sz="1200" dirty="0"/>
              <a:t>A. Online learning</a:t>
            </a:r>
            <a:br>
              <a:rPr lang="en-IN" sz="1200" dirty="0"/>
            </a:br>
            <a:r>
              <a:rPr lang="en-IN" sz="1200" dirty="0"/>
              <a:t>B. ATM withdrawal</a:t>
            </a:r>
            <a:br>
              <a:rPr lang="en-IN" sz="1200" dirty="0"/>
            </a:br>
            <a:r>
              <a:rPr lang="en-IN" sz="1200" dirty="0"/>
              <a:t>C. X-ray scanning</a:t>
            </a:r>
            <a:br>
              <a:rPr lang="en-IN" sz="1200" dirty="0"/>
            </a:br>
            <a:r>
              <a:rPr lang="en-IN" sz="1200" dirty="0"/>
              <a:t>D. CAD designing</a:t>
            </a:r>
            <a:br>
              <a:rPr lang="en-IN" sz="1200" dirty="0"/>
            </a:br>
            <a:r>
              <a:rPr lang="en-IN" sz="1200" b="1" dirty="0"/>
              <a:t>Answer: A</a:t>
            </a:r>
            <a:endParaRPr lang="en-IN" sz="1200" dirty="0"/>
          </a:p>
          <a:p>
            <a:pPr>
              <a:buNone/>
            </a:pPr>
            <a:r>
              <a:rPr lang="en-IN" sz="1200" b="1" dirty="0"/>
              <a:t>3.</a:t>
            </a:r>
            <a:r>
              <a:rPr lang="en-IN" sz="1200" dirty="0"/>
              <a:t> Which technology is commonly used in healthcare?</a:t>
            </a:r>
            <a:br>
              <a:rPr lang="en-IN" sz="1200" dirty="0"/>
            </a:br>
            <a:r>
              <a:rPr lang="en-IN" sz="1200" dirty="0"/>
              <a:t>A. Medical imaging</a:t>
            </a:r>
            <a:br>
              <a:rPr lang="en-IN" sz="1200" dirty="0"/>
            </a:br>
            <a:r>
              <a:rPr lang="en-IN" sz="1200" dirty="0"/>
              <a:t>B. Word processing</a:t>
            </a:r>
            <a:br>
              <a:rPr lang="en-IN" sz="1200" dirty="0"/>
            </a:br>
            <a:r>
              <a:rPr lang="en-IN" sz="1200" dirty="0"/>
              <a:t>C. Spreadsheet formatting</a:t>
            </a:r>
            <a:br>
              <a:rPr lang="en-IN" sz="1200" dirty="0"/>
            </a:br>
            <a:r>
              <a:rPr lang="en-IN" sz="1200" dirty="0"/>
              <a:t>D. File compression</a:t>
            </a:r>
            <a:br>
              <a:rPr lang="en-IN" sz="1200" dirty="0"/>
            </a:br>
            <a:r>
              <a:rPr lang="en-IN" sz="1200" b="1" dirty="0"/>
              <a:t>Answer: A</a:t>
            </a:r>
            <a:endParaRPr lang="en-IN" sz="1200" dirty="0"/>
          </a:p>
          <a:p>
            <a:pPr>
              <a:buNone/>
            </a:pPr>
            <a:r>
              <a:rPr lang="en-IN" sz="1200" b="1" dirty="0"/>
              <a:t>4.</a:t>
            </a:r>
            <a:r>
              <a:rPr lang="en-IN" sz="1200" dirty="0"/>
              <a:t> The first generation of computers primarily used:</a:t>
            </a:r>
            <a:br>
              <a:rPr lang="en-IN" sz="1200" dirty="0"/>
            </a:br>
            <a:r>
              <a:rPr lang="en-IN" sz="1200" dirty="0"/>
              <a:t>A. Transistors</a:t>
            </a:r>
            <a:br>
              <a:rPr lang="en-IN" sz="1200" dirty="0"/>
            </a:br>
            <a:r>
              <a:rPr lang="en-IN" sz="1200" dirty="0"/>
              <a:t>B. Integrated Circuits</a:t>
            </a:r>
            <a:br>
              <a:rPr lang="en-IN" sz="1200" dirty="0"/>
            </a:br>
            <a:r>
              <a:rPr lang="en-IN" sz="1200" dirty="0"/>
              <a:t>C. Vacuum tubes</a:t>
            </a:r>
            <a:br>
              <a:rPr lang="en-IN" sz="1200" dirty="0"/>
            </a:br>
            <a:r>
              <a:rPr lang="en-IN" sz="1200" dirty="0"/>
              <a:t>D. Microprocessors</a:t>
            </a:r>
            <a:br>
              <a:rPr lang="en-IN" sz="1200" dirty="0"/>
            </a:br>
            <a:r>
              <a:rPr lang="en-IN" sz="1200" b="1" dirty="0"/>
              <a:t>Answer: C</a:t>
            </a:r>
            <a:endParaRPr lang="en-IN" sz="1200" dirty="0"/>
          </a:p>
          <a:p>
            <a:pPr>
              <a:buNone/>
            </a:pPr>
            <a:r>
              <a:rPr lang="en-IN" sz="1200" b="1" dirty="0"/>
              <a:t>5.</a:t>
            </a:r>
            <a:r>
              <a:rPr lang="en-IN" sz="1200" dirty="0"/>
              <a:t> The second generation of computers used:</a:t>
            </a:r>
            <a:br>
              <a:rPr lang="en-IN" sz="1200" dirty="0"/>
            </a:br>
            <a:r>
              <a:rPr lang="en-IN" sz="1200" dirty="0"/>
              <a:t>A. Vacuum tubes</a:t>
            </a:r>
            <a:br>
              <a:rPr lang="en-IN" sz="1200" dirty="0"/>
            </a:br>
            <a:r>
              <a:rPr lang="en-IN" sz="1200" dirty="0"/>
              <a:t>B. Transistors</a:t>
            </a:r>
            <a:br>
              <a:rPr lang="en-IN" sz="1200" dirty="0"/>
            </a:br>
            <a:r>
              <a:rPr lang="en-IN" sz="1200" dirty="0"/>
              <a:t>C. Microprocessors</a:t>
            </a:r>
            <a:br>
              <a:rPr lang="en-IN" sz="1200" dirty="0"/>
            </a:br>
            <a:r>
              <a:rPr lang="en-IN" sz="1200" dirty="0"/>
              <a:t>D. Artificial intelligence</a:t>
            </a:r>
            <a:br>
              <a:rPr lang="en-IN" sz="1200" dirty="0"/>
            </a:br>
            <a:r>
              <a:rPr lang="en-IN" sz="1200" b="1" dirty="0"/>
              <a:t>Answer: B</a:t>
            </a:r>
            <a:endParaRPr lang="en-IN" sz="1200" dirty="0"/>
          </a:p>
        </p:txBody>
      </p:sp>
      <p:sp>
        <p:nvSpPr>
          <p:cNvPr id="5" name="TextBox 4">
            <a:extLst>
              <a:ext uri="{FF2B5EF4-FFF2-40B4-BE49-F238E27FC236}">
                <a16:creationId xmlns:a16="http://schemas.microsoft.com/office/drawing/2014/main" id="{425FE4DE-29C7-5A6B-103E-1376896B193A}"/>
              </a:ext>
            </a:extLst>
          </p:cNvPr>
          <p:cNvSpPr txBox="1"/>
          <p:nvPr/>
        </p:nvSpPr>
        <p:spPr>
          <a:xfrm>
            <a:off x="673100" y="369332"/>
            <a:ext cx="4617720" cy="276999"/>
          </a:xfrm>
          <a:prstGeom prst="rect">
            <a:avLst/>
          </a:prstGeom>
          <a:noFill/>
        </p:spPr>
        <p:txBody>
          <a:bodyPr wrap="square">
            <a:spAutoFit/>
          </a:bodyPr>
          <a:lstStyle/>
          <a:p>
            <a:pPr>
              <a:buNone/>
            </a:pPr>
            <a:r>
              <a:rPr lang="en-IN" sz="1200" b="1" dirty="0"/>
              <a:t>Section A — 1-Mark MCQs</a:t>
            </a:r>
          </a:p>
        </p:txBody>
      </p:sp>
    </p:spTree>
    <p:extLst>
      <p:ext uri="{BB962C8B-B14F-4D97-AF65-F5344CB8AC3E}">
        <p14:creationId xmlns:p14="http://schemas.microsoft.com/office/powerpoint/2010/main" val="1523470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2ED05C-22F9-E991-4827-55561E21B40A}"/>
              </a:ext>
            </a:extLst>
          </p:cNvPr>
          <p:cNvSpPr txBox="1"/>
          <p:nvPr/>
        </p:nvSpPr>
        <p:spPr>
          <a:xfrm>
            <a:off x="345440" y="929333"/>
            <a:ext cx="6553200" cy="5632311"/>
          </a:xfrm>
          <a:prstGeom prst="rect">
            <a:avLst/>
          </a:prstGeom>
          <a:noFill/>
        </p:spPr>
        <p:txBody>
          <a:bodyPr wrap="square">
            <a:spAutoFit/>
          </a:bodyPr>
          <a:lstStyle/>
          <a:p>
            <a:pPr>
              <a:buNone/>
            </a:pPr>
            <a:r>
              <a:rPr lang="en-IN" sz="1200" b="1" dirty="0"/>
              <a:t>6.</a:t>
            </a:r>
            <a:r>
              <a:rPr lang="en-IN" sz="1200" dirty="0"/>
              <a:t> Integrated Circuits were primarily associated with which generation?</a:t>
            </a:r>
            <a:br>
              <a:rPr lang="en-IN" sz="1200" dirty="0"/>
            </a:br>
            <a:r>
              <a:rPr lang="en-IN" sz="1200" dirty="0"/>
              <a:t>A. First</a:t>
            </a:r>
            <a:br>
              <a:rPr lang="en-IN" sz="1200" dirty="0"/>
            </a:br>
            <a:r>
              <a:rPr lang="en-IN" sz="1200" dirty="0"/>
              <a:t>B. Second</a:t>
            </a:r>
            <a:br>
              <a:rPr lang="en-IN" sz="1200" dirty="0"/>
            </a:br>
            <a:r>
              <a:rPr lang="en-IN" sz="1200" dirty="0"/>
              <a:t>C. Third</a:t>
            </a:r>
            <a:br>
              <a:rPr lang="en-IN" sz="1200" dirty="0"/>
            </a:br>
            <a:r>
              <a:rPr lang="en-IN" sz="1200" dirty="0"/>
              <a:t>D. Fifth</a:t>
            </a:r>
            <a:br>
              <a:rPr lang="en-IN" sz="1200" dirty="0"/>
            </a:br>
            <a:r>
              <a:rPr lang="en-IN" sz="1200" b="1" dirty="0"/>
              <a:t>Answer: C</a:t>
            </a:r>
            <a:endParaRPr lang="en-IN" sz="1200" dirty="0"/>
          </a:p>
          <a:p>
            <a:pPr>
              <a:buNone/>
            </a:pPr>
            <a:r>
              <a:rPr lang="en-IN" sz="1200" b="1" dirty="0"/>
              <a:t>7.</a:t>
            </a:r>
            <a:r>
              <a:rPr lang="en-IN" sz="1200" dirty="0"/>
              <a:t> The fourth generation of computers is characterized by:</a:t>
            </a:r>
            <a:br>
              <a:rPr lang="en-IN" sz="1200" dirty="0"/>
            </a:br>
            <a:r>
              <a:rPr lang="en-IN" sz="1200" dirty="0"/>
              <a:t>A. Vacuum tubes</a:t>
            </a:r>
            <a:br>
              <a:rPr lang="en-IN" sz="1200" dirty="0"/>
            </a:br>
            <a:r>
              <a:rPr lang="en-IN" sz="1200" dirty="0"/>
              <a:t>B. Transistors</a:t>
            </a:r>
            <a:br>
              <a:rPr lang="en-IN" sz="1200" dirty="0"/>
            </a:br>
            <a:r>
              <a:rPr lang="en-IN" sz="1200" dirty="0"/>
              <a:t>C. Microprocessors</a:t>
            </a:r>
            <a:br>
              <a:rPr lang="en-IN" sz="1200" dirty="0"/>
            </a:br>
            <a:r>
              <a:rPr lang="en-IN" sz="1200" dirty="0"/>
              <a:t>D. Magnetic drums</a:t>
            </a:r>
            <a:br>
              <a:rPr lang="en-IN" sz="1200" dirty="0"/>
            </a:br>
            <a:r>
              <a:rPr lang="en-IN" sz="1200" b="1" dirty="0"/>
              <a:t>Answer: C</a:t>
            </a:r>
            <a:endParaRPr lang="en-IN" sz="1200" dirty="0"/>
          </a:p>
          <a:p>
            <a:pPr>
              <a:buNone/>
            </a:pPr>
            <a:r>
              <a:rPr lang="en-IN" sz="1200" b="1" dirty="0"/>
              <a:t>8.</a:t>
            </a:r>
            <a:r>
              <a:rPr lang="en-IN" sz="1200" dirty="0"/>
              <a:t> The fifth generation is mainly associated with:</a:t>
            </a:r>
            <a:br>
              <a:rPr lang="en-IN" sz="1200" dirty="0"/>
            </a:br>
            <a:r>
              <a:rPr lang="en-IN" sz="1200" dirty="0"/>
              <a:t>A. Artificial Intelligence</a:t>
            </a:r>
            <a:br>
              <a:rPr lang="en-IN" sz="1200" dirty="0"/>
            </a:br>
            <a:r>
              <a:rPr lang="en-IN" sz="1200" dirty="0"/>
              <a:t>B. Vacuum tubes</a:t>
            </a:r>
            <a:br>
              <a:rPr lang="en-IN" sz="1200" dirty="0"/>
            </a:br>
            <a:r>
              <a:rPr lang="en-IN" sz="1200" dirty="0"/>
              <a:t>C. Punch cards</a:t>
            </a:r>
            <a:br>
              <a:rPr lang="en-IN" sz="1200" dirty="0"/>
            </a:br>
            <a:r>
              <a:rPr lang="en-IN" sz="1200" dirty="0"/>
              <a:t>D. Magnetic drums</a:t>
            </a:r>
            <a:br>
              <a:rPr lang="en-IN" sz="1200" dirty="0"/>
            </a:br>
            <a:r>
              <a:rPr lang="en-IN" sz="1200" b="1" dirty="0"/>
              <a:t>Answer: A</a:t>
            </a:r>
            <a:endParaRPr lang="en-IN" sz="1200" dirty="0"/>
          </a:p>
          <a:p>
            <a:pPr>
              <a:buNone/>
            </a:pPr>
            <a:r>
              <a:rPr lang="en-IN" sz="1200" b="1" dirty="0"/>
              <a:t>9.</a:t>
            </a:r>
            <a:r>
              <a:rPr lang="en-IN" sz="1200" dirty="0"/>
              <a:t> Which unit is responsible for performing arithmetic and logical operations?</a:t>
            </a:r>
            <a:br>
              <a:rPr lang="en-IN" sz="1200" dirty="0"/>
            </a:br>
            <a:r>
              <a:rPr lang="en-IN" sz="1200" dirty="0"/>
              <a:t>A. Control Unit</a:t>
            </a:r>
            <a:br>
              <a:rPr lang="en-IN" sz="1200" dirty="0"/>
            </a:br>
            <a:r>
              <a:rPr lang="en-IN" sz="1200" dirty="0"/>
              <a:t>B. ALU</a:t>
            </a:r>
            <a:br>
              <a:rPr lang="en-IN" sz="1200" dirty="0"/>
            </a:br>
            <a:r>
              <a:rPr lang="en-IN" sz="1200" dirty="0"/>
              <a:t>C. Input Unit</a:t>
            </a:r>
            <a:br>
              <a:rPr lang="en-IN" sz="1200" dirty="0"/>
            </a:br>
            <a:r>
              <a:rPr lang="en-IN" sz="1200" dirty="0"/>
              <a:t>D. Output Unit</a:t>
            </a:r>
            <a:br>
              <a:rPr lang="en-IN" sz="1200" dirty="0"/>
            </a:br>
            <a:r>
              <a:rPr lang="en-IN" sz="1200" b="1" dirty="0"/>
              <a:t>Answer: B</a:t>
            </a:r>
            <a:endParaRPr lang="en-IN" sz="1200" dirty="0"/>
          </a:p>
          <a:p>
            <a:pPr>
              <a:buNone/>
            </a:pPr>
            <a:r>
              <a:rPr lang="en-IN" sz="1200" b="1" dirty="0"/>
              <a:t>10.</a:t>
            </a:r>
            <a:r>
              <a:rPr lang="en-IN" sz="1200" dirty="0"/>
              <a:t> Which unit controls and coordinates all operations of a computer?</a:t>
            </a:r>
            <a:br>
              <a:rPr lang="en-IN" sz="1200" dirty="0"/>
            </a:br>
            <a:r>
              <a:rPr lang="en-IN" sz="1200" dirty="0"/>
              <a:t>A. ALU</a:t>
            </a:r>
            <a:br>
              <a:rPr lang="en-IN" sz="1200" dirty="0"/>
            </a:br>
            <a:r>
              <a:rPr lang="en-IN" sz="1200" dirty="0"/>
              <a:t>B. Memory Unit</a:t>
            </a:r>
            <a:br>
              <a:rPr lang="en-IN" sz="1200" dirty="0"/>
            </a:br>
            <a:r>
              <a:rPr lang="en-IN" sz="1200" dirty="0"/>
              <a:t>C. Control Unit</a:t>
            </a:r>
            <a:br>
              <a:rPr lang="en-IN" sz="1200" dirty="0"/>
            </a:br>
            <a:r>
              <a:rPr lang="en-IN" sz="1200" dirty="0"/>
              <a:t>D. Output Unit</a:t>
            </a:r>
            <a:br>
              <a:rPr lang="en-IN" sz="1200" dirty="0"/>
            </a:br>
            <a:r>
              <a:rPr lang="en-IN" sz="1200" b="1" dirty="0"/>
              <a:t>Answer: C</a:t>
            </a:r>
            <a:endParaRPr lang="en-IN" sz="1200" dirty="0"/>
          </a:p>
        </p:txBody>
      </p:sp>
    </p:spTree>
    <p:extLst>
      <p:ext uri="{BB962C8B-B14F-4D97-AF65-F5344CB8AC3E}">
        <p14:creationId xmlns:p14="http://schemas.microsoft.com/office/powerpoint/2010/main" val="5397060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CFE760-BE1B-7B7D-8CB2-FD2AB8D056C2}"/>
              </a:ext>
            </a:extLst>
          </p:cNvPr>
          <p:cNvSpPr txBox="1"/>
          <p:nvPr/>
        </p:nvSpPr>
        <p:spPr>
          <a:xfrm>
            <a:off x="731520" y="288072"/>
            <a:ext cx="4572000" cy="307777"/>
          </a:xfrm>
          <a:prstGeom prst="rect">
            <a:avLst/>
          </a:prstGeom>
          <a:noFill/>
        </p:spPr>
        <p:txBody>
          <a:bodyPr wrap="square">
            <a:spAutoFit/>
          </a:bodyPr>
          <a:lstStyle/>
          <a:p>
            <a:pPr>
              <a:buNone/>
            </a:pPr>
            <a:r>
              <a:rPr lang="en-IN" b="1" dirty="0"/>
              <a:t>Section B — 5-Mark MCQs</a:t>
            </a:r>
          </a:p>
        </p:txBody>
      </p:sp>
      <p:sp>
        <p:nvSpPr>
          <p:cNvPr id="5" name="TextBox 4">
            <a:extLst>
              <a:ext uri="{FF2B5EF4-FFF2-40B4-BE49-F238E27FC236}">
                <a16:creationId xmlns:a16="http://schemas.microsoft.com/office/drawing/2014/main" id="{54435AA7-AC8B-99A5-7CFE-E65D80F5010A}"/>
              </a:ext>
            </a:extLst>
          </p:cNvPr>
          <p:cNvSpPr txBox="1"/>
          <p:nvPr/>
        </p:nvSpPr>
        <p:spPr>
          <a:xfrm>
            <a:off x="304800" y="989112"/>
            <a:ext cx="8544560" cy="5678478"/>
          </a:xfrm>
          <a:prstGeom prst="rect">
            <a:avLst/>
          </a:prstGeom>
          <a:noFill/>
        </p:spPr>
        <p:txBody>
          <a:bodyPr wrap="square">
            <a:spAutoFit/>
          </a:bodyPr>
          <a:lstStyle/>
          <a:p>
            <a:pPr>
              <a:buNone/>
            </a:pPr>
            <a:r>
              <a:rPr lang="en-IN" sz="1100" b="1" dirty="0"/>
              <a:t>Scenario 1: Online Education</a:t>
            </a:r>
          </a:p>
          <a:p>
            <a:pPr>
              <a:buNone/>
            </a:pPr>
            <a:r>
              <a:rPr lang="en-IN" sz="1100" dirty="0"/>
              <a:t>A college conducts online classes using computers. Students use a keyboard and webcam to provide information, the CPU processes instructions, memory stores data temporarily, and the monitor displays the result.</a:t>
            </a:r>
          </a:p>
          <a:p>
            <a:pPr>
              <a:buNone/>
            </a:pPr>
            <a:r>
              <a:rPr lang="en-IN" sz="1100" b="1" dirty="0"/>
              <a:t>1.</a:t>
            </a:r>
            <a:r>
              <a:rPr lang="en-IN" sz="1100" dirty="0"/>
              <a:t> Which functional unit receives information from the keyboard and webcam?</a:t>
            </a:r>
            <a:br>
              <a:rPr lang="en-IN" sz="1100" dirty="0"/>
            </a:br>
            <a:r>
              <a:rPr lang="en-IN" sz="1100" dirty="0"/>
              <a:t>A. Output Unit</a:t>
            </a:r>
            <a:br>
              <a:rPr lang="en-IN" sz="1100" dirty="0"/>
            </a:br>
            <a:r>
              <a:rPr lang="en-IN" sz="1100" dirty="0"/>
              <a:t>B. Input Unit</a:t>
            </a:r>
            <a:br>
              <a:rPr lang="en-IN" sz="1100" dirty="0"/>
            </a:br>
            <a:r>
              <a:rPr lang="en-IN" sz="1100" dirty="0"/>
              <a:t>C. ALU</a:t>
            </a:r>
            <a:br>
              <a:rPr lang="en-IN" sz="1100" dirty="0"/>
            </a:br>
            <a:r>
              <a:rPr lang="en-IN" sz="1100" dirty="0"/>
              <a:t>D. Control Unit</a:t>
            </a:r>
            <a:br>
              <a:rPr lang="en-IN" sz="1100" dirty="0"/>
            </a:br>
            <a:r>
              <a:rPr lang="en-IN" sz="1100" b="1" dirty="0"/>
              <a:t>Answer: B</a:t>
            </a:r>
            <a:endParaRPr lang="en-IN" sz="1100" dirty="0"/>
          </a:p>
          <a:p>
            <a:pPr>
              <a:buNone/>
            </a:pPr>
            <a:r>
              <a:rPr lang="en-IN" sz="1100" b="1" dirty="0"/>
              <a:t>2.</a:t>
            </a:r>
            <a:r>
              <a:rPr lang="en-IN" sz="1100" dirty="0"/>
              <a:t> Which component performs arithmetic and logical operations on the student's data?</a:t>
            </a:r>
            <a:br>
              <a:rPr lang="en-IN" sz="1100" dirty="0"/>
            </a:br>
            <a:r>
              <a:rPr lang="en-IN" sz="1100" dirty="0"/>
              <a:t>A. ALU</a:t>
            </a:r>
            <a:br>
              <a:rPr lang="en-IN" sz="1100" dirty="0"/>
            </a:br>
            <a:r>
              <a:rPr lang="en-IN" sz="1100" dirty="0"/>
              <a:t>B. Monitor</a:t>
            </a:r>
            <a:br>
              <a:rPr lang="en-IN" sz="1100" dirty="0"/>
            </a:br>
            <a:r>
              <a:rPr lang="en-IN" sz="1100" dirty="0"/>
              <a:t>C. Input Unit</a:t>
            </a:r>
            <a:br>
              <a:rPr lang="en-IN" sz="1100" dirty="0"/>
            </a:br>
            <a:r>
              <a:rPr lang="en-IN" sz="1100" dirty="0"/>
              <a:t>D. Register only</a:t>
            </a:r>
            <a:br>
              <a:rPr lang="en-IN" sz="1100" dirty="0"/>
            </a:br>
            <a:r>
              <a:rPr lang="en-IN" sz="1100" b="1" dirty="0"/>
              <a:t>Answer: A</a:t>
            </a:r>
            <a:endParaRPr lang="en-IN" sz="1100" dirty="0"/>
          </a:p>
          <a:p>
            <a:pPr>
              <a:buNone/>
            </a:pPr>
            <a:r>
              <a:rPr lang="en-IN" sz="1100" b="1" dirty="0"/>
              <a:t>3.</a:t>
            </a:r>
            <a:r>
              <a:rPr lang="en-IN" sz="1100" dirty="0"/>
              <a:t> Which unit coordinates the activities of the CPU?</a:t>
            </a:r>
            <a:br>
              <a:rPr lang="en-IN" sz="1100" dirty="0"/>
            </a:br>
            <a:r>
              <a:rPr lang="en-IN" sz="1100" dirty="0"/>
              <a:t>A. ALU</a:t>
            </a:r>
            <a:br>
              <a:rPr lang="en-IN" sz="1100" dirty="0"/>
            </a:br>
            <a:r>
              <a:rPr lang="en-IN" sz="1100" dirty="0"/>
              <a:t>B. Control Unit</a:t>
            </a:r>
            <a:br>
              <a:rPr lang="en-IN" sz="1100" dirty="0"/>
            </a:br>
            <a:r>
              <a:rPr lang="en-IN" sz="1100" dirty="0"/>
              <a:t>C. Output Unit</a:t>
            </a:r>
            <a:br>
              <a:rPr lang="en-IN" sz="1100" dirty="0"/>
            </a:br>
            <a:r>
              <a:rPr lang="en-IN" sz="1100" dirty="0"/>
              <a:t>D. Memory Unit</a:t>
            </a:r>
            <a:br>
              <a:rPr lang="en-IN" sz="1100" dirty="0"/>
            </a:br>
            <a:r>
              <a:rPr lang="en-IN" sz="1100" b="1" dirty="0"/>
              <a:t>Answer: B</a:t>
            </a:r>
            <a:endParaRPr lang="en-IN" sz="1100" dirty="0"/>
          </a:p>
          <a:p>
            <a:pPr>
              <a:buNone/>
            </a:pPr>
            <a:r>
              <a:rPr lang="en-IN" sz="1100" b="1" dirty="0"/>
              <a:t>4.</a:t>
            </a:r>
            <a:r>
              <a:rPr lang="en-IN" sz="1100" dirty="0"/>
              <a:t> The monitor is an example of:</a:t>
            </a:r>
            <a:br>
              <a:rPr lang="en-IN" sz="1100" dirty="0"/>
            </a:br>
            <a:r>
              <a:rPr lang="en-IN" sz="1100" dirty="0"/>
              <a:t>A. Input device</a:t>
            </a:r>
            <a:br>
              <a:rPr lang="en-IN" sz="1100" dirty="0"/>
            </a:br>
            <a:r>
              <a:rPr lang="en-IN" sz="1100" dirty="0"/>
              <a:t>B. Processing device</a:t>
            </a:r>
            <a:br>
              <a:rPr lang="en-IN" sz="1100" dirty="0"/>
            </a:br>
            <a:r>
              <a:rPr lang="en-IN" sz="1100" dirty="0"/>
              <a:t>C. Output device</a:t>
            </a:r>
            <a:br>
              <a:rPr lang="en-IN" sz="1100" dirty="0"/>
            </a:br>
            <a:r>
              <a:rPr lang="en-IN" sz="1100" dirty="0"/>
              <a:t>D. Storage device</a:t>
            </a:r>
            <a:br>
              <a:rPr lang="en-IN" sz="1100" dirty="0"/>
            </a:br>
            <a:r>
              <a:rPr lang="en-IN" sz="1100" b="1" dirty="0"/>
              <a:t>Answer: C</a:t>
            </a:r>
            <a:endParaRPr lang="en-IN" sz="1100" dirty="0"/>
          </a:p>
          <a:p>
            <a:pPr>
              <a:buNone/>
            </a:pPr>
            <a:r>
              <a:rPr lang="en-IN" sz="1100" b="1" dirty="0"/>
              <a:t>5.</a:t>
            </a:r>
            <a:r>
              <a:rPr lang="en-IN" sz="1100" dirty="0"/>
              <a:t> Which bus would carry the actual data being transferred between CPU and memory?</a:t>
            </a:r>
            <a:br>
              <a:rPr lang="en-IN" sz="1100" dirty="0"/>
            </a:br>
            <a:r>
              <a:rPr lang="en-IN" sz="1100" dirty="0"/>
              <a:t>A. Address bus</a:t>
            </a:r>
            <a:br>
              <a:rPr lang="en-IN" sz="1100" dirty="0"/>
            </a:br>
            <a:r>
              <a:rPr lang="en-IN" sz="1100" dirty="0"/>
              <a:t>B. Data bus</a:t>
            </a:r>
            <a:br>
              <a:rPr lang="en-IN" sz="1100" dirty="0"/>
            </a:br>
            <a:r>
              <a:rPr lang="en-IN" sz="1100" dirty="0"/>
              <a:t>C. Control bus</a:t>
            </a:r>
            <a:br>
              <a:rPr lang="en-IN" sz="1100" dirty="0"/>
            </a:br>
            <a:r>
              <a:rPr lang="en-IN" sz="1100" dirty="0"/>
              <a:t>D. Power bus</a:t>
            </a:r>
            <a:br>
              <a:rPr lang="en-IN" sz="1100" dirty="0"/>
            </a:br>
            <a:r>
              <a:rPr lang="en-IN" sz="1100" b="1" dirty="0"/>
              <a:t>Answer: B</a:t>
            </a:r>
            <a:endParaRPr lang="en-IN" sz="1100" dirty="0"/>
          </a:p>
        </p:txBody>
      </p:sp>
    </p:spTree>
    <p:extLst>
      <p:ext uri="{BB962C8B-B14F-4D97-AF65-F5344CB8AC3E}">
        <p14:creationId xmlns:p14="http://schemas.microsoft.com/office/powerpoint/2010/main" val="3960808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29DC05-284E-5466-D5C2-12E9EB19DFD6}"/>
              </a:ext>
            </a:extLst>
          </p:cNvPr>
          <p:cNvSpPr txBox="1"/>
          <p:nvPr/>
        </p:nvSpPr>
        <p:spPr>
          <a:xfrm>
            <a:off x="370840" y="967760"/>
            <a:ext cx="8402320" cy="5678478"/>
          </a:xfrm>
          <a:prstGeom prst="rect">
            <a:avLst/>
          </a:prstGeom>
          <a:noFill/>
        </p:spPr>
        <p:txBody>
          <a:bodyPr wrap="square">
            <a:spAutoFit/>
          </a:bodyPr>
          <a:lstStyle/>
          <a:p>
            <a:pPr>
              <a:buNone/>
            </a:pPr>
            <a:r>
              <a:rPr lang="en-IN" sz="1100" b="1" dirty="0"/>
              <a:t>Scenario 2: Hospital</a:t>
            </a:r>
          </a:p>
          <a:p>
            <a:pPr>
              <a:buNone/>
            </a:pPr>
            <a:r>
              <a:rPr lang="en-IN" sz="1100" dirty="0"/>
              <a:t>A hospital uses computers to maintain patient records, process medical information and display diagnostic reports. Doctors enter patient information and retrieve stored records when required.</a:t>
            </a:r>
          </a:p>
          <a:p>
            <a:pPr>
              <a:buNone/>
            </a:pPr>
            <a:r>
              <a:rPr lang="en-IN" sz="1100" b="1" dirty="0"/>
              <a:t>1.</a:t>
            </a:r>
            <a:r>
              <a:rPr lang="en-IN" sz="1100" dirty="0"/>
              <a:t> Patient information entered using a keyboard is initially handled by the:</a:t>
            </a:r>
            <a:br>
              <a:rPr lang="en-IN" sz="1100" dirty="0"/>
            </a:br>
            <a:r>
              <a:rPr lang="en-IN" sz="1100" dirty="0"/>
              <a:t>A. Input Unit</a:t>
            </a:r>
            <a:br>
              <a:rPr lang="en-IN" sz="1100" dirty="0"/>
            </a:br>
            <a:r>
              <a:rPr lang="en-IN" sz="1100" dirty="0"/>
              <a:t>B. Output Unit</a:t>
            </a:r>
            <a:br>
              <a:rPr lang="en-IN" sz="1100" dirty="0"/>
            </a:br>
            <a:r>
              <a:rPr lang="en-IN" sz="1100" dirty="0"/>
              <a:t>C. ALU</a:t>
            </a:r>
            <a:br>
              <a:rPr lang="en-IN" sz="1100" dirty="0"/>
            </a:br>
            <a:r>
              <a:rPr lang="en-IN" sz="1100" dirty="0"/>
              <a:t>D. Printer</a:t>
            </a:r>
            <a:br>
              <a:rPr lang="en-IN" sz="1100" dirty="0"/>
            </a:br>
            <a:r>
              <a:rPr lang="en-IN" sz="1100" b="1" dirty="0"/>
              <a:t>Answer: A</a:t>
            </a:r>
            <a:endParaRPr lang="en-IN" sz="1100" dirty="0"/>
          </a:p>
          <a:p>
            <a:pPr>
              <a:buNone/>
            </a:pPr>
            <a:r>
              <a:rPr lang="en-IN" sz="1100" b="1" dirty="0"/>
              <a:t>2.</a:t>
            </a:r>
            <a:r>
              <a:rPr lang="en-IN" sz="1100" dirty="0"/>
              <a:t> A diagnostic report displayed on a screen is an example of:</a:t>
            </a:r>
            <a:br>
              <a:rPr lang="en-IN" sz="1100" dirty="0"/>
            </a:br>
            <a:r>
              <a:rPr lang="en-IN" sz="1100" dirty="0"/>
              <a:t>A. Input</a:t>
            </a:r>
            <a:br>
              <a:rPr lang="en-IN" sz="1100" dirty="0"/>
            </a:br>
            <a:r>
              <a:rPr lang="en-IN" sz="1100" dirty="0"/>
              <a:t>B. Processing</a:t>
            </a:r>
            <a:br>
              <a:rPr lang="en-IN" sz="1100" dirty="0"/>
            </a:br>
            <a:r>
              <a:rPr lang="en-IN" sz="1100" dirty="0"/>
              <a:t>C. Output</a:t>
            </a:r>
            <a:br>
              <a:rPr lang="en-IN" sz="1100" dirty="0"/>
            </a:br>
            <a:r>
              <a:rPr lang="en-IN" sz="1100" dirty="0"/>
              <a:t>D. Addressing</a:t>
            </a:r>
            <a:br>
              <a:rPr lang="en-IN" sz="1100" dirty="0"/>
            </a:br>
            <a:r>
              <a:rPr lang="en-IN" sz="1100" b="1" dirty="0"/>
              <a:t>Answer: C</a:t>
            </a:r>
            <a:endParaRPr lang="en-IN" sz="1100" dirty="0"/>
          </a:p>
          <a:p>
            <a:pPr>
              <a:buNone/>
            </a:pPr>
            <a:r>
              <a:rPr lang="en-IN" sz="1100" b="1" dirty="0"/>
              <a:t>3.</a:t>
            </a:r>
            <a:r>
              <a:rPr lang="en-IN" sz="1100" dirty="0"/>
              <a:t> If the computer performs calculations on a patient's test results, which CPU component performs the calculations?</a:t>
            </a:r>
            <a:br>
              <a:rPr lang="en-IN" sz="1100" dirty="0"/>
            </a:br>
            <a:r>
              <a:rPr lang="en-IN" sz="1100" dirty="0"/>
              <a:t>A. Control Unit</a:t>
            </a:r>
            <a:br>
              <a:rPr lang="en-IN" sz="1100" dirty="0"/>
            </a:br>
            <a:r>
              <a:rPr lang="en-IN" sz="1100" dirty="0"/>
              <a:t>B. ALU</a:t>
            </a:r>
            <a:br>
              <a:rPr lang="en-IN" sz="1100" dirty="0"/>
            </a:br>
            <a:r>
              <a:rPr lang="en-IN" sz="1100" dirty="0"/>
              <a:t>C. Register</a:t>
            </a:r>
            <a:br>
              <a:rPr lang="en-IN" sz="1100" dirty="0"/>
            </a:br>
            <a:r>
              <a:rPr lang="en-IN" sz="1100" dirty="0"/>
              <a:t>D. Address Bus</a:t>
            </a:r>
            <a:br>
              <a:rPr lang="en-IN" sz="1100" dirty="0"/>
            </a:br>
            <a:r>
              <a:rPr lang="en-IN" sz="1100" b="1" dirty="0"/>
              <a:t>Answer: B</a:t>
            </a:r>
            <a:endParaRPr lang="en-IN" sz="1100" dirty="0"/>
          </a:p>
          <a:p>
            <a:pPr>
              <a:buNone/>
            </a:pPr>
            <a:r>
              <a:rPr lang="en-IN" sz="1100" b="1" dirty="0"/>
              <a:t>4.</a:t>
            </a:r>
            <a:r>
              <a:rPr lang="en-IN" sz="1100" dirty="0"/>
              <a:t> Which component stores instructions and data required during processing?</a:t>
            </a:r>
            <a:br>
              <a:rPr lang="en-IN" sz="1100" dirty="0"/>
            </a:br>
            <a:r>
              <a:rPr lang="en-IN" sz="1100" dirty="0"/>
              <a:t>A. Memory Unit</a:t>
            </a:r>
            <a:br>
              <a:rPr lang="en-IN" sz="1100" dirty="0"/>
            </a:br>
            <a:r>
              <a:rPr lang="en-IN" sz="1100" dirty="0"/>
              <a:t>B. Monitor</a:t>
            </a:r>
            <a:br>
              <a:rPr lang="en-IN" sz="1100" dirty="0"/>
            </a:br>
            <a:r>
              <a:rPr lang="en-IN" sz="1100" dirty="0"/>
              <a:t>C. Keyboard</a:t>
            </a:r>
            <a:br>
              <a:rPr lang="en-IN" sz="1100" dirty="0"/>
            </a:br>
            <a:r>
              <a:rPr lang="en-IN" sz="1100" dirty="0"/>
              <a:t>D. Printer</a:t>
            </a:r>
            <a:br>
              <a:rPr lang="en-IN" sz="1100" dirty="0"/>
            </a:br>
            <a:r>
              <a:rPr lang="en-IN" sz="1100" b="1" dirty="0"/>
              <a:t>Answer: A</a:t>
            </a:r>
            <a:endParaRPr lang="en-IN" sz="1100" dirty="0"/>
          </a:p>
          <a:p>
            <a:pPr>
              <a:buNone/>
            </a:pPr>
            <a:r>
              <a:rPr lang="en-IN" sz="1100" b="1" dirty="0"/>
              <a:t>5.</a:t>
            </a:r>
            <a:r>
              <a:rPr lang="en-IN" sz="1100" dirty="0"/>
              <a:t> Which CPU component directs other components to perform their required operations?</a:t>
            </a:r>
            <a:br>
              <a:rPr lang="en-IN" sz="1100" dirty="0"/>
            </a:br>
            <a:r>
              <a:rPr lang="en-IN" sz="1100" dirty="0"/>
              <a:t>A. ALU</a:t>
            </a:r>
            <a:br>
              <a:rPr lang="en-IN" sz="1100" dirty="0"/>
            </a:br>
            <a:r>
              <a:rPr lang="en-IN" sz="1100" dirty="0"/>
              <a:t>B. Control Unit</a:t>
            </a:r>
            <a:br>
              <a:rPr lang="en-IN" sz="1100" dirty="0"/>
            </a:br>
            <a:r>
              <a:rPr lang="en-IN" sz="1100" dirty="0"/>
              <a:t>C. Register</a:t>
            </a:r>
            <a:br>
              <a:rPr lang="en-IN" sz="1100" dirty="0"/>
            </a:br>
            <a:r>
              <a:rPr lang="en-IN" sz="1100" dirty="0"/>
              <a:t>D. Output Unit</a:t>
            </a:r>
            <a:br>
              <a:rPr lang="en-IN" sz="1100" dirty="0"/>
            </a:br>
            <a:r>
              <a:rPr lang="en-IN" sz="1100" b="1" dirty="0"/>
              <a:t>Answer: B</a:t>
            </a:r>
            <a:endParaRPr lang="en-IN" sz="1100" dirty="0"/>
          </a:p>
        </p:txBody>
      </p:sp>
    </p:spTree>
    <p:extLst>
      <p:ext uri="{BB962C8B-B14F-4D97-AF65-F5344CB8AC3E}">
        <p14:creationId xmlns:p14="http://schemas.microsoft.com/office/powerpoint/2010/main" val="1351335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854B56-6614-8F8F-A700-7D8589A512C7}"/>
              </a:ext>
            </a:extLst>
          </p:cNvPr>
          <p:cNvSpPr txBox="1"/>
          <p:nvPr/>
        </p:nvSpPr>
        <p:spPr>
          <a:xfrm>
            <a:off x="223520" y="318552"/>
            <a:ext cx="4572000" cy="307777"/>
          </a:xfrm>
          <a:prstGeom prst="rect">
            <a:avLst/>
          </a:prstGeom>
          <a:noFill/>
        </p:spPr>
        <p:txBody>
          <a:bodyPr wrap="square">
            <a:spAutoFit/>
          </a:bodyPr>
          <a:lstStyle/>
          <a:p>
            <a:pPr>
              <a:buNone/>
            </a:pPr>
            <a:r>
              <a:rPr lang="en-IN" b="1" dirty="0"/>
              <a:t>Section C — 5-Mark Linux Command-Based MCQs</a:t>
            </a:r>
          </a:p>
        </p:txBody>
      </p:sp>
      <p:sp>
        <p:nvSpPr>
          <p:cNvPr id="5" name="TextBox 4">
            <a:extLst>
              <a:ext uri="{FF2B5EF4-FFF2-40B4-BE49-F238E27FC236}">
                <a16:creationId xmlns:a16="http://schemas.microsoft.com/office/drawing/2014/main" id="{B77CA49A-1F58-1885-2EE4-52F4ACFD3D8A}"/>
              </a:ext>
            </a:extLst>
          </p:cNvPr>
          <p:cNvSpPr txBox="1"/>
          <p:nvPr/>
        </p:nvSpPr>
        <p:spPr>
          <a:xfrm>
            <a:off x="335280" y="1030248"/>
            <a:ext cx="8128000" cy="5509200"/>
          </a:xfrm>
          <a:prstGeom prst="rect">
            <a:avLst/>
          </a:prstGeom>
          <a:noFill/>
        </p:spPr>
        <p:txBody>
          <a:bodyPr wrap="square">
            <a:spAutoFit/>
          </a:bodyPr>
          <a:lstStyle/>
          <a:p>
            <a:pPr>
              <a:buNone/>
            </a:pPr>
            <a:r>
              <a:rPr lang="en-IN" sz="1100" b="1" dirty="0"/>
              <a:t>Scenario 1: Basic Linux File Management</a:t>
            </a:r>
          </a:p>
          <a:p>
            <a:pPr>
              <a:buNone/>
            </a:pPr>
            <a:r>
              <a:rPr lang="en-IN" sz="1100" dirty="0"/>
              <a:t>A student is working in a Linux terminal and wants to manage files and directories.</a:t>
            </a:r>
          </a:p>
          <a:p>
            <a:pPr>
              <a:buNone/>
            </a:pPr>
            <a:r>
              <a:rPr lang="en-IN" sz="1100" b="1" dirty="0"/>
              <a:t>1.</a:t>
            </a:r>
            <a:r>
              <a:rPr lang="en-IN" sz="1100" dirty="0"/>
              <a:t> Which command displays the files and directories in the current directory?</a:t>
            </a:r>
            <a:br>
              <a:rPr lang="en-IN" sz="1100" dirty="0"/>
            </a:br>
            <a:r>
              <a:rPr lang="en-IN" sz="1100" dirty="0"/>
              <a:t>A. </a:t>
            </a:r>
            <a:r>
              <a:rPr lang="en-IN" sz="1100" dirty="0" err="1">
                <a:latin typeface="Arial"/>
              </a:rPr>
              <a:t>pwd</a:t>
            </a:r>
            <a:br>
              <a:rPr lang="en-IN" sz="1100" dirty="0"/>
            </a:br>
            <a:r>
              <a:rPr lang="en-IN" sz="1100" dirty="0"/>
              <a:t>B. </a:t>
            </a:r>
            <a:r>
              <a:rPr lang="en-IN" sz="1100" dirty="0">
                <a:latin typeface="Arial"/>
              </a:rPr>
              <a:t>ls</a:t>
            </a:r>
            <a:br>
              <a:rPr lang="en-IN" sz="1100" dirty="0"/>
            </a:br>
            <a:r>
              <a:rPr lang="en-IN" sz="1100" dirty="0"/>
              <a:t>C. </a:t>
            </a:r>
            <a:r>
              <a:rPr lang="en-IN" sz="1100" dirty="0">
                <a:latin typeface="Arial"/>
              </a:rPr>
              <a:t>cd</a:t>
            </a:r>
            <a:br>
              <a:rPr lang="en-IN" sz="1100" dirty="0"/>
            </a:br>
            <a:r>
              <a:rPr lang="en-IN" sz="1100" dirty="0"/>
              <a:t>D. </a:t>
            </a:r>
            <a:r>
              <a:rPr lang="en-IN" sz="1100" dirty="0" err="1">
                <a:latin typeface="Arial"/>
              </a:rPr>
              <a:t>mkdir</a:t>
            </a:r>
            <a:br>
              <a:rPr lang="en-IN" sz="1100" dirty="0"/>
            </a:br>
            <a:r>
              <a:rPr lang="en-IN" sz="1100" b="1" dirty="0"/>
              <a:t>Answer: B</a:t>
            </a:r>
            <a:endParaRPr lang="en-IN" sz="1100" dirty="0"/>
          </a:p>
          <a:p>
            <a:pPr>
              <a:buNone/>
            </a:pPr>
            <a:r>
              <a:rPr lang="en-IN" sz="1100" b="1" dirty="0"/>
              <a:t>2.</a:t>
            </a:r>
            <a:r>
              <a:rPr lang="en-IN" sz="1100" dirty="0"/>
              <a:t> Which command displays the current working directory?</a:t>
            </a:r>
            <a:br>
              <a:rPr lang="en-IN" sz="1100" dirty="0"/>
            </a:br>
            <a:r>
              <a:rPr lang="en-IN" sz="1100" dirty="0"/>
              <a:t>A. </a:t>
            </a:r>
            <a:r>
              <a:rPr lang="en-IN" sz="1100" dirty="0">
                <a:latin typeface="Arial"/>
              </a:rPr>
              <a:t>ls</a:t>
            </a:r>
            <a:br>
              <a:rPr lang="en-IN" sz="1100" dirty="0"/>
            </a:br>
            <a:r>
              <a:rPr lang="en-IN" sz="1100" dirty="0"/>
              <a:t>B. </a:t>
            </a:r>
            <a:r>
              <a:rPr lang="en-IN" sz="1100" dirty="0">
                <a:latin typeface="Arial"/>
              </a:rPr>
              <a:t>cd</a:t>
            </a:r>
            <a:br>
              <a:rPr lang="en-IN" sz="1100" dirty="0"/>
            </a:br>
            <a:r>
              <a:rPr lang="en-IN" sz="1100" dirty="0"/>
              <a:t>C. </a:t>
            </a:r>
            <a:r>
              <a:rPr lang="en-IN" sz="1100" dirty="0" err="1">
                <a:latin typeface="Arial"/>
              </a:rPr>
              <a:t>pwd</a:t>
            </a:r>
            <a:br>
              <a:rPr lang="en-IN" sz="1100" dirty="0"/>
            </a:br>
            <a:r>
              <a:rPr lang="en-IN" sz="1100" dirty="0"/>
              <a:t>D. </a:t>
            </a:r>
            <a:r>
              <a:rPr lang="en-IN" sz="1100" dirty="0" err="1">
                <a:latin typeface="Arial"/>
              </a:rPr>
              <a:t>dir</a:t>
            </a:r>
            <a:br>
              <a:rPr lang="en-IN" sz="1100" dirty="0"/>
            </a:br>
            <a:r>
              <a:rPr lang="en-IN" sz="1100" b="1" dirty="0"/>
              <a:t>Answer: C</a:t>
            </a:r>
            <a:endParaRPr lang="en-IN" sz="1100" dirty="0"/>
          </a:p>
          <a:p>
            <a:pPr>
              <a:buNone/>
            </a:pPr>
            <a:r>
              <a:rPr lang="en-IN" sz="1100" b="1" dirty="0"/>
              <a:t>3.</a:t>
            </a:r>
            <a:r>
              <a:rPr lang="en-IN" sz="1100" dirty="0"/>
              <a:t> Which command is used to create a new directory named </a:t>
            </a:r>
            <a:r>
              <a:rPr lang="en-IN" sz="1100" dirty="0">
                <a:latin typeface="Arial"/>
              </a:rPr>
              <a:t>college</a:t>
            </a:r>
            <a:r>
              <a:rPr lang="en-IN" sz="1100" dirty="0"/>
              <a:t>?</a:t>
            </a:r>
            <a:br>
              <a:rPr lang="en-IN" sz="1100" dirty="0"/>
            </a:br>
            <a:r>
              <a:rPr lang="en-IN" sz="1100" dirty="0"/>
              <a:t>A. </a:t>
            </a:r>
            <a:r>
              <a:rPr lang="en-IN" sz="1100" dirty="0">
                <a:latin typeface="Arial"/>
              </a:rPr>
              <a:t>create college</a:t>
            </a:r>
            <a:br>
              <a:rPr lang="en-IN" sz="1100" dirty="0"/>
            </a:br>
            <a:r>
              <a:rPr lang="en-IN" sz="1100" dirty="0"/>
              <a:t>B. </a:t>
            </a:r>
            <a:r>
              <a:rPr lang="en-IN" sz="1100" dirty="0" err="1">
                <a:latin typeface="Arial"/>
              </a:rPr>
              <a:t>mkdir</a:t>
            </a:r>
            <a:r>
              <a:rPr lang="en-IN" sz="1100" dirty="0">
                <a:latin typeface="Arial"/>
              </a:rPr>
              <a:t> college</a:t>
            </a:r>
            <a:br>
              <a:rPr lang="en-IN" sz="1100" dirty="0"/>
            </a:br>
            <a:r>
              <a:rPr lang="en-IN" sz="1100" dirty="0"/>
              <a:t>C. </a:t>
            </a:r>
            <a:r>
              <a:rPr lang="en-IN" sz="1100" dirty="0">
                <a:latin typeface="Arial"/>
              </a:rPr>
              <a:t>md college</a:t>
            </a:r>
            <a:br>
              <a:rPr lang="en-IN" sz="1100" dirty="0"/>
            </a:br>
            <a:r>
              <a:rPr lang="en-IN" sz="1100" dirty="0"/>
              <a:t>D. </a:t>
            </a:r>
            <a:r>
              <a:rPr lang="en-IN" sz="1100" dirty="0">
                <a:latin typeface="Arial"/>
              </a:rPr>
              <a:t>new college</a:t>
            </a:r>
            <a:br>
              <a:rPr lang="en-IN" sz="1100" dirty="0"/>
            </a:br>
            <a:r>
              <a:rPr lang="en-IN" sz="1100" b="1" dirty="0"/>
              <a:t>Answer: B</a:t>
            </a:r>
            <a:endParaRPr lang="en-IN" sz="1100" dirty="0"/>
          </a:p>
          <a:p>
            <a:pPr>
              <a:buNone/>
            </a:pPr>
            <a:r>
              <a:rPr lang="en-IN" sz="1100" b="1" dirty="0"/>
              <a:t>4.</a:t>
            </a:r>
            <a:r>
              <a:rPr lang="en-IN" sz="1100" dirty="0"/>
              <a:t> Which command changes the current directory to </a:t>
            </a:r>
            <a:r>
              <a:rPr lang="en-IN" sz="1100" dirty="0">
                <a:latin typeface="Arial"/>
              </a:rPr>
              <a:t>college</a:t>
            </a:r>
            <a:r>
              <a:rPr lang="en-IN" sz="1100" dirty="0"/>
              <a:t>?</a:t>
            </a:r>
            <a:br>
              <a:rPr lang="en-IN" sz="1100" dirty="0"/>
            </a:br>
            <a:r>
              <a:rPr lang="en-IN" sz="1100" dirty="0"/>
              <a:t>A. </a:t>
            </a:r>
            <a:r>
              <a:rPr lang="en-IN" sz="1100" dirty="0">
                <a:latin typeface="Arial"/>
              </a:rPr>
              <a:t>move college</a:t>
            </a:r>
            <a:br>
              <a:rPr lang="en-IN" sz="1100" dirty="0"/>
            </a:br>
            <a:r>
              <a:rPr lang="en-IN" sz="1100" dirty="0"/>
              <a:t>B. </a:t>
            </a:r>
            <a:r>
              <a:rPr lang="en-IN" sz="1100" dirty="0">
                <a:latin typeface="Arial"/>
              </a:rPr>
              <a:t>cd college</a:t>
            </a:r>
            <a:br>
              <a:rPr lang="en-IN" sz="1100" dirty="0"/>
            </a:br>
            <a:r>
              <a:rPr lang="en-IN" sz="1100" dirty="0"/>
              <a:t>C. </a:t>
            </a:r>
            <a:r>
              <a:rPr lang="en-IN" sz="1100" dirty="0" err="1">
                <a:latin typeface="Arial"/>
              </a:rPr>
              <a:t>goto</a:t>
            </a:r>
            <a:r>
              <a:rPr lang="en-IN" sz="1100" dirty="0">
                <a:latin typeface="Arial"/>
              </a:rPr>
              <a:t> college</a:t>
            </a:r>
            <a:br>
              <a:rPr lang="en-IN" sz="1100" dirty="0"/>
            </a:br>
            <a:r>
              <a:rPr lang="en-IN" sz="1100" dirty="0"/>
              <a:t>D. </a:t>
            </a:r>
            <a:r>
              <a:rPr lang="en-IN" sz="1100" dirty="0">
                <a:latin typeface="Arial"/>
              </a:rPr>
              <a:t>open college</a:t>
            </a:r>
            <a:br>
              <a:rPr lang="en-IN" sz="1100" dirty="0"/>
            </a:br>
            <a:r>
              <a:rPr lang="en-IN" sz="1100" b="1" dirty="0"/>
              <a:t>Answer: B</a:t>
            </a:r>
            <a:endParaRPr lang="en-IN" sz="1100" dirty="0"/>
          </a:p>
          <a:p>
            <a:pPr>
              <a:buNone/>
            </a:pPr>
            <a:r>
              <a:rPr lang="en-IN" sz="1100" b="1" dirty="0"/>
              <a:t>5.</a:t>
            </a:r>
            <a:r>
              <a:rPr lang="en-IN" sz="1100" dirty="0"/>
              <a:t> Which command creates an empty file named </a:t>
            </a:r>
            <a:r>
              <a:rPr lang="en-IN" sz="1100" dirty="0">
                <a:latin typeface="Arial"/>
              </a:rPr>
              <a:t>notes.txt</a:t>
            </a:r>
            <a:r>
              <a:rPr lang="en-IN" sz="1100" dirty="0"/>
              <a:t>?</a:t>
            </a:r>
            <a:br>
              <a:rPr lang="en-IN" sz="1100" dirty="0"/>
            </a:br>
            <a:r>
              <a:rPr lang="en-IN" sz="1100" dirty="0"/>
              <a:t>A. </a:t>
            </a:r>
            <a:r>
              <a:rPr lang="en-IN" sz="1100" dirty="0">
                <a:latin typeface="Arial"/>
              </a:rPr>
              <a:t>make notes.txt</a:t>
            </a:r>
            <a:br>
              <a:rPr lang="en-IN" sz="1100" dirty="0"/>
            </a:br>
            <a:r>
              <a:rPr lang="en-IN" sz="1100" dirty="0"/>
              <a:t>B. </a:t>
            </a:r>
            <a:r>
              <a:rPr lang="en-IN" sz="1100" dirty="0">
                <a:latin typeface="Arial"/>
              </a:rPr>
              <a:t>touch notes.txt</a:t>
            </a:r>
            <a:br>
              <a:rPr lang="en-IN" sz="1100" dirty="0"/>
            </a:br>
            <a:r>
              <a:rPr lang="en-IN" sz="1100" dirty="0"/>
              <a:t>C. </a:t>
            </a:r>
            <a:r>
              <a:rPr lang="en-IN" sz="1100" dirty="0">
                <a:latin typeface="Arial"/>
              </a:rPr>
              <a:t>file notes.txt</a:t>
            </a:r>
            <a:br>
              <a:rPr lang="en-IN" sz="1100" dirty="0"/>
            </a:br>
            <a:r>
              <a:rPr lang="en-IN" sz="1100" dirty="0"/>
              <a:t>D. </a:t>
            </a:r>
            <a:r>
              <a:rPr lang="en-IN" sz="1100" dirty="0">
                <a:latin typeface="Arial"/>
              </a:rPr>
              <a:t>create notes.txt</a:t>
            </a:r>
            <a:br>
              <a:rPr lang="en-IN" sz="1100" dirty="0"/>
            </a:br>
            <a:r>
              <a:rPr lang="en-IN" sz="1100" b="1" dirty="0"/>
              <a:t>Answer: B</a:t>
            </a:r>
            <a:endParaRPr lang="en-IN" sz="1100" dirty="0"/>
          </a:p>
        </p:txBody>
      </p:sp>
    </p:spTree>
    <p:extLst>
      <p:ext uri="{BB962C8B-B14F-4D97-AF65-F5344CB8AC3E}">
        <p14:creationId xmlns:p14="http://schemas.microsoft.com/office/powerpoint/2010/main" val="1127108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DA070F-0EEA-4B01-4260-2F73A744FEFF}"/>
              </a:ext>
            </a:extLst>
          </p:cNvPr>
          <p:cNvSpPr txBox="1"/>
          <p:nvPr/>
        </p:nvSpPr>
        <p:spPr>
          <a:xfrm>
            <a:off x="416560" y="1083687"/>
            <a:ext cx="8056880" cy="5509200"/>
          </a:xfrm>
          <a:prstGeom prst="rect">
            <a:avLst/>
          </a:prstGeom>
          <a:noFill/>
        </p:spPr>
        <p:txBody>
          <a:bodyPr wrap="square">
            <a:spAutoFit/>
          </a:bodyPr>
          <a:lstStyle/>
          <a:p>
            <a:pPr>
              <a:buNone/>
            </a:pPr>
            <a:r>
              <a:rPr lang="en-IN" sz="1100" b="1" dirty="0"/>
              <a:t>Scenario 2: Viewing and Managing Files</a:t>
            </a:r>
          </a:p>
          <a:p>
            <a:pPr>
              <a:buNone/>
            </a:pPr>
            <a:r>
              <a:rPr lang="en-IN" sz="1100" dirty="0"/>
              <a:t>A user has created a file called </a:t>
            </a:r>
            <a:r>
              <a:rPr lang="en-IN" sz="1100" dirty="0">
                <a:latin typeface="Arial"/>
              </a:rPr>
              <a:t>report.txt</a:t>
            </a:r>
            <a:r>
              <a:rPr lang="en-IN" sz="1100" dirty="0"/>
              <a:t> and wants to examine and manage it.</a:t>
            </a:r>
          </a:p>
          <a:p>
            <a:pPr>
              <a:buNone/>
            </a:pPr>
            <a:r>
              <a:rPr lang="en-IN" sz="1100" b="1" dirty="0"/>
              <a:t>1.</a:t>
            </a:r>
            <a:r>
              <a:rPr lang="en-IN" sz="1100" dirty="0"/>
              <a:t> Which command displays the contents of </a:t>
            </a:r>
            <a:r>
              <a:rPr lang="en-IN" sz="1100" dirty="0">
                <a:latin typeface="Arial"/>
              </a:rPr>
              <a:t>report.txt</a:t>
            </a:r>
            <a:r>
              <a:rPr lang="en-IN" sz="1100" dirty="0"/>
              <a:t>?</a:t>
            </a:r>
            <a:br>
              <a:rPr lang="en-IN" sz="1100" dirty="0"/>
            </a:br>
            <a:r>
              <a:rPr lang="en-IN" sz="1100" dirty="0"/>
              <a:t>A. </a:t>
            </a:r>
            <a:r>
              <a:rPr lang="en-IN" sz="1100" dirty="0">
                <a:latin typeface="Arial"/>
              </a:rPr>
              <a:t>cat report.txt</a:t>
            </a:r>
            <a:br>
              <a:rPr lang="en-IN" sz="1100" dirty="0"/>
            </a:br>
            <a:r>
              <a:rPr lang="en-IN" sz="1100" dirty="0"/>
              <a:t>B. </a:t>
            </a:r>
            <a:r>
              <a:rPr lang="en-IN" sz="1100" dirty="0">
                <a:latin typeface="Arial"/>
              </a:rPr>
              <a:t>show report.txt</a:t>
            </a:r>
            <a:br>
              <a:rPr lang="en-IN" sz="1100" dirty="0"/>
            </a:br>
            <a:r>
              <a:rPr lang="en-IN" sz="1100" dirty="0"/>
              <a:t>C. </a:t>
            </a:r>
            <a:r>
              <a:rPr lang="en-IN" sz="1100" dirty="0" err="1">
                <a:latin typeface="Arial"/>
              </a:rPr>
              <a:t>viewfile</a:t>
            </a:r>
            <a:r>
              <a:rPr lang="en-IN" sz="1100" dirty="0">
                <a:latin typeface="Arial"/>
              </a:rPr>
              <a:t> report.txt</a:t>
            </a:r>
            <a:br>
              <a:rPr lang="en-IN" sz="1100" dirty="0"/>
            </a:br>
            <a:r>
              <a:rPr lang="en-IN" sz="1100" dirty="0"/>
              <a:t>D. </a:t>
            </a:r>
            <a:r>
              <a:rPr lang="en-IN" sz="1100" dirty="0">
                <a:latin typeface="Arial"/>
              </a:rPr>
              <a:t>display report.txt</a:t>
            </a:r>
            <a:br>
              <a:rPr lang="en-IN" sz="1100" dirty="0"/>
            </a:br>
            <a:r>
              <a:rPr lang="en-IN" sz="1100" b="1" dirty="0"/>
              <a:t>Answer: A</a:t>
            </a:r>
            <a:endParaRPr lang="en-IN" sz="1100" dirty="0"/>
          </a:p>
          <a:p>
            <a:pPr>
              <a:buNone/>
            </a:pPr>
            <a:r>
              <a:rPr lang="en-IN" sz="1100" b="1" dirty="0"/>
              <a:t>2.</a:t>
            </a:r>
            <a:r>
              <a:rPr lang="en-IN" sz="1100" dirty="0"/>
              <a:t> Which command copies </a:t>
            </a:r>
            <a:r>
              <a:rPr lang="en-IN" sz="1100" dirty="0">
                <a:latin typeface="Arial"/>
              </a:rPr>
              <a:t>report.txt</a:t>
            </a:r>
            <a:r>
              <a:rPr lang="en-IN" sz="1100" dirty="0"/>
              <a:t> to </a:t>
            </a:r>
            <a:r>
              <a:rPr lang="en-IN" sz="1100" dirty="0">
                <a:latin typeface="Arial"/>
              </a:rPr>
              <a:t>backup.txt</a:t>
            </a:r>
            <a:r>
              <a:rPr lang="en-IN" sz="1100" dirty="0"/>
              <a:t>?</a:t>
            </a:r>
            <a:br>
              <a:rPr lang="en-IN" sz="1100" dirty="0"/>
            </a:br>
            <a:r>
              <a:rPr lang="en-IN" sz="1100" dirty="0"/>
              <a:t>A. </a:t>
            </a:r>
            <a:r>
              <a:rPr lang="en-IN" sz="1100" dirty="0">
                <a:latin typeface="Arial"/>
              </a:rPr>
              <a:t>mv report.txt backup.txt</a:t>
            </a:r>
            <a:br>
              <a:rPr lang="en-IN" sz="1100" dirty="0"/>
            </a:br>
            <a:r>
              <a:rPr lang="en-IN" sz="1100" dirty="0"/>
              <a:t>B. </a:t>
            </a:r>
            <a:r>
              <a:rPr lang="en-IN" sz="1100" dirty="0">
                <a:latin typeface="Arial"/>
              </a:rPr>
              <a:t>cp report.txt backup.txt</a:t>
            </a:r>
            <a:br>
              <a:rPr lang="en-IN" sz="1100" dirty="0"/>
            </a:br>
            <a:r>
              <a:rPr lang="en-IN" sz="1100" dirty="0"/>
              <a:t>C. </a:t>
            </a:r>
            <a:r>
              <a:rPr lang="en-IN" sz="1100" dirty="0">
                <a:latin typeface="Arial"/>
              </a:rPr>
              <a:t>copy report.txt backup.txt</a:t>
            </a:r>
            <a:br>
              <a:rPr lang="en-IN" sz="1100" dirty="0"/>
            </a:br>
            <a:r>
              <a:rPr lang="en-IN" sz="1100" dirty="0"/>
              <a:t>D. </a:t>
            </a:r>
            <a:r>
              <a:rPr lang="en-IN" sz="1100" dirty="0">
                <a:latin typeface="Arial"/>
              </a:rPr>
              <a:t>duplicate report.txt backup.txt</a:t>
            </a:r>
            <a:br>
              <a:rPr lang="en-IN" sz="1100" dirty="0"/>
            </a:br>
            <a:r>
              <a:rPr lang="en-IN" sz="1100" b="1" dirty="0"/>
              <a:t>Answer: B</a:t>
            </a:r>
            <a:endParaRPr lang="en-IN" sz="1100" dirty="0"/>
          </a:p>
          <a:p>
            <a:pPr>
              <a:buNone/>
            </a:pPr>
            <a:r>
              <a:rPr lang="en-IN" sz="1100" b="1" dirty="0"/>
              <a:t>3.</a:t>
            </a:r>
            <a:r>
              <a:rPr lang="en-IN" sz="1100" dirty="0"/>
              <a:t> Which command renames </a:t>
            </a:r>
            <a:r>
              <a:rPr lang="en-IN" sz="1100" dirty="0">
                <a:latin typeface="Arial"/>
              </a:rPr>
              <a:t>report.txt</a:t>
            </a:r>
            <a:r>
              <a:rPr lang="en-IN" sz="1100" dirty="0"/>
              <a:t> as </a:t>
            </a:r>
            <a:r>
              <a:rPr lang="en-IN" sz="1100" dirty="0">
                <a:latin typeface="Arial"/>
              </a:rPr>
              <a:t>final.txt</a:t>
            </a:r>
            <a:r>
              <a:rPr lang="en-IN" sz="1100" dirty="0"/>
              <a:t>?</a:t>
            </a:r>
            <a:br>
              <a:rPr lang="en-IN" sz="1100" dirty="0"/>
            </a:br>
            <a:r>
              <a:rPr lang="en-IN" sz="1100" dirty="0"/>
              <a:t>A. </a:t>
            </a:r>
            <a:r>
              <a:rPr lang="en-IN" sz="1100" dirty="0">
                <a:latin typeface="Arial"/>
              </a:rPr>
              <a:t>cp report.txt final.txt</a:t>
            </a:r>
            <a:br>
              <a:rPr lang="en-IN" sz="1100" dirty="0"/>
            </a:br>
            <a:r>
              <a:rPr lang="en-IN" sz="1100" dirty="0"/>
              <a:t>B. </a:t>
            </a:r>
            <a:r>
              <a:rPr lang="en-IN" sz="1100" dirty="0">
                <a:latin typeface="Arial"/>
              </a:rPr>
              <a:t>mv report.txt final.txt</a:t>
            </a:r>
            <a:br>
              <a:rPr lang="en-IN" sz="1100" dirty="0"/>
            </a:br>
            <a:r>
              <a:rPr lang="en-IN" sz="1100" dirty="0"/>
              <a:t>C. </a:t>
            </a:r>
            <a:r>
              <a:rPr lang="en-IN" sz="1100" dirty="0" err="1">
                <a:latin typeface="Arial"/>
              </a:rPr>
              <a:t>rn</a:t>
            </a:r>
            <a:r>
              <a:rPr lang="en-IN" sz="1100" dirty="0">
                <a:latin typeface="Arial"/>
              </a:rPr>
              <a:t> report.txt final.txt</a:t>
            </a:r>
            <a:br>
              <a:rPr lang="en-IN" sz="1100" dirty="0"/>
            </a:br>
            <a:r>
              <a:rPr lang="en-IN" sz="1100" dirty="0"/>
              <a:t>D. </a:t>
            </a:r>
            <a:r>
              <a:rPr lang="en-IN" sz="1100" dirty="0" err="1">
                <a:latin typeface="Arial"/>
              </a:rPr>
              <a:t>renamefile</a:t>
            </a:r>
            <a:r>
              <a:rPr lang="en-IN" sz="1100" dirty="0">
                <a:latin typeface="Arial"/>
              </a:rPr>
              <a:t> report.txt final.txt</a:t>
            </a:r>
            <a:br>
              <a:rPr lang="en-IN" sz="1100" dirty="0"/>
            </a:br>
            <a:r>
              <a:rPr lang="en-IN" sz="1100" b="1" dirty="0"/>
              <a:t>Answer: B</a:t>
            </a:r>
            <a:endParaRPr lang="en-IN" sz="1100" dirty="0"/>
          </a:p>
          <a:p>
            <a:pPr>
              <a:buNone/>
            </a:pPr>
            <a:r>
              <a:rPr lang="en-IN" sz="1100" b="1" dirty="0"/>
              <a:t>4.</a:t>
            </a:r>
            <a:r>
              <a:rPr lang="en-IN" sz="1100" dirty="0"/>
              <a:t> Which command removes a file named </a:t>
            </a:r>
            <a:r>
              <a:rPr lang="en-IN" sz="1100" dirty="0">
                <a:latin typeface="Arial"/>
              </a:rPr>
              <a:t>old.txt</a:t>
            </a:r>
            <a:r>
              <a:rPr lang="en-IN" sz="1100" dirty="0"/>
              <a:t>?</a:t>
            </a:r>
            <a:br>
              <a:rPr lang="en-IN" sz="1100" dirty="0"/>
            </a:br>
            <a:r>
              <a:rPr lang="en-IN" sz="1100" dirty="0"/>
              <a:t>A. </a:t>
            </a:r>
            <a:r>
              <a:rPr lang="en-IN" sz="1100" dirty="0">
                <a:latin typeface="Arial"/>
              </a:rPr>
              <a:t>delete old.txt</a:t>
            </a:r>
            <a:br>
              <a:rPr lang="en-IN" sz="1100" dirty="0"/>
            </a:br>
            <a:r>
              <a:rPr lang="en-IN" sz="1100" dirty="0"/>
              <a:t>B. </a:t>
            </a:r>
            <a:r>
              <a:rPr lang="en-IN" sz="1100" dirty="0">
                <a:latin typeface="Arial"/>
              </a:rPr>
              <a:t>erase old.txt</a:t>
            </a:r>
            <a:br>
              <a:rPr lang="en-IN" sz="1100" dirty="0"/>
            </a:br>
            <a:r>
              <a:rPr lang="en-IN" sz="1100" dirty="0"/>
              <a:t>C. </a:t>
            </a:r>
            <a:r>
              <a:rPr lang="en-IN" sz="1100" dirty="0">
                <a:latin typeface="Arial"/>
              </a:rPr>
              <a:t>rm old.txt</a:t>
            </a:r>
            <a:br>
              <a:rPr lang="en-IN" sz="1100" dirty="0"/>
            </a:br>
            <a:r>
              <a:rPr lang="en-IN" sz="1100" dirty="0"/>
              <a:t>D. </a:t>
            </a:r>
            <a:r>
              <a:rPr lang="en-IN" sz="1100" dirty="0" err="1">
                <a:latin typeface="Arial"/>
              </a:rPr>
              <a:t>removefile</a:t>
            </a:r>
            <a:r>
              <a:rPr lang="en-IN" sz="1100" dirty="0">
                <a:latin typeface="Arial"/>
              </a:rPr>
              <a:t> old.txt</a:t>
            </a:r>
            <a:br>
              <a:rPr lang="en-IN" sz="1100" dirty="0"/>
            </a:br>
            <a:r>
              <a:rPr lang="en-IN" sz="1100" b="1" dirty="0"/>
              <a:t>Answer: C</a:t>
            </a:r>
            <a:endParaRPr lang="en-IN" sz="1100" dirty="0"/>
          </a:p>
          <a:p>
            <a:pPr>
              <a:buNone/>
            </a:pPr>
            <a:r>
              <a:rPr lang="en-IN" sz="1100" b="1" dirty="0"/>
              <a:t>5.</a:t>
            </a:r>
            <a:r>
              <a:rPr lang="en-IN" sz="1100" dirty="0"/>
              <a:t> Which command provides detailed information about files, including permissions and ownership?</a:t>
            </a:r>
            <a:br>
              <a:rPr lang="en-IN" sz="1100" dirty="0"/>
            </a:br>
            <a:r>
              <a:rPr lang="en-IN" sz="1100" dirty="0"/>
              <a:t>A. </a:t>
            </a:r>
            <a:r>
              <a:rPr lang="en-IN" sz="1100" dirty="0">
                <a:latin typeface="Arial"/>
              </a:rPr>
              <a:t>ls -l</a:t>
            </a:r>
            <a:br>
              <a:rPr lang="en-IN" sz="1100" dirty="0"/>
            </a:br>
            <a:r>
              <a:rPr lang="en-IN" sz="1100" dirty="0"/>
              <a:t>B. </a:t>
            </a:r>
            <a:r>
              <a:rPr lang="en-IN" sz="1100" dirty="0" err="1">
                <a:latin typeface="Arial"/>
              </a:rPr>
              <a:t>pwd</a:t>
            </a:r>
            <a:r>
              <a:rPr lang="en-IN" sz="1100" dirty="0">
                <a:latin typeface="Arial"/>
              </a:rPr>
              <a:t> -l</a:t>
            </a:r>
            <a:br>
              <a:rPr lang="en-IN" sz="1100" dirty="0"/>
            </a:br>
            <a:r>
              <a:rPr lang="en-IN" sz="1100" dirty="0"/>
              <a:t>C. </a:t>
            </a:r>
            <a:r>
              <a:rPr lang="en-IN" sz="1100" dirty="0">
                <a:latin typeface="Arial"/>
              </a:rPr>
              <a:t>cd -l</a:t>
            </a:r>
            <a:br>
              <a:rPr lang="en-IN" sz="1100" dirty="0"/>
            </a:br>
            <a:r>
              <a:rPr lang="en-IN" sz="1100" dirty="0"/>
              <a:t>D. </a:t>
            </a:r>
            <a:r>
              <a:rPr lang="en-IN" sz="1100" dirty="0">
                <a:latin typeface="Arial"/>
              </a:rPr>
              <a:t>file -l</a:t>
            </a:r>
            <a:br>
              <a:rPr lang="en-IN" sz="1100" dirty="0"/>
            </a:br>
            <a:r>
              <a:rPr lang="en-IN" sz="1100" b="1" dirty="0"/>
              <a:t>Answer: A</a:t>
            </a:r>
            <a:endParaRPr lang="en-IN" sz="1100" dirty="0"/>
          </a:p>
        </p:txBody>
      </p:sp>
    </p:spTree>
    <p:extLst>
      <p:ext uri="{BB962C8B-B14F-4D97-AF65-F5344CB8AC3E}">
        <p14:creationId xmlns:p14="http://schemas.microsoft.com/office/powerpoint/2010/main" val="3765842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9"/>
          <p:cNvSpPr txBox="1">
            <a:spLocks noGrp="1"/>
          </p:cNvSpPr>
          <p:nvPr>
            <p:ph type="subTitle" idx="1"/>
          </p:nvPr>
        </p:nvSpPr>
        <p:spPr>
          <a:xfrm>
            <a:off x="533400" y="2306320"/>
            <a:ext cx="8153400" cy="3789680"/>
          </a:xfrm>
          <a:prstGeom prst="rect">
            <a:avLst/>
          </a:prstGeom>
          <a:noFill/>
          <a:ln>
            <a:noFill/>
          </a:ln>
        </p:spPr>
        <p:txBody>
          <a:bodyPr spcFirstLastPara="1" wrap="square" lIns="91425" tIns="45700" rIns="91425" bIns="45700" anchor="t" anchorCtr="0">
            <a:noAutofit/>
          </a:bodyPr>
          <a:lstStyle/>
          <a:p>
            <a:pPr marL="457200" lvl="0" indent="-431800" algn="ctr" rtl="0">
              <a:lnSpc>
                <a:spcPct val="100000"/>
              </a:lnSpc>
              <a:spcBef>
                <a:spcPts val="640"/>
              </a:spcBef>
              <a:spcAft>
                <a:spcPts val="0"/>
              </a:spcAft>
              <a:buClr>
                <a:srgbClr val="888888"/>
              </a:buClr>
              <a:buSzPts val="3200"/>
              <a:buNone/>
            </a:pPr>
            <a:endParaRPr sz="4000" b="1">
              <a:solidFill>
                <a:schemeClr val="accent6"/>
              </a:solidFill>
            </a:endParaRPr>
          </a:p>
          <a:p>
            <a:pPr marL="457200" lvl="0" indent="-431800" algn="ctr" rtl="0">
              <a:lnSpc>
                <a:spcPct val="100000"/>
              </a:lnSpc>
              <a:spcBef>
                <a:spcPts val="640"/>
              </a:spcBef>
              <a:spcAft>
                <a:spcPts val="0"/>
              </a:spcAft>
              <a:buClr>
                <a:srgbClr val="888888"/>
              </a:buClr>
              <a:buSzPts val="3200"/>
              <a:buNone/>
            </a:pPr>
            <a:r>
              <a:rPr lang="en-US" sz="4000" b="1">
                <a:solidFill>
                  <a:schemeClr val="accent6"/>
                </a:solidFil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5534</Words>
  <Application>Microsoft Office PowerPoint</Application>
  <PresentationFormat>On-screen Show (4:3)</PresentationFormat>
  <Paragraphs>456</Paragraphs>
  <Slides>47</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Cambria</vt:lpstr>
      <vt:lpstr>Noto Sans Symbols</vt:lpstr>
      <vt:lpstr>Times New Roman</vt:lpstr>
      <vt:lpstr>Office Theme</vt:lpstr>
      <vt:lpstr>PowerPoint Presentation</vt:lpstr>
      <vt:lpstr>UNIT-1 -Introduction to Computers </vt:lpstr>
      <vt:lpstr>PowerPoint Presentation</vt:lpstr>
      <vt:lpstr>PowerPoint Presentation</vt:lpstr>
      <vt:lpstr>Characteristics of a computer</vt:lpstr>
      <vt:lpstr>PowerPoint Presentation</vt:lpstr>
      <vt:lpstr>PowerPoint Presentation</vt:lpstr>
      <vt:lpstr>PowerPoint Presentation</vt:lpstr>
      <vt:lpstr>Applications-Education</vt:lpstr>
      <vt:lpstr>Banking</vt:lpstr>
      <vt:lpstr>Healthcare</vt:lpstr>
      <vt:lpstr>Engineering</vt:lpstr>
      <vt:lpstr>PowerPoint Presentation</vt:lpstr>
      <vt:lpstr>PowerPoint Presentation</vt:lpstr>
      <vt:lpstr>Generation &amp; Description</vt:lpstr>
      <vt:lpstr>First Generation Computers</vt:lpstr>
      <vt:lpstr>PowerPoint Presentation</vt:lpstr>
      <vt:lpstr>Second Generation Computers</vt:lpstr>
      <vt:lpstr>PowerPoint Presentation</vt:lpstr>
      <vt:lpstr>Third Generation Computers</vt:lpstr>
      <vt:lpstr>PowerPoint Presentation</vt:lpstr>
      <vt:lpstr>Fourth Generation Computers</vt:lpstr>
      <vt:lpstr>PowerPoint Presentation</vt:lpstr>
      <vt:lpstr>Fifth Generation Computers</vt:lpstr>
      <vt:lpstr>PowerPoint Presentation</vt:lpstr>
      <vt:lpstr>Von Neumann Architecture</vt:lpstr>
      <vt:lpstr>VON NEUMANN vs HARVARD ARCHITECTURE</vt:lpstr>
      <vt:lpstr>Block Diagram of a Computer System</vt:lpstr>
      <vt:lpstr>Central Processing Unit (CPU)</vt:lpstr>
      <vt:lpstr>PowerPoint Presentation</vt:lpstr>
      <vt:lpstr>Input Devices</vt:lpstr>
      <vt:lpstr>Output Devices</vt:lpstr>
      <vt:lpstr>PowerPoint Presentation</vt:lpstr>
      <vt:lpstr>PowerPoint Presentation</vt:lpstr>
      <vt:lpstr>Computer Registers</vt:lpstr>
      <vt:lpstr>Computer Memory</vt:lpstr>
      <vt:lpstr>Primary Memory</vt:lpstr>
      <vt:lpstr>Secondary Memory</vt:lpstr>
      <vt:lpstr>SYSTEM Bus- Data, Address &amp; Control</vt:lpstr>
      <vt:lpstr>Continue..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TAJINDER KAUR</cp:lastModifiedBy>
  <cp:revision>1</cp:revision>
  <dcterms:created xsi:type="dcterms:W3CDTF">2010-04-09T07:36:00Z</dcterms:created>
  <dcterms:modified xsi:type="dcterms:W3CDTF">2026-09-03T06:12:25Z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E902465EB90644BEAC40B33CBD587F7A_13</vt:lpwstr>
  </property>
  <property fmtid="{D5CDD505-2E9C-101B-9397-08002B2CF9AE}" pid="3" name="KSOProductBuildVer">
    <vt:lpwstr>1033-12.2.0.17562</vt:lpwstr>
  </property>
</Properties>
</file>