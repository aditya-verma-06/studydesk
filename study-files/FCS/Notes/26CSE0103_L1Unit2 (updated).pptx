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3"/>
  </p:notesMasterIdLst>
  <p:sldIdLst>
    <p:sldId id="256" r:id="rId2"/>
    <p:sldId id="257" r:id="rId3"/>
    <p:sldId id="337" r:id="rId4"/>
    <p:sldId id="338" r:id="rId5"/>
    <p:sldId id="331" r:id="rId6"/>
    <p:sldId id="341" r:id="rId7"/>
    <p:sldId id="333" r:id="rId8"/>
    <p:sldId id="270" r:id="rId9"/>
    <p:sldId id="271" r:id="rId10"/>
    <p:sldId id="273" r:id="rId11"/>
    <p:sldId id="274" r:id="rId12"/>
    <p:sldId id="276" r:id="rId13"/>
    <p:sldId id="335" r:id="rId14"/>
    <p:sldId id="281" r:id="rId15"/>
    <p:sldId id="332" r:id="rId16"/>
    <p:sldId id="334" r:id="rId17"/>
    <p:sldId id="336" r:id="rId18"/>
    <p:sldId id="350" r:id="rId19"/>
    <p:sldId id="351" r:id="rId20"/>
    <p:sldId id="342" r:id="rId21"/>
    <p:sldId id="346" r:id="rId22"/>
    <p:sldId id="347" r:id="rId23"/>
    <p:sldId id="348" r:id="rId24"/>
    <p:sldId id="349" r:id="rId25"/>
    <p:sldId id="345" r:id="rId26"/>
    <p:sldId id="299" r:id="rId27"/>
    <p:sldId id="300" r:id="rId28"/>
    <p:sldId id="301" r:id="rId29"/>
    <p:sldId id="302" r:id="rId30"/>
    <p:sldId id="303" r:id="rId31"/>
    <p:sldId id="304" r:id="rId32"/>
    <p:sldId id="285" r:id="rId33"/>
    <p:sldId id="286" r:id="rId34"/>
    <p:sldId id="305" r:id="rId35"/>
    <p:sldId id="306" r:id="rId36"/>
    <p:sldId id="307" r:id="rId37"/>
    <p:sldId id="308" r:id="rId38"/>
    <p:sldId id="309" r:id="rId39"/>
    <p:sldId id="315" r:id="rId40"/>
    <p:sldId id="310" r:id="rId41"/>
    <p:sldId id="312" r:id="rId42"/>
    <p:sldId id="313" r:id="rId43"/>
    <p:sldId id="316" r:id="rId44"/>
    <p:sldId id="317" r:id="rId45"/>
    <p:sldId id="318" r:id="rId46"/>
    <p:sldId id="319" r:id="rId47"/>
    <p:sldId id="320" r:id="rId48"/>
    <p:sldId id="321" r:id="rId49"/>
    <p:sldId id="343" r:id="rId50"/>
    <p:sldId id="344" r:id="rId51"/>
    <p:sldId id="298" r:id="rId5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Y4BVn/cop8Biq/B1Ys7aNCcN+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snapToGrid="0">
      <p:cViewPr varScale="1">
        <p:scale>
          <a:sx n="75" d="100"/>
          <a:sy n="75" d="100"/>
        </p:scale>
        <p:origin x="1603"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4" name="Google Shape;4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1" name="Google Shape;5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5" name="Google Shape;135;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3" name="Google Shape;15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3" name="Google Shape;20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5" name="Google Shape;31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1" name="Google Shape;321;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7" name="Google Shape;327;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3" name="Google Shape;333;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9" name="Google Shape;339;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5" name="Google Shape;345;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8" name="Google Shape;228;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6398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4" name="Google Shape;234;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7267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7" name="Google Shape;357;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9" name="Google Shape;369;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5" name="Google Shape;375;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2" name="Google Shape;382;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4" name="Google Shape;394;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0" name="Google Shape;400;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6"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36"/>
          <p:cNvGrpSpPr/>
          <p:nvPr/>
        </p:nvGrpSpPr>
        <p:grpSpPr>
          <a:xfrm>
            <a:off x="6146800" y="0"/>
            <a:ext cx="2997200" cy="876300"/>
            <a:chOff x="6096000" y="3924300"/>
            <a:chExt cx="2997200" cy="876300"/>
          </a:xfrm>
        </p:grpSpPr>
        <p:sp>
          <p:nvSpPr>
            <p:cNvPr id="27" name="Google Shape;27;p3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36"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3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36"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3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3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37"/>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9" name="Google Shape;39;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3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35"/>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35"/>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35"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35"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35"/>
          <p:cNvGrpSpPr/>
          <p:nvPr/>
        </p:nvGrpSpPr>
        <p:grpSpPr>
          <a:xfrm>
            <a:off x="6146800" y="0"/>
            <a:ext cx="2997200" cy="876300"/>
            <a:chOff x="6096000" y="3924300"/>
            <a:chExt cx="2997200" cy="876300"/>
          </a:xfrm>
        </p:grpSpPr>
        <p:sp>
          <p:nvSpPr>
            <p:cNvPr id="20" name="Google Shape;20;p3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35"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3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35"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EWJnkEesic8?feature=oembed" TargetMode="External"/><Relationship Id="rId1" Type="http://schemas.openxmlformats.org/officeDocument/2006/relationships/video" Target="https://www.youtube.com/embed/0i1Ynk2WVGw?feature=oembed" TargetMode="External"/><Relationship Id="rId5" Type="http://schemas.openxmlformats.org/officeDocument/2006/relationships/image" Target="../media/image9.jpeg"/><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computer-organization-architecture/hard-disk-drive-hdd-secondary-memory/"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txBox="1"/>
          <p:nvPr/>
        </p:nvSpPr>
        <p:spPr>
          <a:xfrm>
            <a:off x="1219200" y="914400"/>
            <a:ext cx="6553200" cy="1981200"/>
          </a:xfrm>
          <a:prstGeom prst="rect">
            <a:avLst/>
          </a:prstGeom>
          <a:noFill/>
          <a:ln>
            <a:noFill/>
          </a:ln>
        </p:spPr>
        <p:txBody>
          <a:bodyPr spcFirstLastPara="1" wrap="square" lIns="91425" tIns="33100" rIns="91425" bIns="45700" anchor="ctr" anchorCtr="0">
            <a:noAutofit/>
          </a:bodyPr>
          <a:lstStyle/>
          <a:p>
            <a:pPr lvl="0" algn="ctr"/>
            <a:r>
              <a:rPr lang="en-US" sz="2800" b="1" dirty="0">
                <a:latin typeface="Times New Roman"/>
                <a:ea typeface="Times New Roman"/>
                <a:cs typeface="Times New Roman"/>
                <a:sym typeface="Times New Roman"/>
              </a:rPr>
              <a:t>Foundations of Computer Science (26CSE0103)</a:t>
            </a:r>
            <a:endParaRPr lang="en-US" sz="3200" b="1" dirty="0">
              <a:solidFill>
                <a:srgbClr val="3A30FA"/>
              </a:solidFill>
              <a:latin typeface="Calibri"/>
              <a:ea typeface="Calibri"/>
              <a:cs typeface="Calibri"/>
              <a:sym typeface="Calibri"/>
            </a:endParaRPr>
          </a:p>
        </p:txBody>
      </p:sp>
      <p:sp>
        <p:nvSpPr>
          <p:cNvPr id="47" name="Google Shape;47;p1"/>
          <p:cNvSpPr txBox="1"/>
          <p:nvPr/>
        </p:nvSpPr>
        <p:spPr>
          <a:xfrm>
            <a:off x="2318999" y="3530300"/>
            <a:ext cx="4406265" cy="1107955"/>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200"/>
              <a:buFont typeface="Arial"/>
              <a:buNone/>
            </a:pPr>
            <a:r>
              <a:rPr lang="en-US" sz="2200" b="1" i="0" u="none" strike="noStrike" cap="none" dirty="0">
                <a:solidFill>
                  <a:schemeClr val="dk1"/>
                </a:solidFill>
                <a:latin typeface="Times New Roman"/>
                <a:ea typeface="Times New Roman"/>
                <a:cs typeface="Times New Roman"/>
                <a:sym typeface="Times New Roman"/>
              </a:rPr>
              <a:t>Prepared By: Dr. Tajinder Kaur</a:t>
            </a:r>
            <a:endParaRPr sz="22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2200"/>
              <a:buFont typeface="Arial"/>
              <a:buNone/>
            </a:pPr>
            <a:endParaRPr sz="2200" b="1" i="0" u="none" strike="noStrike" cap="none" dirty="0">
              <a:solidFill>
                <a:schemeClr val="dk1"/>
              </a:solidFill>
              <a:latin typeface="Times New Roman"/>
              <a:ea typeface="Times New Roman"/>
              <a:cs typeface="Times New Roman"/>
              <a:sym typeface="Times New Roman"/>
            </a:endParaRPr>
          </a:p>
        </p:txBody>
      </p:sp>
      <p:sp>
        <p:nvSpPr>
          <p:cNvPr id="48" name="Google Shape;48;p1"/>
          <p:cNvSpPr txBox="1"/>
          <p:nvPr/>
        </p:nvSpPr>
        <p:spPr>
          <a:xfrm>
            <a:off x="1731675" y="5609050"/>
            <a:ext cx="61512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Institute of Engineering and Technology,</a:t>
            </a:r>
            <a:endParaRPr sz="1800" b="1" i="0"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Punjab</a:t>
            </a:r>
            <a:endParaRPr sz="18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4" name="Google Shape;54;p12"/>
          <p:cNvSpPr txBox="1"/>
          <p:nvPr/>
        </p:nvSpPr>
        <p:spPr>
          <a:xfrm>
            <a:off x="167148" y="115669"/>
            <a:ext cx="4739149" cy="5539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Contents</a:t>
            </a:r>
            <a:endParaRPr sz="3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2" name="Title 1">
            <a:extLst>
              <a:ext uri="{FF2B5EF4-FFF2-40B4-BE49-F238E27FC236}">
                <a16:creationId xmlns:a16="http://schemas.microsoft.com/office/drawing/2014/main" id="{D5FD6C28-F953-9872-EFC3-7D7FF1EB3531}"/>
              </a:ext>
            </a:extLst>
          </p:cNvPr>
          <p:cNvSpPr>
            <a:spLocks noGrp="1"/>
          </p:cNvSpPr>
          <p:nvPr>
            <p:ph type="ctrTitle"/>
          </p:nvPr>
        </p:nvSpPr>
        <p:spPr>
          <a:xfrm>
            <a:off x="167147" y="1351935"/>
            <a:ext cx="6858685" cy="1023682"/>
          </a:xfrm>
        </p:spPr>
        <p:txBody>
          <a:bodyPr>
            <a:normAutofit/>
          </a:bodyPr>
          <a:lstStyle/>
          <a:p>
            <a:pPr algn="l"/>
            <a: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t>UNIT-2 -</a:t>
            </a:r>
            <a:r>
              <a:rPr lang="en-IN" sz="2400" b="1" dirty="0"/>
              <a:t>Memory Hierarchy and Classification</a:t>
            </a:r>
            <a:b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681382FE-EF81-1FDB-1AFA-88AD8AEBA719}"/>
              </a:ext>
            </a:extLst>
          </p:cNvPr>
          <p:cNvSpPr>
            <a:spLocks noGrp="1"/>
          </p:cNvSpPr>
          <p:nvPr>
            <p:ph type="subTitle" idx="1"/>
          </p:nvPr>
        </p:nvSpPr>
        <p:spPr>
          <a:xfrm>
            <a:off x="442451" y="2001867"/>
            <a:ext cx="7718323" cy="4248462"/>
          </a:xfrm>
        </p:spPr>
        <p:txBody>
          <a:bodyPr>
            <a:normAutofit/>
          </a:bodyPr>
          <a:lstStyle/>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Memory layers from registers to hard disk</a:t>
            </a:r>
          </a:p>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Volatile vs non-volatile memory; </a:t>
            </a:r>
          </a:p>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RAM types (SRAM, DRAM) and ROM types (PROM, EPROM, EEPROM). </a:t>
            </a:r>
          </a:p>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Secondary Storage Ecosystems: Structural mechanics, magnetic storage (HDDs) vs. solid-state technology (SSDs, </a:t>
            </a:r>
            <a:r>
              <a:rPr lang="en-IN" sz="2400" dirty="0" err="1">
                <a:solidFill>
                  <a:schemeClr val="tx1"/>
                </a:solidFill>
              </a:rPr>
              <a:t>NVMe</a:t>
            </a:r>
            <a:r>
              <a:rPr lang="en-IN" sz="2400" dirty="0">
                <a:solidFill>
                  <a:schemeClr val="tx1"/>
                </a:solidFill>
              </a:rPr>
              <a:t>), flash media.</a:t>
            </a:r>
          </a:p>
          <a:p>
            <a:pPr algn="just">
              <a:lnSpc>
                <a:spcPct val="150000"/>
              </a:lnSpc>
              <a:buFont typeface="Wingdings" panose="05000000000000000000" pitchFamily="2" charset="2"/>
              <a:buChar char="§"/>
            </a:pPr>
            <a:endPar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D49D-9D0D-5D38-C01C-CA3E5C884E9C}"/>
              </a:ext>
            </a:extLst>
          </p:cNvPr>
          <p:cNvSpPr>
            <a:spLocks noGrp="1"/>
          </p:cNvSpPr>
          <p:nvPr>
            <p:ph type="ctrTitle"/>
          </p:nvPr>
        </p:nvSpPr>
        <p:spPr>
          <a:xfrm>
            <a:off x="138896" y="1"/>
            <a:ext cx="5833642" cy="914400"/>
          </a:xfrm>
        </p:spPr>
        <p:txBody>
          <a:bodyPr/>
          <a:lstStyle/>
          <a:p>
            <a:r>
              <a:rPr lang="en-IN" sz="2400" b="1" dirty="0"/>
              <a:t>Introduction to Memory and Memory Units</a:t>
            </a:r>
            <a:endParaRPr lang="en-IN" sz="2400" dirty="0"/>
          </a:p>
        </p:txBody>
      </p:sp>
      <p:sp>
        <p:nvSpPr>
          <p:cNvPr id="3" name="Subtitle 2">
            <a:extLst>
              <a:ext uri="{FF2B5EF4-FFF2-40B4-BE49-F238E27FC236}">
                <a16:creationId xmlns:a16="http://schemas.microsoft.com/office/drawing/2014/main" id="{7ECAFD6D-2115-6F02-81F6-F2EE00F6E9FA}"/>
              </a:ext>
            </a:extLst>
          </p:cNvPr>
          <p:cNvSpPr>
            <a:spLocks noGrp="1"/>
          </p:cNvSpPr>
          <p:nvPr>
            <p:ph type="subTitle" idx="1"/>
          </p:nvPr>
        </p:nvSpPr>
        <p:spPr>
          <a:xfrm>
            <a:off x="533400" y="914401"/>
            <a:ext cx="8153400" cy="2372809"/>
          </a:xfrm>
        </p:spPr>
        <p:txBody>
          <a:bodyPr/>
          <a:lstStyle/>
          <a:p>
            <a:pPr marL="173038" indent="-147638" algn="just"/>
            <a:r>
              <a:rPr lang="en-IN" sz="1800" dirty="0">
                <a:solidFill>
                  <a:schemeClr val="tx1"/>
                </a:solidFill>
              </a:rPr>
              <a:t>Memory is an essential component of a computer system, responsible for storing data and instructions needed for processing. It enables the CPU to execute programs efficiently and ensures that the system operates properly. </a:t>
            </a:r>
          </a:p>
          <a:p>
            <a:pPr marL="173038" lvl="0" indent="-147638" algn="just"/>
            <a:r>
              <a:rPr lang="en-IN" sz="1800" b="1" dirty="0">
                <a:solidFill>
                  <a:schemeClr val="tx1"/>
                </a:solidFill>
              </a:rPr>
              <a:t>Memory Cell:</a:t>
            </a:r>
            <a:r>
              <a:rPr lang="en-IN" sz="1800" dirty="0">
                <a:solidFill>
                  <a:schemeClr val="tx1"/>
                </a:solidFill>
              </a:rPr>
              <a:t> The smallest storage unit that holds 1 bit of data. Each address in memory typically refers to a byte.</a:t>
            </a:r>
          </a:p>
          <a:p>
            <a:pPr lvl="0" algn="just"/>
            <a:r>
              <a:rPr lang="en-IN" sz="1800" b="1" dirty="0">
                <a:solidFill>
                  <a:schemeClr val="tx1"/>
                </a:solidFill>
              </a:rPr>
              <a:t>Word &amp; Byte:</a:t>
            </a:r>
            <a:r>
              <a:rPr lang="en-IN" sz="1800" dirty="0">
                <a:solidFill>
                  <a:schemeClr val="tx1"/>
                </a:solidFill>
              </a:rPr>
              <a:t> A word is a group of bits; 1 byte = 8 bits.</a:t>
            </a:r>
          </a:p>
          <a:p>
            <a:pPr lvl="0" algn="just"/>
            <a:r>
              <a:rPr lang="en-IN" sz="1800" b="1" dirty="0">
                <a:solidFill>
                  <a:schemeClr val="tx1"/>
                </a:solidFill>
              </a:rPr>
              <a:t>Capacity</a:t>
            </a:r>
            <a:r>
              <a:rPr lang="en-IN" sz="1800" dirty="0">
                <a:solidFill>
                  <a:schemeClr val="tx1"/>
                </a:solidFill>
              </a:rPr>
              <a:t>: Total number of bits a memory can hold.</a:t>
            </a:r>
          </a:p>
          <a:p>
            <a:pPr algn="just"/>
            <a:endParaRPr lang="en-IN" sz="1800" dirty="0">
              <a:solidFill>
                <a:schemeClr val="tx1"/>
              </a:solidFill>
            </a:endParaRPr>
          </a:p>
        </p:txBody>
      </p:sp>
      <p:pic>
        <p:nvPicPr>
          <p:cNvPr id="5" name="Picture 4">
            <a:extLst>
              <a:ext uri="{FF2B5EF4-FFF2-40B4-BE49-F238E27FC236}">
                <a16:creationId xmlns:a16="http://schemas.microsoft.com/office/drawing/2014/main" id="{EF06FA08-255A-7BB8-F839-E1E4AC17008C}"/>
              </a:ext>
            </a:extLst>
          </p:cNvPr>
          <p:cNvPicPr>
            <a:picLocks noChangeAspect="1"/>
          </p:cNvPicPr>
          <p:nvPr/>
        </p:nvPicPr>
        <p:blipFill>
          <a:blip r:embed="rId2"/>
          <a:stretch>
            <a:fillRect/>
          </a:stretch>
        </p:blipFill>
        <p:spPr>
          <a:xfrm>
            <a:off x="1990845" y="3287210"/>
            <a:ext cx="6006296" cy="3003148"/>
          </a:xfrm>
          <a:prstGeom prst="rect">
            <a:avLst/>
          </a:prstGeom>
        </p:spPr>
      </p:pic>
    </p:spTree>
    <p:extLst>
      <p:ext uri="{BB962C8B-B14F-4D97-AF65-F5344CB8AC3E}">
        <p14:creationId xmlns:p14="http://schemas.microsoft.com/office/powerpoint/2010/main" val="256841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6B4C3-A141-9E12-42ED-4D7DDD434C0C}"/>
              </a:ext>
            </a:extLst>
          </p:cNvPr>
          <p:cNvSpPr>
            <a:spLocks noGrp="1"/>
          </p:cNvSpPr>
          <p:nvPr>
            <p:ph type="ctrTitle"/>
          </p:nvPr>
        </p:nvSpPr>
        <p:spPr/>
        <p:txBody>
          <a:bodyPr/>
          <a:lstStyle/>
          <a:p>
            <a:r>
              <a:rPr lang="en-IN" b="1" dirty="0"/>
              <a:t>Memory Unit</a:t>
            </a:r>
            <a:endParaRPr lang="en-IN" dirty="0"/>
          </a:p>
        </p:txBody>
      </p:sp>
      <p:sp>
        <p:nvSpPr>
          <p:cNvPr id="5" name="TextBox 4">
            <a:extLst>
              <a:ext uri="{FF2B5EF4-FFF2-40B4-BE49-F238E27FC236}">
                <a16:creationId xmlns:a16="http://schemas.microsoft.com/office/drawing/2014/main" id="{2533705C-615F-2635-C8F2-7DE4C9CAE071}"/>
              </a:ext>
            </a:extLst>
          </p:cNvPr>
          <p:cNvSpPr txBox="1"/>
          <p:nvPr/>
        </p:nvSpPr>
        <p:spPr>
          <a:xfrm>
            <a:off x="601883" y="1065670"/>
            <a:ext cx="7940233" cy="4031873"/>
          </a:xfrm>
          <a:prstGeom prst="rect">
            <a:avLst/>
          </a:prstGeom>
          <a:noFill/>
        </p:spPr>
        <p:txBody>
          <a:bodyPr wrap="square">
            <a:spAutoFit/>
          </a:bodyPr>
          <a:lstStyle/>
          <a:p>
            <a:pPr algn="just" rtl="0">
              <a:spcBef>
                <a:spcPts val="600"/>
              </a:spcBef>
              <a:spcAft>
                <a:spcPts val="600"/>
              </a:spcAft>
              <a:buNone/>
            </a:pPr>
            <a:r>
              <a:rPr lang="en-IN" sz="1800" dirty="0"/>
              <a:t>A memory unit is a standard unit used to measure the amount of data that can be stored, processed, or transferred in a computer system. It represents the storage capacity of memory and storage devices.</a:t>
            </a:r>
          </a:p>
          <a:p>
            <a:pPr marL="342900" lvl="0" indent="-342900" algn="just">
              <a:spcBef>
                <a:spcPts val="600"/>
              </a:spcBef>
              <a:spcAft>
                <a:spcPts val="600"/>
              </a:spcAft>
              <a:buFont typeface="Arial" panose="020B0604020202020204" pitchFamily="34" charset="0"/>
              <a:buChar char="•"/>
            </a:pPr>
            <a:r>
              <a:rPr lang="en-IN" sz="1800" dirty="0"/>
              <a:t>The smallest memory unit is a Bit (0 or 1) and larger units are KB, MB, GB, TB, PB, EB, ZB, and YB. </a:t>
            </a:r>
          </a:p>
          <a:p>
            <a:pPr marL="342900" lvl="0" indent="-342900" algn="just">
              <a:spcBef>
                <a:spcPts val="600"/>
              </a:spcBef>
              <a:spcAft>
                <a:spcPts val="600"/>
              </a:spcAft>
              <a:buFont typeface="Arial" panose="020B0604020202020204" pitchFamily="34" charset="0"/>
              <a:buChar char="•"/>
            </a:pPr>
            <a:r>
              <a:rPr lang="en-IN" sz="1800" dirty="0"/>
              <a:t>A </a:t>
            </a:r>
            <a:r>
              <a:rPr lang="en-IN" sz="1800" b="1" dirty="0"/>
              <a:t>Byte is the basic unit of storage </a:t>
            </a:r>
            <a:r>
              <a:rPr lang="en-IN" sz="1800" dirty="0"/>
              <a:t>and equals 8 bits. </a:t>
            </a:r>
          </a:p>
          <a:p>
            <a:pPr marL="342900" lvl="0" indent="-342900" algn="just">
              <a:spcBef>
                <a:spcPts val="600"/>
              </a:spcBef>
              <a:spcAft>
                <a:spcPts val="600"/>
              </a:spcAft>
              <a:buFont typeface="Arial" panose="020B0604020202020204" pitchFamily="34" charset="0"/>
              <a:buChar char="•"/>
            </a:pPr>
            <a:r>
              <a:rPr lang="en-IN" sz="1800" dirty="0"/>
              <a:t>Memory units are used to measure file sizes, RAM capacity, and storage device capacity. </a:t>
            </a:r>
          </a:p>
          <a:p>
            <a:pPr marL="342900" lvl="0" indent="-342900" algn="just">
              <a:buFont typeface="Arial" panose="020B0604020202020204" pitchFamily="34" charset="0"/>
              <a:buChar char="•"/>
            </a:pPr>
            <a:r>
              <a:rPr lang="en-IN" sz="1800" dirty="0"/>
              <a:t>Computers use the binary number system, so memory units are typically based on powers of 2 (1024). </a:t>
            </a:r>
          </a:p>
          <a:p>
            <a:pPr marL="342900" lvl="0" indent="-342900" algn="just">
              <a:spcBef>
                <a:spcPts val="600"/>
              </a:spcBef>
              <a:spcAft>
                <a:spcPts val="600"/>
              </a:spcAft>
              <a:buFont typeface="Arial" panose="020B0604020202020204" pitchFamily="34" charset="0"/>
              <a:buChar char="•"/>
            </a:pPr>
            <a:r>
              <a:rPr lang="en-IN" sz="1800" b="1" dirty="0"/>
              <a:t>Example:</a:t>
            </a:r>
            <a:r>
              <a:rPr lang="en-IN" sz="1800" dirty="0"/>
              <a:t> A computer with 8 GB RAM can store approximately 8 gigabytes of data in its main memory.</a:t>
            </a:r>
          </a:p>
        </p:txBody>
      </p:sp>
    </p:spTree>
    <p:extLst>
      <p:ext uri="{BB962C8B-B14F-4D97-AF65-F5344CB8AC3E}">
        <p14:creationId xmlns:p14="http://schemas.microsoft.com/office/powerpoint/2010/main" val="1168813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Google Shape;59;p13"/>
          <p:cNvSpPr txBox="1">
            <a:spLocks/>
          </p:cNvSpPr>
          <p:nvPr/>
        </p:nvSpPr>
        <p:spPr>
          <a:xfrm>
            <a:off x="-1" y="0"/>
            <a:ext cx="6782765" cy="9144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algn="l"/>
            <a:r>
              <a:rPr lang="en-IN" sz="2800" b="1" dirty="0"/>
              <a:t>Memory layers from registers to hard disk</a:t>
            </a:r>
            <a:endParaRPr lang="en-IN" sz="2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6AEF1A9C-7B09-DB15-4A9D-B7EA844BCE45}"/>
              </a:ext>
            </a:extLst>
          </p:cNvPr>
          <p:cNvPicPr>
            <a:picLocks noChangeAspect="1"/>
          </p:cNvPicPr>
          <p:nvPr/>
        </p:nvPicPr>
        <p:blipFill>
          <a:blip r:embed="rId2"/>
          <a:stretch>
            <a:fillRect/>
          </a:stretch>
        </p:blipFill>
        <p:spPr>
          <a:xfrm>
            <a:off x="40512" y="1524000"/>
            <a:ext cx="9103488" cy="4551744"/>
          </a:xfrm>
          <a:prstGeom prst="rect">
            <a:avLst/>
          </a:prstGeom>
        </p:spPr>
      </p:pic>
    </p:spTree>
    <p:extLst>
      <p:ext uri="{BB962C8B-B14F-4D97-AF65-F5344CB8AC3E}">
        <p14:creationId xmlns:p14="http://schemas.microsoft.com/office/powerpoint/2010/main" val="258597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A71D4-6FC3-D9C7-FF1F-807CEBD78DFF}"/>
              </a:ext>
            </a:extLst>
          </p:cNvPr>
          <p:cNvSpPr>
            <a:spLocks noGrp="1"/>
          </p:cNvSpPr>
          <p:nvPr>
            <p:ph type="ctrTitle"/>
          </p:nvPr>
        </p:nvSpPr>
        <p:spPr>
          <a:xfrm>
            <a:off x="0" y="1"/>
            <a:ext cx="6713316" cy="914400"/>
          </a:xfrm>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Volatile and Non-Volatile Memory</a:t>
            </a:r>
            <a:endParaRPr lang="en-IN"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DF18BAD1-3104-99E0-1537-32F677BFF75D}"/>
              </a:ext>
            </a:extLst>
          </p:cNvPr>
          <p:cNvGraphicFramePr>
            <a:graphicFrameLocks noGrp="1"/>
          </p:cNvGraphicFramePr>
          <p:nvPr>
            <p:extLst>
              <p:ext uri="{D42A27DB-BD31-4B8C-83A1-F6EECF244321}">
                <p14:modId xmlns:p14="http://schemas.microsoft.com/office/powerpoint/2010/main" val="4006199930"/>
              </p:ext>
            </p:extLst>
          </p:nvPr>
        </p:nvGraphicFramePr>
        <p:xfrm>
          <a:off x="457200" y="1144933"/>
          <a:ext cx="8374284" cy="2651760"/>
        </p:xfrm>
        <a:graphic>
          <a:graphicData uri="http://schemas.openxmlformats.org/drawingml/2006/table">
            <a:tbl>
              <a:tblPr>
                <a:tableStyleId>{69C7853C-536D-4A76-A0AE-DD22124D55A5}</a:tableStyleId>
              </a:tblPr>
              <a:tblGrid>
                <a:gridCol w="4187142">
                  <a:extLst>
                    <a:ext uri="{9D8B030D-6E8A-4147-A177-3AD203B41FA5}">
                      <a16:colId xmlns:a16="http://schemas.microsoft.com/office/drawing/2014/main" val="1687258743"/>
                    </a:ext>
                  </a:extLst>
                </a:gridCol>
                <a:gridCol w="4187142">
                  <a:extLst>
                    <a:ext uri="{9D8B030D-6E8A-4147-A177-3AD203B41FA5}">
                      <a16:colId xmlns:a16="http://schemas.microsoft.com/office/drawing/2014/main" val="3065901791"/>
                    </a:ext>
                  </a:extLst>
                </a:gridCol>
              </a:tblGrid>
              <a:tr h="0">
                <a:tc>
                  <a:txBody>
                    <a:bodyPr/>
                    <a:lstStyle/>
                    <a:p>
                      <a:pPr>
                        <a:buNone/>
                      </a:pPr>
                      <a:r>
                        <a:rPr lang="en-IN" sz="1600" b="1" dirty="0"/>
                        <a:t>Volatile Memory</a:t>
                      </a:r>
                    </a:p>
                  </a:txBody>
                  <a:tcPr anchor="ctr"/>
                </a:tc>
                <a:tc>
                  <a:txBody>
                    <a:bodyPr/>
                    <a:lstStyle/>
                    <a:p>
                      <a:pPr>
                        <a:buNone/>
                      </a:pPr>
                      <a:r>
                        <a:rPr lang="en-IN" sz="1600" b="1" dirty="0"/>
                        <a:t>Non-Volatile Memory</a:t>
                      </a:r>
                    </a:p>
                  </a:txBody>
                  <a:tcPr anchor="ctr"/>
                </a:tc>
                <a:extLst>
                  <a:ext uri="{0D108BD9-81ED-4DB2-BD59-A6C34878D82A}">
                    <a16:rowId xmlns:a16="http://schemas.microsoft.com/office/drawing/2014/main" val="1614067295"/>
                  </a:ext>
                </a:extLst>
              </a:tr>
              <a:tr h="0">
                <a:tc>
                  <a:txBody>
                    <a:bodyPr/>
                    <a:lstStyle/>
                    <a:p>
                      <a:pPr>
                        <a:buNone/>
                      </a:pPr>
                      <a:r>
                        <a:rPr lang="en-IN" sz="1600" u="none" dirty="0"/>
                        <a:t>Volatile memory </a:t>
                      </a:r>
                      <a:r>
                        <a:rPr lang="en-IN" sz="1600" dirty="0"/>
                        <a:t>is the type of memory in which data is lost as it is powered-off.</a:t>
                      </a:r>
                    </a:p>
                  </a:txBody>
                  <a:tcPr anchor="ctr"/>
                </a:tc>
                <a:tc>
                  <a:txBody>
                    <a:bodyPr/>
                    <a:lstStyle/>
                    <a:p>
                      <a:pPr>
                        <a:buNone/>
                      </a:pPr>
                      <a:r>
                        <a:rPr lang="en-IN" sz="1600" dirty="0"/>
                        <a:t>Non-volatile memory is the type of memory in which data remains stored even if it is powered-off.</a:t>
                      </a:r>
                    </a:p>
                  </a:txBody>
                  <a:tcPr anchor="ctr"/>
                </a:tc>
                <a:extLst>
                  <a:ext uri="{0D108BD9-81ED-4DB2-BD59-A6C34878D82A}">
                    <a16:rowId xmlns:a16="http://schemas.microsoft.com/office/drawing/2014/main" val="124488748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t>In volatile memory, the processor has direct access to data.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t>In non-volatile memory, processor has no direct access to data.</a:t>
                      </a:r>
                    </a:p>
                  </a:txBody>
                  <a:tcPr anchor="ctr"/>
                </a:tc>
                <a:extLst>
                  <a:ext uri="{0D108BD9-81ED-4DB2-BD59-A6C34878D82A}">
                    <a16:rowId xmlns:a16="http://schemas.microsoft.com/office/drawing/2014/main" val="2256879413"/>
                  </a:ext>
                </a:extLst>
              </a:tr>
              <a:tr h="0">
                <a:tc>
                  <a:txBody>
                    <a:bodyPr/>
                    <a:lstStyle/>
                    <a:p>
                      <a:pPr>
                        <a:buNone/>
                      </a:pPr>
                      <a:r>
                        <a:rPr lang="en-IN" sz="1600" dirty="0"/>
                        <a:t>It is </a:t>
                      </a:r>
                      <a:r>
                        <a:rPr lang="en-IN" sz="1600" b="1" i="1" dirty="0"/>
                        <a:t>faster</a:t>
                      </a:r>
                      <a:r>
                        <a:rPr lang="en-IN" sz="1600" dirty="0"/>
                        <a:t> than non-volatile memory.</a:t>
                      </a:r>
                    </a:p>
                  </a:txBody>
                  <a:tcPr anchor="ctr"/>
                </a:tc>
                <a:tc>
                  <a:txBody>
                    <a:bodyPr/>
                    <a:lstStyle/>
                    <a:p>
                      <a:pPr>
                        <a:buNone/>
                      </a:pPr>
                      <a:r>
                        <a:rPr lang="en-IN" sz="1600" dirty="0"/>
                        <a:t>It is slower than volatile memory.</a:t>
                      </a:r>
                    </a:p>
                  </a:txBody>
                  <a:tcPr anchor="ctr"/>
                </a:tc>
                <a:extLst>
                  <a:ext uri="{0D108BD9-81ED-4DB2-BD59-A6C34878D82A}">
                    <a16:rowId xmlns:a16="http://schemas.microsoft.com/office/drawing/2014/main" val="3778367188"/>
                  </a:ext>
                </a:extLst>
              </a:tr>
              <a:tr h="0">
                <a:tc>
                  <a:txBody>
                    <a:bodyPr/>
                    <a:lstStyle/>
                    <a:p>
                      <a:pPr>
                        <a:buNone/>
                      </a:pPr>
                      <a:r>
                        <a:rPr lang="en-IN" sz="1600" b="1" dirty="0"/>
                        <a:t>RAM(Random Access Memory)</a:t>
                      </a:r>
                      <a:r>
                        <a:rPr lang="en-IN" sz="1600" dirty="0"/>
                        <a:t> is an example of volatile memory.</a:t>
                      </a:r>
                    </a:p>
                  </a:txBody>
                  <a:tcPr anchor="ctr"/>
                </a:tc>
                <a:tc>
                  <a:txBody>
                    <a:bodyPr/>
                    <a:lstStyle/>
                    <a:p>
                      <a:pPr>
                        <a:buNone/>
                      </a:pPr>
                      <a:r>
                        <a:rPr lang="en-IN" sz="1600" b="1" dirty="0"/>
                        <a:t>ROM(Read Only Memory)</a:t>
                      </a:r>
                      <a:r>
                        <a:rPr lang="en-IN" sz="1600" dirty="0"/>
                        <a:t> is an example of non-volatile memory.</a:t>
                      </a:r>
                    </a:p>
                  </a:txBody>
                  <a:tcPr anchor="ctr"/>
                </a:tc>
                <a:extLst>
                  <a:ext uri="{0D108BD9-81ED-4DB2-BD59-A6C34878D82A}">
                    <a16:rowId xmlns:a16="http://schemas.microsoft.com/office/drawing/2014/main" val="2963841266"/>
                  </a:ext>
                </a:extLst>
              </a:tr>
            </a:tbl>
          </a:graphicData>
        </a:graphic>
      </p:graphicFrame>
      <p:graphicFrame>
        <p:nvGraphicFramePr>
          <p:cNvPr id="7" name="Table 6">
            <a:extLst>
              <a:ext uri="{FF2B5EF4-FFF2-40B4-BE49-F238E27FC236}">
                <a16:creationId xmlns:a16="http://schemas.microsoft.com/office/drawing/2014/main" id="{3E8B6C61-B470-3843-B245-CE40AF0B0881}"/>
              </a:ext>
            </a:extLst>
          </p:cNvPr>
          <p:cNvGraphicFramePr>
            <a:graphicFrameLocks noGrp="1"/>
          </p:cNvGraphicFramePr>
          <p:nvPr>
            <p:extLst>
              <p:ext uri="{D42A27DB-BD31-4B8C-83A1-F6EECF244321}">
                <p14:modId xmlns:p14="http://schemas.microsoft.com/office/powerpoint/2010/main" val="3853014566"/>
              </p:ext>
            </p:extLst>
          </p:nvPr>
        </p:nvGraphicFramePr>
        <p:xfrm>
          <a:off x="457200" y="3796693"/>
          <a:ext cx="8374284" cy="2560320"/>
        </p:xfrm>
        <a:graphic>
          <a:graphicData uri="http://schemas.openxmlformats.org/drawingml/2006/table">
            <a:tbl>
              <a:tblPr>
                <a:tableStyleId>{69C7853C-536D-4A76-A0AE-DD22124D55A5}</a:tableStyleId>
              </a:tblPr>
              <a:tblGrid>
                <a:gridCol w="4187142">
                  <a:extLst>
                    <a:ext uri="{9D8B030D-6E8A-4147-A177-3AD203B41FA5}">
                      <a16:colId xmlns:a16="http://schemas.microsoft.com/office/drawing/2014/main" val="949554955"/>
                    </a:ext>
                  </a:extLst>
                </a:gridCol>
                <a:gridCol w="4187142">
                  <a:extLst>
                    <a:ext uri="{9D8B030D-6E8A-4147-A177-3AD203B41FA5}">
                      <a16:colId xmlns:a16="http://schemas.microsoft.com/office/drawing/2014/main" val="3840871769"/>
                    </a:ext>
                  </a:extLst>
                </a:gridCol>
              </a:tblGrid>
              <a:tr h="0">
                <a:tc>
                  <a:txBody>
                    <a:bodyPr/>
                    <a:lstStyle/>
                    <a:p>
                      <a:pPr>
                        <a:buNone/>
                      </a:pPr>
                      <a:r>
                        <a:rPr lang="en-IN" sz="1600" dirty="0"/>
                        <a:t>Volatile memory generally has </a:t>
                      </a:r>
                      <a:r>
                        <a:rPr lang="en-IN" sz="1600" b="1" i="1" dirty="0"/>
                        <a:t>less storage capacity.</a:t>
                      </a:r>
                    </a:p>
                  </a:txBody>
                  <a:tcPr anchor="ctr"/>
                </a:tc>
                <a:tc>
                  <a:txBody>
                    <a:bodyPr/>
                    <a:lstStyle/>
                    <a:p>
                      <a:pPr>
                        <a:buNone/>
                      </a:pPr>
                      <a:r>
                        <a:rPr lang="en-IN" sz="1600" dirty="0"/>
                        <a:t>Non-volatile memory generally has more storage capacity than volatile memory.</a:t>
                      </a:r>
                    </a:p>
                  </a:txBody>
                  <a:tcPr anchor="ctr"/>
                </a:tc>
                <a:extLst>
                  <a:ext uri="{0D108BD9-81ED-4DB2-BD59-A6C34878D82A}">
                    <a16:rowId xmlns:a16="http://schemas.microsoft.com/office/drawing/2014/main" val="402617930"/>
                  </a:ext>
                </a:extLst>
              </a:tr>
              <a:tr h="0">
                <a:tc>
                  <a:txBody>
                    <a:bodyPr/>
                    <a:lstStyle/>
                    <a:p>
                      <a:pPr>
                        <a:buNone/>
                      </a:pPr>
                      <a:r>
                        <a:rPr lang="en-IN" sz="1600" dirty="0"/>
                        <a:t>In volatile memory, the program's data are stored which are currently in process by the CPU.</a:t>
                      </a:r>
                    </a:p>
                  </a:txBody>
                  <a:tcPr anchor="ctr"/>
                </a:tc>
                <a:tc>
                  <a:txBody>
                    <a:bodyPr/>
                    <a:lstStyle/>
                    <a:p>
                      <a:pPr>
                        <a:buNone/>
                      </a:pPr>
                      <a:r>
                        <a:rPr lang="en-IN" sz="1600" dirty="0"/>
                        <a:t>In non-volatile memory, any kind of data which has to be saved permanently are stored.</a:t>
                      </a:r>
                    </a:p>
                  </a:txBody>
                  <a:tcPr anchor="ctr"/>
                </a:tc>
                <a:extLst>
                  <a:ext uri="{0D108BD9-81ED-4DB2-BD59-A6C34878D82A}">
                    <a16:rowId xmlns:a16="http://schemas.microsoft.com/office/drawing/2014/main" val="2839224225"/>
                  </a:ext>
                </a:extLst>
              </a:tr>
              <a:tr h="0">
                <a:tc>
                  <a:txBody>
                    <a:bodyPr/>
                    <a:lstStyle/>
                    <a:p>
                      <a:pPr>
                        <a:buNone/>
                      </a:pPr>
                      <a:r>
                        <a:rPr lang="en-IN" sz="1600" dirty="0"/>
                        <a:t>Volatile memory is </a:t>
                      </a:r>
                      <a:r>
                        <a:rPr lang="en-IN" sz="1600" b="1" i="1" dirty="0"/>
                        <a:t>more costly </a:t>
                      </a:r>
                      <a:r>
                        <a:rPr lang="en-IN" sz="1600" dirty="0"/>
                        <a:t>per unit size.</a:t>
                      </a:r>
                    </a:p>
                  </a:txBody>
                  <a:tcPr anchor="ctr"/>
                </a:tc>
                <a:tc>
                  <a:txBody>
                    <a:bodyPr/>
                    <a:lstStyle/>
                    <a:p>
                      <a:pPr>
                        <a:buNone/>
                      </a:pPr>
                      <a:r>
                        <a:rPr lang="en-IN" sz="1600"/>
                        <a:t>Non-volatile memory is less costly per unit size.</a:t>
                      </a:r>
                    </a:p>
                  </a:txBody>
                  <a:tcPr anchor="ctr"/>
                </a:tc>
                <a:extLst>
                  <a:ext uri="{0D108BD9-81ED-4DB2-BD59-A6C34878D82A}">
                    <a16:rowId xmlns:a16="http://schemas.microsoft.com/office/drawing/2014/main" val="1070385800"/>
                  </a:ext>
                </a:extLst>
              </a:tr>
              <a:tr h="0">
                <a:tc>
                  <a:txBody>
                    <a:bodyPr/>
                    <a:lstStyle/>
                    <a:p>
                      <a:pPr>
                        <a:buNone/>
                      </a:pPr>
                      <a:r>
                        <a:rPr lang="en-IN" sz="1600" dirty="0"/>
                        <a:t>Volatile memory has a huge impact on the </a:t>
                      </a:r>
                      <a:r>
                        <a:rPr lang="en-IN" sz="1600" b="1" i="1" dirty="0"/>
                        <a:t>system’s performance</a:t>
                      </a:r>
                      <a:r>
                        <a:rPr lang="en-IN" sz="1600" dirty="0"/>
                        <a:t>.</a:t>
                      </a:r>
                    </a:p>
                  </a:txBody>
                  <a:tcPr anchor="ctr"/>
                </a:tc>
                <a:tc>
                  <a:txBody>
                    <a:bodyPr/>
                    <a:lstStyle/>
                    <a:p>
                      <a:pPr>
                        <a:buNone/>
                      </a:pPr>
                      <a:r>
                        <a:rPr lang="en-IN" sz="1600" dirty="0"/>
                        <a:t>Non-volatile memory has a huge impact on a system’s storage capacity.</a:t>
                      </a:r>
                    </a:p>
                  </a:txBody>
                  <a:tcPr anchor="ctr"/>
                </a:tc>
                <a:extLst>
                  <a:ext uri="{0D108BD9-81ED-4DB2-BD59-A6C34878D82A}">
                    <a16:rowId xmlns:a16="http://schemas.microsoft.com/office/drawing/2014/main" val="2359750592"/>
                  </a:ext>
                </a:extLst>
              </a:tr>
            </a:tbl>
          </a:graphicData>
        </a:graphic>
      </p:graphicFrame>
      <p:sp>
        <p:nvSpPr>
          <p:cNvPr id="8" name="TextBox 7">
            <a:extLst>
              <a:ext uri="{FF2B5EF4-FFF2-40B4-BE49-F238E27FC236}">
                <a16:creationId xmlns:a16="http://schemas.microsoft.com/office/drawing/2014/main" id="{93B9047F-5C6B-973C-2181-1089874D6223}"/>
              </a:ext>
            </a:extLst>
          </p:cNvPr>
          <p:cNvSpPr txBox="1"/>
          <p:nvPr/>
        </p:nvSpPr>
        <p:spPr>
          <a:xfrm>
            <a:off x="457200" y="775601"/>
            <a:ext cx="8229600" cy="369332"/>
          </a:xfrm>
          <a:prstGeom prst="rect">
            <a:avLst/>
          </a:prstGeom>
          <a:noFill/>
        </p:spPr>
        <p:txBody>
          <a:bodyPr wrap="square" rtlCol="0">
            <a:spAutoFit/>
          </a:bodyPr>
          <a:lstStyle/>
          <a:p>
            <a:r>
              <a:rPr lang="en-IN" sz="1800" b="1" dirty="0">
                <a:latin typeface="Calibri" panose="020F0502020204030204" pitchFamily="34" charset="0"/>
                <a:ea typeface="Calibri" panose="020F0502020204030204" pitchFamily="34" charset="0"/>
                <a:cs typeface="Calibri" panose="020F0502020204030204" pitchFamily="34" charset="0"/>
              </a:rPr>
              <a:t>The main memory of a computer is typically categorised as volatile and non-volatile</a:t>
            </a:r>
          </a:p>
        </p:txBody>
      </p:sp>
    </p:spTree>
    <p:extLst>
      <p:ext uri="{BB962C8B-B14F-4D97-AF65-F5344CB8AC3E}">
        <p14:creationId xmlns:p14="http://schemas.microsoft.com/office/powerpoint/2010/main" val="1345867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CFE691B-945A-30A4-95F5-2066332827C1}"/>
              </a:ext>
            </a:extLst>
          </p:cNvPr>
          <p:cNvSpPr>
            <a:spLocks noGrp="1"/>
          </p:cNvSpPr>
          <p:nvPr>
            <p:ph type="subTitle" idx="1"/>
          </p:nvPr>
        </p:nvSpPr>
        <p:spPr>
          <a:xfrm>
            <a:off x="587898" y="914399"/>
            <a:ext cx="8153400" cy="3541854"/>
          </a:xfrm>
        </p:spPr>
        <p:txBody>
          <a:bodyPr/>
          <a:lstStyle/>
          <a:p>
            <a:pPr algn="just">
              <a:spcBef>
                <a:spcPts val="1200"/>
              </a:spcBef>
              <a:spcAft>
                <a:spcPts val="1200"/>
              </a:spcAft>
            </a:pPr>
            <a:r>
              <a:rPr lang="en-IN" sz="1800" b="1" dirty="0">
                <a:solidFill>
                  <a:schemeClr val="tx1"/>
                </a:solidFill>
              </a:rPr>
              <a:t>Main Memory (Volatile) </a:t>
            </a:r>
            <a:r>
              <a:rPr lang="en-IN" sz="1800" dirty="0">
                <a:solidFill>
                  <a:schemeClr val="tx1"/>
                </a:solidFill>
              </a:rPr>
              <a:t>The memory unit that communicates directly within the CPU, Cache memory is called main memory. It is fast memory used to store data during computer operations. Main memory is made up of </a:t>
            </a:r>
            <a:r>
              <a:rPr lang="en-IN" sz="1800" b="1" dirty="0">
                <a:solidFill>
                  <a:schemeClr val="tx1"/>
                </a:solidFill>
              </a:rPr>
              <a:t>RAM</a:t>
            </a:r>
            <a:r>
              <a:rPr lang="en-IN" sz="1800" dirty="0">
                <a:solidFill>
                  <a:schemeClr val="tx1"/>
                </a:solidFill>
              </a:rPr>
              <a:t> and </a:t>
            </a:r>
            <a:r>
              <a:rPr lang="en-IN" sz="1800" b="1" dirty="0">
                <a:solidFill>
                  <a:schemeClr val="tx1"/>
                </a:solidFill>
              </a:rPr>
              <a:t>ROM</a:t>
            </a:r>
            <a:r>
              <a:rPr lang="en-IN" sz="1800" dirty="0">
                <a:solidFill>
                  <a:schemeClr val="tx1"/>
                </a:solidFill>
              </a:rPr>
              <a:t>, majority part consists of RAM.</a:t>
            </a:r>
          </a:p>
          <a:p>
            <a:pPr marL="25400" indent="0" algn="just">
              <a:spcBef>
                <a:spcPts val="1200"/>
              </a:spcBef>
              <a:spcAft>
                <a:spcPts val="1200"/>
              </a:spcAft>
            </a:pPr>
            <a:r>
              <a:rPr lang="en-IN" sz="1800" b="1" dirty="0">
                <a:solidFill>
                  <a:schemeClr val="tx1"/>
                </a:solidFill>
              </a:rPr>
              <a:t>RAM Random Access Memory</a:t>
            </a:r>
            <a:r>
              <a:rPr lang="en-IN" sz="1800" dirty="0">
                <a:solidFill>
                  <a:schemeClr val="tx1"/>
                </a:solidFill>
              </a:rPr>
              <a:t> </a:t>
            </a:r>
          </a:p>
          <a:p>
            <a:pPr algn="just">
              <a:spcBef>
                <a:spcPts val="1200"/>
              </a:spcBef>
              <a:spcAft>
                <a:spcPts val="1200"/>
              </a:spcAft>
              <a:buFont typeface="Wingdings" panose="05000000000000000000" pitchFamily="2" charset="2"/>
              <a:buChar char="§"/>
            </a:pPr>
            <a:r>
              <a:rPr lang="en-IN" sz="1800" b="1" dirty="0">
                <a:solidFill>
                  <a:schemeClr val="tx1"/>
                </a:solidFill>
              </a:rPr>
              <a:t>DRAM</a:t>
            </a:r>
            <a:r>
              <a:rPr lang="en-IN" sz="1800" dirty="0">
                <a:solidFill>
                  <a:schemeClr val="tx1"/>
                </a:solidFill>
              </a:rPr>
              <a:t>: Dynamic RAM, is made of capacitors. It is slower and cheaper than SRAM.</a:t>
            </a:r>
          </a:p>
          <a:p>
            <a:pPr lvl="0" algn="just">
              <a:spcBef>
                <a:spcPts val="1200"/>
              </a:spcBef>
              <a:spcAft>
                <a:spcPts val="1200"/>
              </a:spcAft>
              <a:buFont typeface="Wingdings" panose="05000000000000000000" pitchFamily="2" charset="2"/>
              <a:buChar char="§"/>
            </a:pPr>
            <a:r>
              <a:rPr lang="en-IN" sz="1800" b="1" dirty="0">
                <a:solidFill>
                  <a:schemeClr val="tx1"/>
                </a:solidFill>
              </a:rPr>
              <a:t>SRAM</a:t>
            </a:r>
            <a:r>
              <a:rPr lang="en-IN" sz="1800" dirty="0">
                <a:solidFill>
                  <a:schemeClr val="tx1"/>
                </a:solidFill>
              </a:rPr>
              <a:t>: Static RAM, is made of flip-flop that consists of transistors, costly than DRAM but fast.</a:t>
            </a:r>
          </a:p>
          <a:p>
            <a:pPr algn="just">
              <a:spcBef>
                <a:spcPts val="1200"/>
              </a:spcBef>
              <a:spcAft>
                <a:spcPts val="1200"/>
              </a:spcAft>
            </a:pPr>
            <a:endParaRPr lang="en-IN" sz="1800" dirty="0">
              <a:solidFill>
                <a:schemeClr val="tx1"/>
              </a:solidFill>
            </a:endParaRPr>
          </a:p>
        </p:txBody>
      </p:sp>
    </p:spTree>
    <p:extLst>
      <p:ext uri="{BB962C8B-B14F-4D97-AF65-F5344CB8AC3E}">
        <p14:creationId xmlns:p14="http://schemas.microsoft.com/office/powerpoint/2010/main" val="20241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5"/>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640"/>
              </a:spcBef>
              <a:spcAft>
                <a:spcPts val="0"/>
              </a:spcAft>
              <a:buSzPts val="1400"/>
              <a:buNone/>
            </a:pPr>
            <a:r>
              <a:rPr lang="en-US" sz="2400" b="1">
                <a:latin typeface="Times New Roman"/>
                <a:ea typeface="Times New Roman"/>
                <a:cs typeface="Times New Roman"/>
                <a:sym typeface="Times New Roman"/>
              </a:rPr>
              <a:t>SRAM (Static RAM)</a:t>
            </a:r>
            <a:endParaRPr sz="2400" b="1">
              <a:latin typeface="Times New Roman"/>
              <a:ea typeface="Times New Roman"/>
              <a:cs typeface="Times New Roman"/>
              <a:sym typeface="Times New Roman"/>
            </a:endParaRPr>
          </a:p>
          <a:p>
            <a:pPr marL="0" lvl="0" indent="0" algn="ctr" rtl="0">
              <a:lnSpc>
                <a:spcPct val="100000"/>
              </a:lnSpc>
              <a:spcBef>
                <a:spcPts val="0"/>
              </a:spcBef>
              <a:spcAft>
                <a:spcPts val="0"/>
              </a:spcAft>
              <a:buSzPts val="1400"/>
              <a:buNone/>
            </a:pPr>
            <a:endParaRPr b="1"/>
          </a:p>
        </p:txBody>
      </p:sp>
      <p:sp>
        <p:nvSpPr>
          <p:cNvPr id="138" name="Google Shape;138;p15"/>
          <p:cNvSpPr txBox="1">
            <a:spLocks noGrp="1"/>
          </p:cNvSpPr>
          <p:nvPr>
            <p:ph type="subTitle" idx="1"/>
          </p:nvPr>
        </p:nvSpPr>
        <p:spPr>
          <a:xfrm>
            <a:off x="495300" y="1158240"/>
            <a:ext cx="8153400" cy="5109845"/>
          </a:xfrm>
          <a:prstGeom prst="rect">
            <a:avLst/>
          </a:prstGeom>
          <a:noFill/>
          <a:ln>
            <a:noFill/>
          </a:ln>
        </p:spPr>
        <p:txBody>
          <a:bodyPr spcFirstLastPara="1" wrap="square" lIns="91425" tIns="45700" rIns="91425" bIns="45700" anchor="t" anchorCtr="0">
            <a:noAutofit/>
          </a:bodyPr>
          <a:lstStyle/>
          <a:p>
            <a:pPr marL="101600" indent="0" algn="l">
              <a:lnSpc>
                <a:spcPct val="115000"/>
              </a:lnSpc>
              <a:spcBef>
                <a:spcPts val="1200"/>
              </a:spcBef>
              <a:buClr>
                <a:schemeClr val="dk1"/>
              </a:buClr>
              <a:buSzPts val="2000"/>
            </a:pPr>
            <a:r>
              <a:rPr lang="en-US" sz="2000" b="1" dirty="0">
                <a:solidFill>
                  <a:schemeClr val="dk1"/>
                </a:solidFill>
                <a:latin typeface="Times New Roman"/>
                <a:ea typeface="Calibri" panose="020F0502020204030204" pitchFamily="34" charset="0"/>
                <a:cs typeface="Times New Roman"/>
                <a:sym typeface="Times New Roman"/>
              </a:rPr>
              <a:t>Static Random Access Memory (SRAM)</a:t>
            </a:r>
            <a:r>
              <a:rPr lang="en-US" sz="2000" dirty="0">
                <a:solidFill>
                  <a:schemeClr val="dk1"/>
                </a:solidFill>
                <a:latin typeface="Times New Roman"/>
                <a:ea typeface="Calibri" panose="020F0502020204030204" pitchFamily="34" charset="0"/>
                <a:cs typeface="Times New Roman"/>
                <a:sym typeface="Times New Roman"/>
              </a:rPr>
              <a:t> is a type of volatile memory that stores data using flip-flop circuits. It does not need to be continuously refreshed like DRAM, making it faster but more expensive. SRAM is mainly used where very high-speed data access is required.</a:t>
            </a:r>
            <a:endParaRPr lang="en-US" sz="2000" b="1" dirty="0">
              <a:solidFill>
                <a:schemeClr val="dk1"/>
              </a:solidFill>
              <a:latin typeface="Times New Roman"/>
              <a:ea typeface="Calibri" panose="020F0502020204030204" pitchFamily="34" charset="0"/>
              <a:cs typeface="Times New Roman"/>
              <a:sym typeface="Times New Roman"/>
            </a:endParaRPr>
          </a:p>
          <a:p>
            <a:pPr marL="101600" lvl="0" indent="0" algn="l" rtl="0">
              <a:lnSpc>
                <a:spcPct val="115000"/>
              </a:lnSpc>
              <a:spcBef>
                <a:spcPts val="1200"/>
              </a:spcBef>
              <a:spcAft>
                <a:spcPts val="0"/>
              </a:spcAft>
              <a:buClr>
                <a:schemeClr val="dk1"/>
              </a:buClr>
              <a:buSzPts val="2000"/>
              <a:buNone/>
            </a:pPr>
            <a:r>
              <a:rPr lang="en-US" sz="2000" b="1" dirty="0">
                <a:solidFill>
                  <a:schemeClr val="dk1"/>
                </a:solidFill>
                <a:latin typeface="Times New Roman"/>
                <a:ea typeface="Calibri" panose="020F0502020204030204" pitchFamily="34" charset="0"/>
                <a:cs typeface="Times New Roman"/>
                <a:sym typeface="Times New Roman"/>
              </a:rPr>
              <a:t>SRAM (</a:t>
            </a:r>
            <a:r>
              <a:rPr lang="en-US" sz="2000" dirty="0">
                <a:solidFill>
                  <a:schemeClr val="dk1"/>
                </a:solidFill>
                <a:latin typeface="Times New Roman"/>
                <a:ea typeface="Calibri" panose="020F0502020204030204" pitchFamily="34" charset="0"/>
                <a:cs typeface="Times New Roman"/>
                <a:sym typeface="Times New Roman"/>
              </a:rPr>
              <a:t>Static Random Access Memory</a:t>
            </a:r>
            <a:r>
              <a:rPr lang="en-US" sz="2000" b="1" dirty="0">
                <a:solidFill>
                  <a:schemeClr val="dk1"/>
                </a:solidFill>
                <a:latin typeface="Times New Roman"/>
                <a:ea typeface="Calibri" panose="020F0502020204030204" pitchFamily="34" charset="0"/>
                <a:cs typeface="Times New Roman"/>
                <a:sym typeface="Times New Roman"/>
              </a:rPr>
              <a:t>)</a:t>
            </a:r>
            <a:endParaRPr sz="2000" b="1"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Works by:</a:t>
            </a:r>
            <a:r>
              <a:rPr lang="en-US" sz="2000" dirty="0">
                <a:solidFill>
                  <a:schemeClr val="dk1"/>
                </a:solidFill>
                <a:latin typeface="Times New Roman"/>
                <a:ea typeface="Calibri" panose="020F0502020204030204" pitchFamily="34" charset="0"/>
                <a:cs typeface="Times New Roman"/>
                <a:sym typeface="Times New Roman"/>
              </a:rPr>
              <a:t> Using </a:t>
            </a:r>
            <a:r>
              <a:rPr lang="en-US" sz="2000" i="1" dirty="0">
                <a:solidFill>
                  <a:schemeClr val="dk1"/>
                </a:solidFill>
                <a:latin typeface="Times New Roman"/>
                <a:ea typeface="Calibri" panose="020F0502020204030204" pitchFamily="34" charset="0"/>
                <a:cs typeface="Times New Roman"/>
                <a:sym typeface="Times New Roman"/>
              </a:rPr>
              <a:t>flip-flops</a:t>
            </a:r>
            <a:r>
              <a:rPr lang="en-US" sz="2000" dirty="0">
                <a:solidFill>
                  <a:schemeClr val="dk1"/>
                </a:solidFill>
                <a:latin typeface="Times New Roman"/>
                <a:ea typeface="Calibri" panose="020F0502020204030204" pitchFamily="34" charset="0"/>
                <a:cs typeface="Times New Roman"/>
                <a:sym typeface="Times New Roman"/>
              </a:rPr>
              <a:t> (circuits that hold data as long as power is on).</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Speed:</a:t>
            </a:r>
            <a:r>
              <a:rPr lang="en-US" sz="2000" dirty="0">
                <a:solidFill>
                  <a:schemeClr val="dk1"/>
                </a:solidFill>
                <a:latin typeface="Times New Roman"/>
                <a:ea typeface="Calibri" panose="020F0502020204030204" pitchFamily="34" charset="0"/>
                <a:cs typeface="Times New Roman"/>
                <a:sym typeface="Times New Roman"/>
              </a:rPr>
              <a:t> Very fast</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Cost:</a:t>
            </a:r>
            <a:r>
              <a:rPr lang="en-US" sz="2000" dirty="0">
                <a:solidFill>
                  <a:schemeClr val="dk1"/>
                </a:solidFill>
                <a:latin typeface="Times New Roman"/>
                <a:ea typeface="Calibri" panose="020F0502020204030204" pitchFamily="34" charset="0"/>
                <a:cs typeface="Times New Roman"/>
                <a:sym typeface="Times New Roman"/>
              </a:rPr>
              <a:t> Expensive </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Power use:</a:t>
            </a:r>
            <a:r>
              <a:rPr lang="en-US" sz="2000" dirty="0">
                <a:solidFill>
                  <a:schemeClr val="dk1"/>
                </a:solidFill>
                <a:latin typeface="Times New Roman"/>
                <a:ea typeface="Calibri" panose="020F0502020204030204" pitchFamily="34" charset="0"/>
                <a:cs typeface="Times New Roman"/>
                <a:sym typeface="Times New Roman"/>
              </a:rPr>
              <a:t> Low (doesn’t need refreshing)</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Use:</a:t>
            </a:r>
            <a:r>
              <a:rPr lang="en-US" sz="2000" dirty="0">
                <a:solidFill>
                  <a:schemeClr val="dk1"/>
                </a:solidFill>
                <a:latin typeface="Times New Roman"/>
                <a:ea typeface="Calibri" panose="020F0502020204030204" pitchFamily="34" charset="0"/>
                <a:cs typeface="Times New Roman"/>
                <a:sym typeface="Times New Roman"/>
              </a:rPr>
              <a:t> Inside CPU as </a:t>
            </a:r>
            <a:r>
              <a:rPr lang="en-US" sz="2000" b="1" dirty="0">
                <a:solidFill>
                  <a:schemeClr val="dk1"/>
                </a:solidFill>
                <a:latin typeface="Times New Roman"/>
                <a:ea typeface="Calibri" panose="020F0502020204030204" pitchFamily="34" charset="0"/>
                <a:cs typeface="Times New Roman"/>
                <a:sym typeface="Times New Roman"/>
              </a:rPr>
              <a:t>cache memory (L1, L2, L3)</a:t>
            </a:r>
            <a:r>
              <a:rPr lang="en-US" sz="2000" dirty="0">
                <a:solidFill>
                  <a:schemeClr val="dk1"/>
                </a:solidFill>
                <a:latin typeface="Times New Roman"/>
                <a:ea typeface="Calibri" panose="020F0502020204030204" pitchFamily="34" charset="0"/>
                <a:cs typeface="Times New Roman"/>
                <a:sym typeface="Times New Roman"/>
              </a:rPr>
              <a:t>.</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Size:</a:t>
            </a:r>
            <a:r>
              <a:rPr lang="en-US" sz="2000" dirty="0">
                <a:solidFill>
                  <a:schemeClr val="dk1"/>
                </a:solidFill>
                <a:latin typeface="Times New Roman"/>
                <a:ea typeface="Calibri" panose="020F0502020204030204" pitchFamily="34" charset="0"/>
                <a:cs typeface="Times New Roman"/>
                <a:sym typeface="Times New Roman"/>
              </a:rPr>
              <a:t> Smaller in capacity</a:t>
            </a:r>
            <a:endParaRPr sz="2000" dirty="0">
              <a:solidFill>
                <a:schemeClr val="dk1"/>
              </a:solidFill>
              <a:latin typeface="Times New Roman"/>
              <a:ea typeface="Calibri" panose="020F0502020204030204" pitchFamily="34" charset="0"/>
              <a:cs typeface="Times New Roman"/>
              <a:sym typeface="Times New Roman"/>
            </a:endParaRPr>
          </a:p>
          <a:p>
            <a:pPr marL="101600" lvl="0" indent="0" algn="l" rtl="0">
              <a:lnSpc>
                <a:spcPct val="115000"/>
              </a:lnSpc>
              <a:spcBef>
                <a:spcPts val="0"/>
              </a:spcBef>
              <a:spcAft>
                <a:spcPts val="0"/>
              </a:spcAft>
              <a:buClr>
                <a:schemeClr val="dk1"/>
              </a:buClr>
              <a:buSzPts val="2000"/>
              <a:buNone/>
            </a:pPr>
            <a:endParaRPr sz="2000" dirty="0">
              <a:solidFill>
                <a:schemeClr val="dk1"/>
              </a:solidFill>
              <a:latin typeface="Times New Roman"/>
              <a:ea typeface="Calibri" panose="020F0502020204030204" pitchFamily="34" charset="0"/>
              <a:cs typeface="Times New Roman"/>
              <a:sym typeface="Times New Roman"/>
            </a:endParaRPr>
          </a:p>
          <a:p>
            <a:pPr marL="0" lvl="0" indent="0" algn="ctr" rtl="0">
              <a:lnSpc>
                <a:spcPct val="100000"/>
              </a:lnSpc>
              <a:spcBef>
                <a:spcPts val="1200"/>
              </a:spcBef>
              <a:spcAft>
                <a:spcPts val="0"/>
              </a:spcAft>
              <a:buSzPts val="3200"/>
              <a:buNone/>
            </a:pPr>
            <a:endParaRPr sz="2000" dirty="0">
              <a:latin typeface="Times New Roman"/>
              <a:ea typeface="Calibri" panose="020F0502020204030204" pitchFamily="34" charset="0"/>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5" name="Arrow: Right 4">
            <a:extLst>
              <a:ext uri="{FF2B5EF4-FFF2-40B4-BE49-F238E27FC236}">
                <a16:creationId xmlns:a16="http://schemas.microsoft.com/office/drawing/2014/main" id="{216F3CD0-0AD6-F02A-5C93-23F0AA1AA867}"/>
              </a:ext>
            </a:extLst>
          </p:cNvPr>
          <p:cNvSpPr/>
          <p:nvPr/>
        </p:nvSpPr>
        <p:spPr>
          <a:xfrm>
            <a:off x="394970" y="4761364"/>
            <a:ext cx="2560320" cy="8026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Google Shape;143;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dirty="0">
                <a:latin typeface="Times New Roman" panose="02020603050405020304" pitchFamily="18" charset="0"/>
                <a:cs typeface="Times New Roman" panose="02020603050405020304" pitchFamily="18" charset="0"/>
              </a:rPr>
              <a:t>Real life applications of SRAM</a:t>
            </a:r>
            <a:endParaRPr sz="3200" dirty="0">
              <a:latin typeface="Times New Roman" panose="02020603050405020304" pitchFamily="18" charset="0"/>
              <a:cs typeface="Times New Roman" panose="02020603050405020304" pitchFamily="18" charset="0"/>
            </a:endParaRPr>
          </a:p>
        </p:txBody>
      </p:sp>
      <p:sp>
        <p:nvSpPr>
          <p:cNvPr id="144" name="Google Shape;144;p16"/>
          <p:cNvSpPr txBox="1">
            <a:spLocks noGrp="1"/>
          </p:cNvSpPr>
          <p:nvPr>
            <p:ph type="body" idx="1"/>
          </p:nvPr>
        </p:nvSpPr>
        <p:spPr>
          <a:xfrm>
            <a:off x="242570" y="931545"/>
            <a:ext cx="8545830" cy="4290695"/>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000" b="1" dirty="0">
                <a:latin typeface="Times New Roman" panose="02020603050405020304" pitchFamily="18" charset="0"/>
                <a:cs typeface="Times New Roman" panose="02020603050405020304" pitchFamily="18" charset="0"/>
              </a:rPr>
              <a:t>CPU Cache Memory: SRAM is widely used for L1, L2, and L3 cache in processors. </a:t>
            </a:r>
            <a:r>
              <a:rPr lang="en-US" sz="2000" dirty="0">
                <a:latin typeface="Times New Roman" panose="02020603050405020304" pitchFamily="18" charset="0"/>
                <a:cs typeface="Times New Roman" panose="02020603050405020304" pitchFamily="18" charset="0"/>
              </a:rPr>
              <a:t>It stores frequently used instructions and data close to the CPU, allowing the processor to access them much faster than accessing main memory. </a:t>
            </a:r>
            <a:r>
              <a:rPr lang="en-US" sz="2000" dirty="0">
                <a:latin typeface="Times New Roman" panose="02020603050405020304" pitchFamily="18" charset="0"/>
                <a:ea typeface="Times New Roman"/>
                <a:cs typeface="Times New Roman" panose="02020603050405020304" pitchFamily="18" charset="0"/>
                <a:sym typeface="Times New Roman"/>
              </a:rPr>
              <a:t>Because SRAM is extremely fast, it helps reduce CPU waiting time and improve overall system performance.</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algn="just" rtl="0">
              <a:lnSpc>
                <a:spcPct val="100000"/>
              </a:lnSpc>
              <a:spcBef>
                <a:spcPts val="360"/>
              </a:spcBef>
              <a:spcAft>
                <a:spcPts val="0"/>
              </a:spcAft>
              <a:buSzPts val="1800"/>
              <a:buNone/>
            </a:pPr>
            <a:endParaRPr sz="2000" dirty="0">
              <a:latin typeface="Times New Roman" panose="02020603050405020304" pitchFamily="18" charset="0"/>
              <a:cs typeface="Times New Roman" panose="02020603050405020304" pitchFamily="18" charset="0"/>
            </a:endParaRPr>
          </a:p>
          <a:p>
            <a:pPr marL="114300" lvl="0" indent="0" algn="just" rtl="0">
              <a:lnSpc>
                <a:spcPct val="100000"/>
              </a:lnSpc>
              <a:spcBef>
                <a:spcPts val="360"/>
              </a:spcBef>
              <a:spcAft>
                <a:spcPts val="0"/>
              </a:spcAft>
              <a:buSzPts val="1800"/>
              <a:buNone/>
            </a:pPr>
            <a:endParaRPr sz="2000" dirty="0">
              <a:latin typeface="Times New Roman" panose="02020603050405020304" pitchFamily="18" charset="0"/>
              <a:cs typeface="Times New Roman" panose="02020603050405020304" pitchFamily="18" charset="0"/>
            </a:endParaRPr>
          </a:p>
          <a:p>
            <a:pPr marL="114300" lvl="0" indent="0" algn="just" rtl="0">
              <a:lnSpc>
                <a:spcPct val="100000"/>
              </a:lnSpc>
              <a:spcBef>
                <a:spcPts val="360"/>
              </a:spcBef>
              <a:spcAft>
                <a:spcPts val="0"/>
              </a:spcAft>
              <a:buSzPts val="1800"/>
              <a:buNone/>
            </a:pP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E9821B-68F6-D4D2-82DE-8A055C586421}"/>
              </a:ext>
            </a:extLst>
          </p:cNvPr>
          <p:cNvSpPr txBox="1"/>
          <p:nvPr/>
        </p:nvSpPr>
        <p:spPr>
          <a:xfrm>
            <a:off x="242570" y="2651413"/>
            <a:ext cx="8658860" cy="3477875"/>
          </a:xfrm>
          <a:prstGeom prst="rect">
            <a:avLst/>
          </a:prstGeom>
          <a:noFill/>
        </p:spPr>
        <p:txBody>
          <a:bodyPr wrap="square">
            <a:spAutoFit/>
          </a:bodyPr>
          <a:lstStyle/>
          <a:p>
            <a:pPr marL="114300" lvl="0" indent="0" algn="just" rtl="0">
              <a:lnSpc>
                <a:spcPct val="100000"/>
              </a:lnSpc>
              <a:spcBef>
                <a:spcPts val="360"/>
              </a:spcBef>
              <a:spcAft>
                <a:spcPts val="0"/>
              </a:spcAft>
              <a:buSzPts val="1800"/>
              <a:buNone/>
            </a:pPr>
            <a:r>
              <a:rPr lang="en-US" sz="2000" b="1" dirty="0">
                <a:latin typeface="Times New Roman" panose="02020603050405020304" pitchFamily="18" charset="0"/>
                <a:cs typeface="Times New Roman" panose="02020603050405020304" pitchFamily="18" charset="0"/>
              </a:rPr>
              <a:t>Hard Disk and SSD Controllers: </a:t>
            </a:r>
            <a:r>
              <a:rPr lang="en-US" sz="2000" dirty="0">
                <a:latin typeface="Times New Roman" panose="02020603050405020304" pitchFamily="18" charset="0"/>
                <a:cs typeface="Times New Roman" panose="02020603050405020304" pitchFamily="18" charset="0"/>
              </a:rPr>
              <a:t>Storage controllers may use SRAM as a high-speed temporary buffer while reading, writing, or managing data.</a:t>
            </a:r>
          </a:p>
          <a:p>
            <a:pPr marL="114300" lvl="0" indent="0" algn="just" rtl="0">
              <a:lnSpc>
                <a:spcPct val="100000"/>
              </a:lnSpc>
              <a:spcBef>
                <a:spcPts val="360"/>
              </a:spcBef>
              <a:spcAft>
                <a:spcPts val="0"/>
              </a:spcAft>
              <a:buSzPts val="1800"/>
              <a:buNone/>
            </a:pPr>
            <a:endParaRPr lang="en-US" sz="2000" dirty="0">
              <a:latin typeface="Times New Roman" panose="02020603050405020304" pitchFamily="18" charset="0"/>
              <a:cs typeface="Times New Roman" panose="02020603050405020304" pitchFamily="18" charset="0"/>
            </a:endParaRPr>
          </a:p>
          <a:p>
            <a:pPr marL="114300" lvl="0" indent="0" algn="just" rtl="0">
              <a:lnSpc>
                <a:spcPct val="100000"/>
              </a:lnSpc>
              <a:spcBef>
                <a:spcPts val="360"/>
              </a:spcBef>
              <a:spcAft>
                <a:spcPts val="0"/>
              </a:spcAft>
              <a:buSzPts val="1800"/>
              <a:buNone/>
            </a:pPr>
            <a:r>
              <a:rPr lang="en-US" sz="2000" b="1" dirty="0">
                <a:latin typeface="Times New Roman" panose="02020603050405020304" pitchFamily="18" charset="0"/>
                <a:cs typeface="Times New Roman" panose="02020603050405020304" pitchFamily="18" charset="0"/>
              </a:rPr>
              <a:t>Embedded Systems: </a:t>
            </a:r>
            <a:r>
              <a:rPr lang="en-US" sz="2000" dirty="0">
                <a:latin typeface="Times New Roman" panose="02020603050405020304" pitchFamily="18" charset="0"/>
                <a:cs typeface="Times New Roman" panose="02020603050405020304" pitchFamily="18" charset="0"/>
              </a:rPr>
              <a:t>SRAM is commonly found in microcontrollers and embedded systems used in automobiles, industrial machines, medical equipment, and smart devices where quick access to small amounts of data is important.</a:t>
            </a:r>
          </a:p>
          <a:p>
            <a:pPr marL="114300" lvl="0" indent="0" algn="just" rtl="0">
              <a:lnSpc>
                <a:spcPct val="100000"/>
              </a:lnSpc>
              <a:spcBef>
                <a:spcPts val="360"/>
              </a:spcBef>
              <a:spcAft>
                <a:spcPts val="0"/>
              </a:spcAft>
              <a:buSzPts val="1800"/>
              <a:buNone/>
            </a:pP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114300" lvl="0" indent="0" algn="just" rtl="0">
              <a:lnSpc>
                <a:spcPct val="100000"/>
              </a:lnSpc>
              <a:spcBef>
                <a:spcPts val="360"/>
              </a:spcBef>
              <a:spcAft>
                <a:spcPts val="0"/>
              </a:spcAft>
              <a:buSzPts val="1800"/>
              <a:buNone/>
            </a:pPr>
            <a:r>
              <a:rPr lang="en-US" sz="2000" b="1" i="1" dirty="0">
                <a:latin typeface="Times New Roman" panose="02020603050405020304" pitchFamily="18" charset="0"/>
                <a:ea typeface="Times New Roman"/>
                <a:cs typeface="Times New Roman" panose="02020603050405020304" pitchFamily="18" charset="0"/>
                <a:sym typeface="Times New Roman"/>
              </a:rPr>
              <a:t>Important Point is </a:t>
            </a:r>
          </a:p>
          <a:p>
            <a:pPr marL="114300" lvl="0" indent="0" algn="just" rtl="0">
              <a:lnSpc>
                <a:spcPct val="100000"/>
              </a:lnSpc>
              <a:spcBef>
                <a:spcPts val="360"/>
              </a:spcBef>
              <a:spcAft>
                <a:spcPts val="0"/>
              </a:spcAft>
              <a:buSzPts val="1800"/>
              <a:buNone/>
            </a:pP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114300" lvl="0" indent="0" algn="just" rtl="0">
              <a:lnSpc>
                <a:spcPct val="100000"/>
              </a:lnSpc>
              <a:spcBef>
                <a:spcPts val="360"/>
              </a:spcBef>
              <a:spcAft>
                <a:spcPts val="0"/>
              </a:spcAft>
              <a:buSzPts val="1800"/>
              <a:buNone/>
            </a:pPr>
            <a:r>
              <a:rPr lang="en-US" sz="2000" dirty="0">
                <a:latin typeface="Times New Roman" panose="02020603050405020304" pitchFamily="18" charset="0"/>
                <a:ea typeface="Times New Roman"/>
                <a:cs typeface="Times New Roman" panose="02020603050405020304" pitchFamily="18" charset="0"/>
                <a:sym typeface="Times New Roman"/>
              </a:rPr>
              <a:t>SRAM = Very Fast + No Refresh Required + Volatile + Expensive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a:spLocks noGrp="1"/>
          </p:cNvSpPr>
          <p:nvPr>
            <p:ph type="title"/>
          </p:nvPr>
        </p:nvSpPr>
        <p:spPr>
          <a:xfrm>
            <a:off x="0" y="0"/>
            <a:ext cx="656336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400" dirty="0">
                <a:latin typeface="Times New Roman"/>
                <a:ea typeface="Times New Roman"/>
                <a:cs typeface="Times New Roman"/>
                <a:sym typeface="Times New Roman"/>
              </a:rPr>
              <a:t>DRAM (Dynamic Random Access Memory) </a:t>
            </a:r>
            <a:endParaRPr sz="2400" dirty="0"/>
          </a:p>
        </p:txBody>
      </p:sp>
      <p:sp>
        <p:nvSpPr>
          <p:cNvPr id="156" name="Google Shape;156;p18"/>
          <p:cNvSpPr txBox="1">
            <a:spLocks noGrp="1"/>
          </p:cNvSpPr>
          <p:nvPr>
            <p:ph type="body" idx="1"/>
          </p:nvPr>
        </p:nvSpPr>
        <p:spPr>
          <a:xfrm>
            <a:off x="356552" y="1132840"/>
            <a:ext cx="8430895" cy="4876800"/>
          </a:xfrm>
          <a:prstGeom prst="rect">
            <a:avLst/>
          </a:prstGeom>
          <a:noFill/>
          <a:ln>
            <a:noFill/>
          </a:ln>
        </p:spPr>
        <p:txBody>
          <a:bodyPr spcFirstLastPara="1" wrap="square" lIns="91425" tIns="45700" rIns="91425" bIns="45700" anchor="t" anchorCtr="0">
            <a:noAutofit/>
          </a:bodyPr>
          <a:lstStyle/>
          <a:p>
            <a:pPr marL="114300" lvl="0" indent="0" rtl="0">
              <a:lnSpc>
                <a:spcPct val="100000"/>
              </a:lnSpc>
              <a:spcBef>
                <a:spcPts val="360"/>
              </a:spcBef>
              <a:spcAft>
                <a:spcPts val="0"/>
              </a:spcAft>
              <a:buSzPts val="1800"/>
              <a:buNone/>
            </a:pPr>
            <a:r>
              <a:rPr lang="en-US" sz="2000" dirty="0">
                <a:latin typeface="Times New Roman" panose="02020603050405020304" pitchFamily="18" charset="0"/>
                <a:ea typeface="Times New Roman"/>
                <a:cs typeface="Times New Roman" panose="02020603050405020304" pitchFamily="18" charset="0"/>
                <a:sym typeface="Times New Roman"/>
              </a:rPr>
              <a:t>DRAM (Dynamic Random Access Memory)  is the most common type of main memory (RAM) in computers and electronic devices. It stores </a:t>
            </a:r>
            <a:r>
              <a:rPr lang="en-US" sz="2000" b="1" dirty="0">
                <a:latin typeface="Times New Roman" panose="02020603050405020304" pitchFamily="18" charset="0"/>
                <a:ea typeface="Times New Roman"/>
                <a:cs typeface="Times New Roman" panose="02020603050405020304" pitchFamily="18" charset="0"/>
                <a:sym typeface="Times New Roman"/>
              </a:rPr>
              <a:t>data temporarily and requires periodic refreshing</a:t>
            </a:r>
            <a:r>
              <a:rPr lang="en-US" sz="2000" dirty="0">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Real Life Applications </a:t>
            </a:r>
            <a:r>
              <a:rPr lang="en-US" sz="2000" b="1" dirty="0">
                <a:latin typeface="Times New Roman" panose="02020603050405020304" pitchFamily="18" charset="0"/>
                <a:cs typeface="Times New Roman" panose="02020603050405020304" pitchFamily="18" charset="0"/>
              </a:rPr>
              <a:t>of DRAM</a:t>
            </a:r>
            <a:endParaRPr sz="2000" b="1"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Computers &amp; Laptops: </a:t>
            </a:r>
            <a:r>
              <a:rPr lang="en-US" sz="2000" dirty="0">
                <a:latin typeface="Times New Roman" panose="02020603050405020304" pitchFamily="18" charset="0"/>
                <a:ea typeface="Times New Roman"/>
                <a:cs typeface="Times New Roman" panose="02020603050405020304" pitchFamily="18" charset="0"/>
                <a:sym typeface="Times New Roman"/>
              </a:rPr>
              <a:t>Used as the main system RAM to store the operating system, applications, and active data.</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Smartphones &amp; Tablets: </a:t>
            </a:r>
            <a:r>
              <a:rPr lang="en-US" sz="2000" dirty="0">
                <a:latin typeface="Times New Roman" panose="02020603050405020304" pitchFamily="18" charset="0"/>
                <a:ea typeface="Times New Roman"/>
                <a:cs typeface="Times New Roman" panose="02020603050405020304" pitchFamily="18" charset="0"/>
                <a:sym typeface="Times New Roman"/>
              </a:rPr>
              <a:t>Provides working memory for running multiple applications and processes.</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Gaming Systems: </a:t>
            </a:r>
            <a:r>
              <a:rPr lang="en-US" sz="2000" dirty="0">
                <a:latin typeface="Times New Roman" panose="02020603050405020304" pitchFamily="18" charset="0"/>
                <a:ea typeface="Times New Roman"/>
                <a:cs typeface="Times New Roman" panose="02020603050405020304" pitchFamily="18" charset="0"/>
                <a:sym typeface="Times New Roman"/>
              </a:rPr>
              <a:t>Stores game data, textures, maps, and other information required during gameplay.</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4" name="Arrow: Right 3">
            <a:extLst>
              <a:ext uri="{FF2B5EF4-FFF2-40B4-BE49-F238E27FC236}">
                <a16:creationId xmlns:a16="http://schemas.microsoft.com/office/drawing/2014/main" id="{03700CAA-BCD4-8732-EF65-A2F739E3318C}"/>
              </a:ext>
            </a:extLst>
          </p:cNvPr>
          <p:cNvSpPr/>
          <p:nvPr/>
        </p:nvSpPr>
        <p:spPr>
          <a:xfrm>
            <a:off x="386080" y="5039360"/>
            <a:ext cx="2042160" cy="640080"/>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2" name="Google Shape;162;p19"/>
          <p:cNvSpPr txBox="1">
            <a:spLocks noGrp="1"/>
          </p:cNvSpPr>
          <p:nvPr>
            <p:ph type="body" idx="1"/>
          </p:nvPr>
        </p:nvSpPr>
        <p:spPr>
          <a:xfrm>
            <a:off x="146685" y="1017905"/>
            <a:ext cx="8773795" cy="5301615"/>
          </a:xfrm>
          <a:prstGeom prst="rect">
            <a:avLst/>
          </a:prstGeom>
          <a:noFill/>
          <a:ln>
            <a:noFill/>
          </a:ln>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Smart TVs: </a:t>
            </a:r>
            <a:r>
              <a:rPr lang="en-US" sz="2000" dirty="0">
                <a:latin typeface="Times New Roman"/>
                <a:ea typeface="Times New Roman"/>
                <a:cs typeface="Times New Roman"/>
                <a:sym typeface="Times New Roman"/>
              </a:rPr>
              <a:t>Stores video-processing data, applications, and temporary operating data.</a:t>
            </a:r>
            <a:endParaRPr sz="2000" dirty="0">
              <a:latin typeface="Times New Roman"/>
              <a:ea typeface="Times New Roman"/>
              <a:cs typeface="Times New Roman"/>
              <a:sym typeface="Times New Roman"/>
            </a:endParaRPr>
          </a:p>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Automobiles: </a:t>
            </a:r>
            <a:r>
              <a:rPr lang="en-US" sz="2000" dirty="0">
                <a:latin typeface="Times New Roman"/>
                <a:ea typeface="Times New Roman"/>
                <a:cs typeface="Times New Roman"/>
                <a:sym typeface="Times New Roman"/>
              </a:rPr>
              <a:t>Used in infotainment systems, navigation, driver-assistance systems.</a:t>
            </a:r>
            <a:endParaRPr sz="2000" dirty="0">
              <a:latin typeface="Times New Roman"/>
              <a:ea typeface="Times New Roman"/>
              <a:cs typeface="Times New Roman"/>
              <a:sym typeface="Times New Roman"/>
            </a:endParaRPr>
          </a:p>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Digital Cameras: </a:t>
            </a:r>
            <a:r>
              <a:rPr lang="en-US" sz="2000" dirty="0">
                <a:latin typeface="Times New Roman"/>
                <a:ea typeface="Times New Roman"/>
                <a:cs typeface="Times New Roman"/>
                <a:sym typeface="Times New Roman"/>
              </a:rPr>
              <a:t>Temporarily stores image data during photo and video processing.</a:t>
            </a:r>
            <a:endParaRPr sz="2000" dirty="0">
              <a:latin typeface="Times New Roman"/>
              <a:ea typeface="Times New Roman"/>
              <a:cs typeface="Times New Roman"/>
              <a:sym typeface="Times New Roman"/>
            </a:endParaRPr>
          </a:p>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Printers &amp; Multifunction Devices: </a:t>
            </a:r>
            <a:r>
              <a:rPr lang="en-US" sz="2000" dirty="0">
                <a:latin typeface="Times New Roman"/>
                <a:ea typeface="Times New Roman"/>
                <a:cs typeface="Times New Roman"/>
                <a:sym typeface="Times New Roman"/>
              </a:rPr>
              <a:t>Holds documents and image data while printing or scanning.</a:t>
            </a:r>
          </a:p>
          <a:p>
            <a:pPr marL="114300" lvl="0" indent="0">
              <a:buNone/>
            </a:pPr>
            <a:r>
              <a:rPr lang="en-US" sz="2000" b="1" dirty="0">
                <a:latin typeface="Times New Roman"/>
                <a:ea typeface="Times New Roman"/>
                <a:cs typeface="Times New Roman"/>
                <a:sym typeface="Times New Roman"/>
              </a:rPr>
              <a:t>Graphics Systems: </a:t>
            </a:r>
            <a:r>
              <a:rPr lang="en-US" sz="2000" dirty="0">
                <a:latin typeface="Times New Roman"/>
                <a:ea typeface="Times New Roman"/>
                <a:cs typeface="Times New Roman"/>
                <a:sym typeface="Times New Roman"/>
              </a:rPr>
              <a:t>GDDR DRAM is used as graphics memory in GPUs for storing image, video, and gaming data.</a:t>
            </a:r>
          </a:p>
          <a:p>
            <a:pPr marL="114300" lvl="0" indent="0">
              <a:buNone/>
            </a:pPr>
            <a:r>
              <a:rPr lang="en-US" sz="2000" dirty="0">
                <a:latin typeface="Times New Roman"/>
                <a:ea typeface="Times New Roman"/>
                <a:cs typeface="Times New Roman"/>
                <a:sym typeface="Times New Roman"/>
              </a:rPr>
              <a:t> Important Point </a:t>
            </a:r>
          </a:p>
          <a:p>
            <a:pPr marL="114300" lvl="0" indent="0">
              <a:lnSpc>
                <a:spcPct val="150000"/>
              </a:lnSpc>
              <a:buNone/>
            </a:pPr>
            <a:r>
              <a:rPr lang="en-US" sz="2000" dirty="0">
                <a:latin typeface="Times New Roman"/>
                <a:ea typeface="Times New Roman"/>
                <a:cs typeface="Times New Roman"/>
                <a:sym typeface="Times New Roman"/>
              </a:rPr>
              <a:t>DRAM = Main Memory + High Capacity + Temporary Storage + Low Cost per Bit</a:t>
            </a:r>
          </a:p>
          <a:p>
            <a:pPr marL="114300" lvl="0" indent="0" algn="l" rtl="0">
              <a:lnSpc>
                <a:spcPct val="15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latin typeface="Times New Roman" panose="02020603050405020304" pitchFamily="18" charset="0"/>
                <a:cs typeface="Times New Roman" panose="02020603050405020304" pitchFamily="18" charset="0"/>
              </a:rPr>
              <a:t>Difference between SRAM and DRAM</a:t>
            </a:r>
            <a:endParaRPr dirty="0">
              <a:latin typeface="Times New Roman" panose="02020603050405020304" pitchFamily="18" charset="0"/>
              <a:cs typeface="Times New Roman" panose="02020603050405020304" pitchFamily="18" charset="0"/>
            </a:endParaRPr>
          </a:p>
        </p:txBody>
      </p:sp>
      <p:graphicFrame>
        <p:nvGraphicFramePr>
          <p:cNvPr id="175" name="Google Shape;175;p21"/>
          <p:cNvGraphicFramePr/>
          <p:nvPr>
            <p:extLst>
              <p:ext uri="{D42A27DB-BD31-4B8C-83A1-F6EECF244321}">
                <p14:modId xmlns:p14="http://schemas.microsoft.com/office/powerpoint/2010/main" val="3469461238"/>
              </p:ext>
            </p:extLst>
          </p:nvPr>
        </p:nvGraphicFramePr>
        <p:xfrm>
          <a:off x="997585" y="1130935"/>
          <a:ext cx="6733550" cy="4576046"/>
        </p:xfrm>
        <a:graphic>
          <a:graphicData uri="http://schemas.openxmlformats.org/drawingml/2006/table">
            <a:tbl>
              <a:tblPr>
                <a:noFill/>
              </a:tblPr>
              <a:tblGrid>
                <a:gridCol w="3364875">
                  <a:extLst>
                    <a:ext uri="{9D8B030D-6E8A-4147-A177-3AD203B41FA5}">
                      <a16:colId xmlns:a16="http://schemas.microsoft.com/office/drawing/2014/main" val="20000"/>
                    </a:ext>
                  </a:extLst>
                </a:gridCol>
                <a:gridCol w="3368675">
                  <a:extLst>
                    <a:ext uri="{9D8B030D-6E8A-4147-A177-3AD203B41FA5}">
                      <a16:colId xmlns:a16="http://schemas.microsoft.com/office/drawing/2014/main" val="20001"/>
                    </a:ext>
                  </a:extLst>
                </a:gridCol>
              </a:tblGrid>
              <a:tr h="813425">
                <a:tc>
                  <a:txBody>
                    <a:bodyPr/>
                    <a:lstStyle/>
                    <a:p>
                      <a:pPr marL="248285" marR="0" lvl="0" indent="0" algn="ctr" rtl="0">
                        <a:lnSpc>
                          <a:spcPct val="108750"/>
                        </a:lnSpc>
                        <a:spcBef>
                          <a:spcPts val="0"/>
                        </a:spcBef>
                        <a:spcAft>
                          <a:spcPts val="0"/>
                        </a:spcAft>
                        <a:buNone/>
                      </a:pPr>
                      <a:r>
                        <a:rPr lang="en-US" sz="2000" b="1" u="none" strike="noStrike" cap="none" dirty="0">
                          <a:solidFill>
                            <a:schemeClr val="dk1"/>
                          </a:solidFill>
                          <a:latin typeface="Times New Roman" panose="02020603050405020304" pitchFamily="18" charset="0"/>
                          <a:ea typeface="Cambria"/>
                          <a:cs typeface="Times New Roman" panose="02020603050405020304" pitchFamily="18" charset="0"/>
                          <a:sym typeface="Cambria"/>
                        </a:rPr>
                        <a:t>SRAM</a:t>
                      </a:r>
                      <a:endParaRPr sz="2000" b="1" u="none" strike="noStrike" cap="none" dirty="0">
                        <a:solidFill>
                          <a:schemeClr val="dk1"/>
                        </a:solidFill>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ctr" rtl="0">
                        <a:lnSpc>
                          <a:spcPct val="108750"/>
                        </a:lnSpc>
                        <a:spcBef>
                          <a:spcPts val="0"/>
                        </a:spcBef>
                        <a:spcAft>
                          <a:spcPts val="0"/>
                        </a:spcAft>
                        <a:buNone/>
                      </a:pPr>
                      <a:r>
                        <a:rPr lang="en-US" sz="2000" b="1" u="none" strike="noStrike" cap="none">
                          <a:solidFill>
                            <a:schemeClr val="dk1"/>
                          </a:solidFill>
                          <a:latin typeface="Times New Roman" panose="02020603050405020304" pitchFamily="18" charset="0"/>
                          <a:ea typeface="Cambria"/>
                          <a:cs typeface="Times New Roman" panose="02020603050405020304" pitchFamily="18" charset="0"/>
                          <a:sym typeface="Cambria"/>
                        </a:rPr>
                        <a:t>DRAM</a:t>
                      </a:r>
                      <a:endParaRPr sz="2000" b="1" u="none" strike="noStrike" cap="none">
                        <a:solidFill>
                          <a:schemeClr val="dk1"/>
                        </a:solidFill>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94050">
                <a:tc>
                  <a:txBody>
                    <a:bodyPr/>
                    <a:lstStyle/>
                    <a:p>
                      <a:pPr marL="248285" marR="0" lvl="0" indent="0" algn="l" rtl="0">
                        <a:lnSpc>
                          <a:spcPct val="108750"/>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Transistors are used to store information in SRAM.</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08750"/>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Capacitors are used to store data in DRAM.</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70550">
                <a:tc>
                  <a:txBody>
                    <a:bodyPr/>
                    <a:lstStyle/>
                    <a:p>
                      <a:pPr marL="248285" marR="0" lvl="0" indent="0" algn="l" rtl="0">
                        <a:lnSpc>
                          <a:spcPct val="108750"/>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Capacitors are not used hence no refreshing is required.</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It needs to be refreshed periodically.</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05775">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SRAM is faster</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DRAM is slower as compared to SRAM.</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98450">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These are expensive.</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These are cheaper.</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94350">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These are used in cache memories.</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These are used in main memories.</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690875">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SRAMs are low density devices.</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DRAMs are high density devices.</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1340B9B-A89E-BBAC-325D-9270CCD7FBFB}"/>
              </a:ext>
            </a:extLst>
          </p:cNvPr>
          <p:cNvSpPr>
            <a:spLocks noGrp="1"/>
          </p:cNvSpPr>
          <p:nvPr>
            <p:ph type="subTitle" idx="1"/>
          </p:nvPr>
        </p:nvSpPr>
        <p:spPr>
          <a:xfrm>
            <a:off x="995423" y="3756398"/>
            <a:ext cx="5868365" cy="2554545"/>
          </a:xfrm>
        </p:spPr>
        <p:txBody>
          <a:bodyPr/>
          <a:lstStyle/>
          <a:p>
            <a:pPr algn="just"/>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Following are types of ROM:</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MROM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Pre-programmed at manufacture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PROM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User-programmable once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EPROM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UV-erasable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EEPROM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Electrically erasable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Flash Memory</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Fast, used in SSDs and USB drives</a:t>
            </a:r>
          </a:p>
          <a:p>
            <a:pPr algn="just"/>
            <a:endPar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95D877-FF65-B3B0-3FC4-0B277EAA779C}"/>
              </a:ext>
            </a:extLst>
          </p:cNvPr>
          <p:cNvSpPr txBox="1"/>
          <p:nvPr/>
        </p:nvSpPr>
        <p:spPr>
          <a:xfrm>
            <a:off x="995423" y="1059613"/>
            <a:ext cx="7419372" cy="2554545"/>
          </a:xfrm>
          <a:prstGeom prst="rect">
            <a:avLst/>
          </a:prstGeom>
          <a:noFill/>
        </p:spPr>
        <p:txBody>
          <a:bodyPr wrap="square">
            <a:spAutoFit/>
          </a:bodyPr>
          <a:lstStyle/>
          <a:p>
            <a:pPr algn="just">
              <a:spcBef>
                <a:spcPts val="1200"/>
              </a:spcBef>
              <a:spcAft>
                <a:spcPts val="1200"/>
              </a:spcAft>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ROM Read Only Memory (Non-volatile)</a:t>
            </a:r>
            <a:endPar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25400" algn="just">
              <a:spcBef>
                <a:spcPts val="1200"/>
              </a:spcBef>
              <a:spcAft>
                <a:spcPts val="1200"/>
              </a:spcAft>
              <a:tabLst>
                <a:tab pos="266700" algn="l"/>
              </a:tabLst>
            </a:pP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Read Only Memory, is non-volatile and is more like a permanent storage for information. It also stores the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bootstrap loader</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program, to load and start the operating system when computer is turned on.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PROM </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(Programmable ROM),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EPROM </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(Erasable PROM) and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EEPROM </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(Electrically Erasable PROM) are some commonly used ROMs.</a:t>
            </a:r>
          </a:p>
        </p:txBody>
      </p:sp>
    </p:spTree>
    <p:extLst>
      <p:ext uri="{BB962C8B-B14F-4D97-AF65-F5344CB8AC3E}">
        <p14:creationId xmlns:p14="http://schemas.microsoft.com/office/powerpoint/2010/main" val="816107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a:solidFill>
                  <a:schemeClr val="dk1"/>
                </a:solidFill>
                <a:latin typeface="Times New Roman"/>
                <a:ea typeface="Times New Roman"/>
                <a:cs typeface="Times New Roman"/>
                <a:sym typeface="Times New Roman"/>
              </a:rPr>
              <a:t>Types of ROM</a:t>
            </a:r>
            <a:endParaRPr sz="3200" b="1">
              <a:solidFill>
                <a:schemeClr val="dk1"/>
              </a:solidFill>
              <a:latin typeface="Times New Roman"/>
              <a:ea typeface="Times New Roman"/>
              <a:cs typeface="Times New Roman"/>
              <a:sym typeface="Times New Roman"/>
            </a:endParaRPr>
          </a:p>
        </p:txBody>
      </p:sp>
      <p:sp>
        <p:nvSpPr>
          <p:cNvPr id="206" name="Google Shape;206;p26"/>
          <p:cNvSpPr txBox="1">
            <a:spLocks noGrp="1"/>
          </p:cNvSpPr>
          <p:nvPr>
            <p:ph type="subTitle" idx="1"/>
          </p:nvPr>
        </p:nvSpPr>
        <p:spPr>
          <a:xfrm>
            <a:off x="572729" y="914401"/>
            <a:ext cx="8153400" cy="5427405"/>
          </a:xfrm>
          <a:prstGeom prst="rect">
            <a:avLst/>
          </a:prstGeom>
          <a:noFill/>
          <a:ln>
            <a:noFill/>
          </a:ln>
        </p:spPr>
        <p:txBody>
          <a:bodyPr spcFirstLastPara="1" wrap="square" lIns="91425" tIns="45700" rIns="91425" bIns="45700" anchor="t" anchorCtr="0">
            <a:noAutofit/>
          </a:bodyPr>
          <a:lstStyle/>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PROM (Programmable ROM)</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Blank when manufactured.</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programmed </a:t>
            </a: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once</a:t>
            </a: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 by the user.</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Data cannot be changed later.</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EPROM (Erasable Programmable ROM)</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erased by </a:t>
            </a: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ultraviolet (UV) light</a:t>
            </a: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reprogrammed after erasing.</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EEPROM (Electrically Erasable Programmable ROM)</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erased and reprogrammed electrically.</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Allows selective byte-by-byte erasing.</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Flash Memory</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Fast, reprogrammable.</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Used in SSDs, USB drives, memory cards.</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erase and write in blocks.</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B8CF-8E4C-46CE-3817-292D5EEBBE69}"/>
              </a:ext>
            </a:extLst>
          </p:cNvPr>
          <p:cNvSpPr>
            <a:spLocks noGrp="1"/>
          </p:cNvSpPr>
          <p:nvPr>
            <p:ph type="ctrTitle"/>
          </p:nvPr>
        </p:nvSpPr>
        <p:spPr>
          <a:xfrm>
            <a:off x="-115746" y="0"/>
            <a:ext cx="6724890" cy="914400"/>
          </a:xfrm>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Types of Memory in a Computer System</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3C7E2DC-2564-2A69-B8AC-6F5BA0A12822}"/>
              </a:ext>
            </a:extLst>
          </p:cNvPr>
          <p:cNvSpPr txBox="1"/>
          <p:nvPr/>
        </p:nvSpPr>
        <p:spPr>
          <a:xfrm>
            <a:off x="578734" y="1122745"/>
            <a:ext cx="7986532" cy="5324535"/>
          </a:xfrm>
          <a:prstGeom prst="rect">
            <a:avLst/>
          </a:prstGeom>
          <a:noFill/>
        </p:spPr>
        <p:txBody>
          <a:bodyPr wrap="square">
            <a:spAutoFit/>
          </a:bodyPr>
          <a:lstStyle/>
          <a:p>
            <a:pPr algn="just">
              <a:spcBef>
                <a:spcPts val="1200"/>
              </a:spcBef>
              <a:spcAft>
                <a:spcPts val="1200"/>
              </a:spcAft>
              <a:buNone/>
            </a:pPr>
            <a:r>
              <a:rPr lang="en-IN" sz="2000" b="1" dirty="0">
                <a:effectLst/>
                <a:latin typeface="Calibri" panose="020F0502020204030204" pitchFamily="34" charset="0"/>
                <a:ea typeface="Calibri" panose="020F0502020204030204" pitchFamily="34" charset="0"/>
                <a:cs typeface="Calibri" panose="020F0502020204030204" pitchFamily="34" charset="0"/>
              </a:rPr>
              <a:t>Auxiliary Memory (Non-Volatile)</a:t>
            </a:r>
          </a:p>
          <a:p>
            <a:pPr algn="just" rtl="0">
              <a:spcBef>
                <a:spcPts val="1200"/>
              </a:spcBef>
              <a:spcAft>
                <a:spcPts val="1200"/>
              </a:spcAft>
              <a:buNone/>
            </a:pPr>
            <a:r>
              <a:rPr lang="en-IN" sz="2000" dirty="0">
                <a:effectLst/>
                <a:latin typeface="Calibri" panose="020F0502020204030204" pitchFamily="34" charset="0"/>
                <a:ea typeface="Calibri" panose="020F0502020204030204" pitchFamily="34" charset="0"/>
                <a:cs typeface="Calibri" panose="020F0502020204030204" pitchFamily="34" charset="0"/>
              </a:rPr>
              <a:t>Devices that provide secondary or backup storage are called auxiliary memory. For example, Magnetic disks and tapes are commonly used auxiliary devices. It is not directly accessible to the CPU, is accessed using the Input/Output channels.</a:t>
            </a:r>
          </a:p>
          <a:p>
            <a:pPr marL="342900" lvl="0" indent="-342900" algn="just">
              <a:spcBef>
                <a:spcPts val="1200"/>
              </a:spcBef>
              <a:spcAft>
                <a:spcPts val="1200"/>
              </a:spcAft>
              <a:buFont typeface="Arial" panose="020B0604020202020204" pitchFamily="34"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Hard Disk Drive (HDD)</a:t>
            </a:r>
            <a:r>
              <a:rPr lang="en-IN" sz="2000" dirty="0">
                <a:latin typeface="Calibri" panose="020F0502020204030204" pitchFamily="34" charset="0"/>
                <a:ea typeface="Calibri" panose="020F0502020204030204" pitchFamily="34" charset="0"/>
                <a:cs typeface="Calibri" panose="020F0502020204030204" pitchFamily="34" charset="0"/>
              </a:rPr>
              <a:t>: A permanent storage device that holds large amounts of data even when the computer is turned off. It is slower than RAM but offers much more capacity.</a:t>
            </a:r>
          </a:p>
          <a:p>
            <a:pPr marL="342900" lvl="0" indent="-342900" algn="just">
              <a:spcBef>
                <a:spcPts val="1200"/>
              </a:spcBef>
              <a:spcAft>
                <a:spcPts val="1200"/>
              </a:spcAft>
              <a:buFont typeface="Arial" panose="020B0604020202020204" pitchFamily="34"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Solid-State Drive (SSD)</a:t>
            </a:r>
            <a:r>
              <a:rPr lang="en-IN" sz="2000" dirty="0">
                <a:latin typeface="Calibri" panose="020F0502020204030204" pitchFamily="34" charset="0"/>
                <a:ea typeface="Calibri" panose="020F0502020204030204" pitchFamily="34" charset="0"/>
                <a:cs typeface="Calibri" panose="020F0502020204030204" pitchFamily="34" charset="0"/>
              </a:rPr>
              <a:t>: A faster alternative to HDDs with no moving parts. SSDs provide faster read/write speeds compared to HDDs.</a:t>
            </a:r>
          </a:p>
          <a:p>
            <a:pPr marL="342900" lvl="0" indent="-342900" algn="just">
              <a:spcBef>
                <a:spcPts val="1200"/>
              </a:spcBef>
              <a:spcAft>
                <a:spcPts val="1200"/>
              </a:spcAft>
              <a:buFont typeface="Arial" panose="020B0604020202020204" pitchFamily="34"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Optical Discs and USB Flash Drives</a:t>
            </a:r>
            <a:r>
              <a:rPr lang="en-IN" sz="2000" dirty="0">
                <a:latin typeface="Calibri" panose="020F0502020204030204" pitchFamily="34" charset="0"/>
                <a:ea typeface="Calibri" panose="020F0502020204030204" pitchFamily="34" charset="0"/>
                <a:cs typeface="Calibri" panose="020F0502020204030204" pitchFamily="34" charset="0"/>
              </a:rPr>
              <a:t>: Optical discs and USB flash drives are other forms of secondary memory used for storage, though they are less common in modern high-speed systems.</a:t>
            </a:r>
          </a:p>
        </p:txBody>
      </p:sp>
    </p:spTree>
    <p:extLst>
      <p:ext uri="{BB962C8B-B14F-4D97-AF65-F5344CB8AC3E}">
        <p14:creationId xmlns:p14="http://schemas.microsoft.com/office/powerpoint/2010/main" val="4198293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2743CF-74BF-37B5-6645-5DD7D79B6E32}"/>
              </a:ext>
            </a:extLst>
          </p:cNvPr>
          <p:cNvSpPr txBox="1"/>
          <p:nvPr/>
        </p:nvSpPr>
        <p:spPr>
          <a:xfrm>
            <a:off x="578735" y="860088"/>
            <a:ext cx="8345346" cy="2632003"/>
          </a:xfrm>
          <a:prstGeom prst="rect">
            <a:avLst/>
          </a:prstGeom>
          <a:noFill/>
        </p:spPr>
        <p:txBody>
          <a:bodyPr wrap="square">
            <a:spAutoFit/>
          </a:bodyPr>
          <a:lstStyle/>
          <a:p>
            <a:pPr algn="just">
              <a:lnSpc>
                <a:spcPct val="150000"/>
              </a:lnSpc>
            </a:pPr>
            <a:r>
              <a:rPr lang="en-IN" sz="1600" b="1" dirty="0">
                <a:solidFill>
                  <a:schemeClr val="tx1"/>
                </a:solidFill>
              </a:rPr>
              <a:t>Cache Memory</a:t>
            </a:r>
            <a:endParaRPr lang="en-IN" sz="1600" dirty="0">
              <a:solidFill>
                <a:schemeClr val="tx1"/>
              </a:solidFill>
            </a:endParaRPr>
          </a:p>
          <a:p>
            <a:pPr marL="0" indent="25400" algn="just">
              <a:lnSpc>
                <a:spcPct val="150000"/>
              </a:lnSpc>
            </a:pPr>
            <a:r>
              <a:rPr lang="en-IN" sz="1600" dirty="0">
                <a:solidFill>
                  <a:schemeClr val="tx1"/>
                </a:solidFill>
              </a:rPr>
              <a:t>The </a:t>
            </a:r>
            <a:r>
              <a:rPr lang="en-IN" sz="1600" b="1" dirty="0">
                <a:solidFill>
                  <a:schemeClr val="tx1"/>
                </a:solidFill>
              </a:rPr>
              <a:t>cache memory</a:t>
            </a:r>
            <a:r>
              <a:rPr lang="en-IN" sz="1600" dirty="0">
                <a:solidFill>
                  <a:schemeClr val="tx1"/>
                </a:solidFill>
              </a:rPr>
              <a:t> is used to store </a:t>
            </a:r>
            <a:r>
              <a:rPr lang="en-IN" sz="1600" b="1" dirty="0">
                <a:solidFill>
                  <a:schemeClr val="tx1"/>
                </a:solidFill>
              </a:rPr>
              <a:t>program data </a:t>
            </a:r>
            <a:r>
              <a:rPr lang="en-IN" sz="1600" dirty="0">
                <a:solidFill>
                  <a:schemeClr val="tx1"/>
                </a:solidFill>
              </a:rPr>
              <a:t>that is currently being executed in the CPU. Whenever the CPU needs to access memory, it first checks the cache memory. If the data is not found in cache memory then the CPU moves onto the main memory. </a:t>
            </a:r>
          </a:p>
          <a:p>
            <a:pPr algn="just">
              <a:lnSpc>
                <a:spcPct val="150000"/>
              </a:lnSpc>
            </a:pPr>
            <a:r>
              <a:rPr lang="en-IN" sz="1600" b="1" dirty="0">
                <a:solidFill>
                  <a:schemeClr val="tx1"/>
                </a:solidFill>
              </a:rPr>
              <a:t>Registers</a:t>
            </a:r>
            <a:r>
              <a:rPr lang="en-IN" sz="1600" dirty="0">
                <a:solidFill>
                  <a:schemeClr val="tx1"/>
                </a:solidFill>
              </a:rPr>
              <a:t> </a:t>
            </a:r>
          </a:p>
          <a:p>
            <a:pPr marL="0" indent="25400" algn="just">
              <a:lnSpc>
                <a:spcPct val="150000"/>
              </a:lnSpc>
            </a:pPr>
            <a:r>
              <a:rPr lang="en-IN" sz="1600" dirty="0">
                <a:solidFill>
                  <a:schemeClr val="tx1"/>
                </a:solidFill>
              </a:rPr>
              <a:t>These are small, ultra-fast memory locations within the CPU used to hold data that is being processed. Registers are crucial for executing instructions efficiently.</a:t>
            </a:r>
          </a:p>
        </p:txBody>
      </p:sp>
      <p:pic>
        <p:nvPicPr>
          <p:cNvPr id="7" name="Picture 6">
            <a:extLst>
              <a:ext uri="{FF2B5EF4-FFF2-40B4-BE49-F238E27FC236}">
                <a16:creationId xmlns:a16="http://schemas.microsoft.com/office/drawing/2014/main" id="{F9F603E7-2A5F-E2B2-3C0C-88CF70C3C922}"/>
              </a:ext>
            </a:extLst>
          </p:cNvPr>
          <p:cNvPicPr>
            <a:picLocks noChangeAspect="1"/>
          </p:cNvPicPr>
          <p:nvPr/>
        </p:nvPicPr>
        <p:blipFill>
          <a:blip r:embed="rId2"/>
          <a:stretch>
            <a:fillRect/>
          </a:stretch>
        </p:blipFill>
        <p:spPr>
          <a:xfrm>
            <a:off x="750425" y="3699121"/>
            <a:ext cx="5418881" cy="2709441"/>
          </a:xfrm>
          <a:prstGeom prst="rect">
            <a:avLst/>
          </a:prstGeom>
        </p:spPr>
      </p:pic>
    </p:spTree>
    <p:extLst>
      <p:ext uri="{BB962C8B-B14F-4D97-AF65-F5344CB8AC3E}">
        <p14:creationId xmlns:p14="http://schemas.microsoft.com/office/powerpoint/2010/main" val="529474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08FD2-96EC-C3CA-2C1A-02DFBE14F878}"/>
              </a:ext>
            </a:extLst>
          </p:cNvPr>
          <p:cNvSpPr>
            <a:spLocks noGrp="1"/>
          </p:cNvSpPr>
          <p:nvPr>
            <p:ph type="ctrTitle"/>
          </p:nvPr>
        </p:nvSpPr>
        <p:spPr/>
        <p:txBody>
          <a:bodyPr/>
          <a:lstStyle/>
          <a:p>
            <a:r>
              <a:rPr lang="en-IN" b="1" dirty="0"/>
              <a:t>Hard Disk Drive (HDD) vs Solid State Drive (SSD)</a:t>
            </a:r>
          </a:p>
        </p:txBody>
      </p:sp>
      <p:sp>
        <p:nvSpPr>
          <p:cNvPr id="7" name="TextBox 6">
            <a:extLst>
              <a:ext uri="{FF2B5EF4-FFF2-40B4-BE49-F238E27FC236}">
                <a16:creationId xmlns:a16="http://schemas.microsoft.com/office/drawing/2014/main" id="{D8E55276-F3DA-F6F5-844B-25126D077206}"/>
              </a:ext>
            </a:extLst>
          </p:cNvPr>
          <p:cNvSpPr txBox="1"/>
          <p:nvPr/>
        </p:nvSpPr>
        <p:spPr>
          <a:xfrm>
            <a:off x="457199" y="1117628"/>
            <a:ext cx="8327985" cy="2262671"/>
          </a:xfrm>
          <a:prstGeom prst="rect">
            <a:avLst/>
          </a:prstGeom>
          <a:noFill/>
        </p:spPr>
        <p:txBody>
          <a:bodyPr wrap="square">
            <a:spAutoFit/>
          </a:bodyPr>
          <a:lstStyle/>
          <a:p>
            <a:pPr algn="just">
              <a:lnSpc>
                <a:spcPct val="150000"/>
              </a:lnSpc>
            </a:pPr>
            <a:r>
              <a:rPr lang="en-IN" sz="1600" b="1" dirty="0"/>
              <a:t>Storage devices </a:t>
            </a:r>
            <a:r>
              <a:rPr lang="en-IN" sz="1600" dirty="0"/>
              <a:t>play a crucial role in determining a computer’s </a:t>
            </a:r>
            <a:r>
              <a:rPr lang="en-IN" sz="1600" b="1" i="1" dirty="0"/>
              <a:t>speed</a:t>
            </a:r>
            <a:r>
              <a:rPr lang="en-IN" sz="1600" dirty="0"/>
              <a:t>, </a:t>
            </a:r>
            <a:r>
              <a:rPr lang="en-IN" sz="1600" b="1" i="1" dirty="0"/>
              <a:t>performance</a:t>
            </a:r>
            <a:r>
              <a:rPr lang="en-IN" sz="1600" dirty="0"/>
              <a:t>, and </a:t>
            </a:r>
            <a:r>
              <a:rPr lang="en-IN" sz="1600" b="1" i="1" dirty="0"/>
              <a:t>data access efficiency</a:t>
            </a:r>
            <a:r>
              <a:rPr lang="en-IN" sz="1600" dirty="0"/>
              <a:t>. Among them, </a:t>
            </a:r>
            <a:r>
              <a:rPr lang="en-IN" sz="1600" b="1" i="1" dirty="0"/>
              <a:t>Hard Disk Drives (HDD</a:t>
            </a:r>
            <a:r>
              <a:rPr lang="en-IN" sz="1600" i="1" dirty="0"/>
              <a:t>)</a:t>
            </a:r>
            <a:r>
              <a:rPr lang="en-IN" sz="1600" dirty="0"/>
              <a:t> and </a:t>
            </a:r>
            <a:r>
              <a:rPr lang="en-IN" sz="1600" b="1" i="1" dirty="0"/>
              <a:t>Solid State Drives (SSD)</a:t>
            </a:r>
            <a:r>
              <a:rPr lang="en-IN" sz="1600" dirty="0"/>
              <a:t> are widely used storage technologies that differ in their working mechanisms. </a:t>
            </a:r>
          </a:p>
          <a:p>
            <a:pPr algn="just">
              <a:lnSpc>
                <a:spcPct val="150000"/>
              </a:lnSpc>
            </a:pPr>
            <a:r>
              <a:rPr lang="en-IN" sz="1600" dirty="0"/>
              <a:t>HDDs using </a:t>
            </a:r>
            <a:r>
              <a:rPr lang="en-IN" sz="1600" b="1" i="1" dirty="0"/>
              <a:t>mechanical parts</a:t>
            </a:r>
            <a:r>
              <a:rPr lang="en-IN" sz="1600" dirty="0"/>
              <a:t> and SSDs relying on </a:t>
            </a:r>
            <a:r>
              <a:rPr lang="en-IN" sz="1600" b="1" i="1" dirty="0"/>
              <a:t>flash memory</a:t>
            </a:r>
            <a:r>
              <a:rPr lang="en-IN" sz="1600" dirty="0"/>
              <a:t>. These differences impact their </a:t>
            </a:r>
            <a:r>
              <a:rPr lang="en-IN" sz="1600" b="1" i="1" dirty="0"/>
              <a:t>speed, durability, cost, and overall performance.</a:t>
            </a:r>
          </a:p>
        </p:txBody>
      </p:sp>
      <p:pic>
        <p:nvPicPr>
          <p:cNvPr id="9" name="Picture 8">
            <a:extLst>
              <a:ext uri="{FF2B5EF4-FFF2-40B4-BE49-F238E27FC236}">
                <a16:creationId xmlns:a16="http://schemas.microsoft.com/office/drawing/2014/main" id="{3B70A532-685B-3443-1BCE-3D14DEC87DC0}"/>
              </a:ext>
            </a:extLst>
          </p:cNvPr>
          <p:cNvPicPr>
            <a:picLocks noChangeAspect="1"/>
          </p:cNvPicPr>
          <p:nvPr/>
        </p:nvPicPr>
        <p:blipFill>
          <a:blip r:embed="rId2"/>
          <a:stretch>
            <a:fillRect/>
          </a:stretch>
        </p:blipFill>
        <p:spPr>
          <a:xfrm>
            <a:off x="1273697" y="1277179"/>
            <a:ext cx="6596606" cy="3306549"/>
          </a:xfrm>
          <a:prstGeom prst="rect">
            <a:avLst/>
          </a:prstGeom>
        </p:spPr>
      </p:pic>
    </p:spTree>
    <p:extLst>
      <p:ext uri="{BB962C8B-B14F-4D97-AF65-F5344CB8AC3E}">
        <p14:creationId xmlns:p14="http://schemas.microsoft.com/office/powerpoint/2010/main" val="1087878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2.2 ElectroMechanical Hard Disk Drive (HDD) Overview | Mycloudwiki">
            <a:extLst>
              <a:ext uri="{FF2B5EF4-FFF2-40B4-BE49-F238E27FC236}">
                <a16:creationId xmlns:a16="http://schemas.microsoft.com/office/drawing/2014/main" id="{51733656-0C7B-482F-46D8-DD91C417BA78}"/>
              </a:ext>
            </a:extLst>
          </p:cNvPr>
          <p:cNvPicPr>
            <a:picLocks noChangeAspect="1"/>
          </p:cNvPicPr>
          <p:nvPr/>
        </p:nvPicPr>
        <p:blipFill>
          <a:blip r:embed="rId2"/>
          <a:stretch>
            <a:fillRect/>
          </a:stretch>
        </p:blipFill>
        <p:spPr>
          <a:xfrm>
            <a:off x="1699936" y="1051560"/>
            <a:ext cx="6326464" cy="5443442"/>
          </a:xfrm>
          <a:prstGeom prst="rect">
            <a:avLst/>
          </a:prstGeom>
        </p:spPr>
      </p:pic>
    </p:spTree>
    <p:extLst>
      <p:ext uri="{BB962C8B-B14F-4D97-AF65-F5344CB8AC3E}">
        <p14:creationId xmlns:p14="http://schemas.microsoft.com/office/powerpoint/2010/main" val="1702416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nline Media 7" title="HDD Startup and Shutdown">
            <a:hlinkClick r:id="" action="ppaction://media"/>
            <a:extLst>
              <a:ext uri="{FF2B5EF4-FFF2-40B4-BE49-F238E27FC236}">
                <a16:creationId xmlns:a16="http://schemas.microsoft.com/office/drawing/2014/main" id="{BB5C457F-3F60-5598-6F70-43C42DD5309C}"/>
              </a:ext>
            </a:extLst>
          </p:cNvPr>
          <p:cNvPicPr>
            <a:picLocks noRot="1" noChangeAspect="1"/>
          </p:cNvPicPr>
          <p:nvPr>
            <a:videoFile r:link="rId1"/>
          </p:nvPr>
        </p:nvPicPr>
        <p:blipFill>
          <a:blip r:embed="rId4"/>
          <a:stretch>
            <a:fillRect/>
          </a:stretch>
        </p:blipFill>
        <p:spPr>
          <a:xfrm>
            <a:off x="776763" y="1107440"/>
            <a:ext cx="3033237" cy="5372522"/>
          </a:xfrm>
          <a:prstGeom prst="rect">
            <a:avLst/>
          </a:prstGeom>
        </p:spPr>
      </p:pic>
      <p:pic>
        <p:nvPicPr>
          <p:cNvPr id="9" name="Online Media 8" title="Ever wanted to see inside a HDD with a crashed head? Here you go!">
            <a:hlinkClick r:id="" action="ppaction://media"/>
            <a:extLst>
              <a:ext uri="{FF2B5EF4-FFF2-40B4-BE49-F238E27FC236}">
                <a16:creationId xmlns:a16="http://schemas.microsoft.com/office/drawing/2014/main" id="{8FBF7E3B-ECD4-C003-0BF1-1DE3C0D9A7DC}"/>
              </a:ext>
            </a:extLst>
          </p:cNvPr>
          <p:cNvPicPr>
            <a:picLocks noRot="1" noChangeAspect="1"/>
          </p:cNvPicPr>
          <p:nvPr>
            <a:videoFile r:link="rId2"/>
          </p:nvPr>
        </p:nvPicPr>
        <p:blipFill>
          <a:blip r:embed="rId5"/>
          <a:stretch>
            <a:fillRect/>
          </a:stretch>
        </p:blipFill>
        <p:spPr>
          <a:xfrm>
            <a:off x="4890770" y="1196762"/>
            <a:ext cx="2982807" cy="5283200"/>
          </a:xfrm>
          <a:prstGeom prst="rect">
            <a:avLst/>
          </a:prstGeom>
        </p:spPr>
      </p:pic>
    </p:spTree>
    <p:extLst>
      <p:ext uri="{BB962C8B-B14F-4D97-AF65-F5344CB8AC3E}">
        <p14:creationId xmlns:p14="http://schemas.microsoft.com/office/powerpoint/2010/main" val="297516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8"/>
                                        </p:tgtEl>
                                      </p:cBhvr>
                                    </p:cmd>
                                  </p:childTnLst>
                                </p:cTn>
                              </p:par>
                            </p:childTnLst>
                          </p:cTn>
                        </p:par>
                      </p:childTnLst>
                    </p:cTn>
                  </p:par>
                </p:childTnLst>
              </p:cTn>
              <p:nextCondLst>
                <p:cond evt="onClick" delay="0">
                  <p:tgtEl>
                    <p:spTgt spid="8"/>
                  </p:tgtEl>
                </p:cond>
              </p:nextCondLst>
            </p:seq>
            <p:video>
              <p:cMediaNode vol="80000">
                <p:cTn id="16" fill="hold" display="0">
                  <p:stCondLst>
                    <p:cond delay="indefinite"/>
                  </p:stCondLst>
                </p:cTn>
                <p:tgtEl>
                  <p:spTgt spid="8"/>
                </p:tgtEl>
              </p:cMediaNode>
            </p:video>
            <p:seq concurrent="1" nextAc="seek">
              <p:cTn id="17" restart="whenNotActive" fill="hold" evtFilter="cancelBubble" nodeType="interactiveSeq">
                <p:stCondLst>
                  <p:cond evt="onClick" delay="0">
                    <p:tgtEl>
                      <p:spTgt spid="9"/>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9"/>
                                        </p:tgtEl>
                                      </p:cBhvr>
                                    </p:cmd>
                                  </p:childTnLst>
                                </p:cTn>
                              </p:par>
                            </p:childTnLst>
                          </p:cTn>
                        </p:par>
                      </p:childTnLst>
                    </p:cTn>
                  </p:par>
                </p:childTnLst>
              </p:cTn>
              <p:nextCondLst>
                <p:cond evt="onClick" delay="0">
                  <p:tgtEl>
                    <p:spTgt spid="9"/>
                  </p:tgtEl>
                </p:cond>
              </p:nextCondLst>
            </p:seq>
            <p:video>
              <p:cMediaNode vol="80000">
                <p:cTn id="22" fill="hold" display="0">
                  <p:stCondLst>
                    <p:cond delay="indefinite"/>
                  </p:stCondLst>
                </p:cTn>
                <p:tgtEl>
                  <p:spTgt spid="9"/>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79CB764-6C83-247D-C351-75E7F4DA1344}"/>
              </a:ext>
            </a:extLst>
          </p:cNvPr>
          <p:cNvSpPr>
            <a:spLocks noGrp="1"/>
          </p:cNvSpPr>
          <p:nvPr>
            <p:ph type="subTitle" idx="1"/>
          </p:nvPr>
        </p:nvSpPr>
        <p:spPr>
          <a:xfrm>
            <a:off x="495300" y="1180619"/>
            <a:ext cx="8153400" cy="5034986"/>
          </a:xfrm>
        </p:spPr>
        <p:txBody>
          <a:bodyPr/>
          <a:lstStyle/>
          <a:p>
            <a:pPr algn="just">
              <a:lnSpc>
                <a:spcPct val="150000"/>
              </a:lnSpc>
              <a:spcBef>
                <a:spcPts val="0"/>
              </a:spcBef>
            </a:pPr>
            <a:r>
              <a:rPr lang="en-IN" sz="1800" b="1" dirty="0">
                <a:solidFill>
                  <a:schemeClr val="tx1"/>
                </a:solidFill>
                <a:latin typeface="+mj-lt"/>
              </a:rPr>
              <a:t>Hard Disk Drive(HDD)</a:t>
            </a:r>
          </a:p>
          <a:p>
            <a:pPr marL="92075" indent="-66675" algn="just">
              <a:lnSpc>
                <a:spcPct val="150000"/>
              </a:lnSpc>
              <a:spcBef>
                <a:spcPts val="0"/>
              </a:spcBef>
            </a:pPr>
            <a:r>
              <a:rPr lang="en-IN" sz="1800" dirty="0">
                <a:solidFill>
                  <a:schemeClr val="tx1"/>
                </a:solidFill>
                <a:latin typeface="+mj-lt"/>
                <a:hlinkClick r:id="rId2">
                  <a:extLst>
                    <a:ext uri="{A12FA001-AC4F-418D-AE19-62706E023703}">
                      <ahyp:hlinkClr xmlns:ahyp="http://schemas.microsoft.com/office/drawing/2018/hyperlinkcolor" val="tx"/>
                    </a:ext>
                  </a:extLst>
                </a:hlinkClick>
              </a:rPr>
              <a:t>Hard Disk Drive (HDD)</a:t>
            </a:r>
            <a:r>
              <a:rPr lang="en-IN" sz="1800" dirty="0">
                <a:solidFill>
                  <a:schemeClr val="tx1"/>
                </a:solidFill>
                <a:latin typeface="+mj-lt"/>
              </a:rPr>
              <a:t>, which </a:t>
            </a:r>
            <a:r>
              <a:rPr lang="en-IN" sz="1800" b="1" dirty="0">
                <a:solidFill>
                  <a:schemeClr val="tx1"/>
                </a:solidFill>
                <a:latin typeface="+mj-lt"/>
              </a:rPr>
              <a:t>stores data on spinning magnetic platters and uses a read/write head to access information</a:t>
            </a:r>
            <a:r>
              <a:rPr lang="en-IN" sz="1800" dirty="0">
                <a:solidFill>
                  <a:schemeClr val="tx1"/>
                </a:solidFill>
                <a:latin typeface="+mj-lt"/>
              </a:rPr>
              <a:t>. It is widely used in desktops, laptops, and servers due to its ability to handle large amounts of data efficiently. </a:t>
            </a:r>
          </a:p>
          <a:p>
            <a:pPr algn="just">
              <a:lnSpc>
                <a:spcPct val="150000"/>
              </a:lnSpc>
              <a:spcBef>
                <a:spcPts val="0"/>
              </a:spcBef>
            </a:pPr>
            <a:r>
              <a:rPr lang="en-IN" sz="1800" b="1" dirty="0">
                <a:solidFill>
                  <a:schemeClr val="tx1"/>
                </a:solidFill>
                <a:latin typeface="+mj-lt"/>
              </a:rPr>
              <a:t>Solid State Drive(SSD)</a:t>
            </a:r>
          </a:p>
          <a:p>
            <a:pPr marL="92075" indent="-66675" algn="just">
              <a:lnSpc>
                <a:spcPct val="150000"/>
              </a:lnSpc>
              <a:spcBef>
                <a:spcPts val="0"/>
              </a:spcBef>
            </a:pPr>
            <a:r>
              <a:rPr lang="en-IN" sz="1800" dirty="0">
                <a:solidFill>
                  <a:schemeClr val="tx1"/>
                </a:solidFill>
                <a:latin typeface="+mj-lt"/>
              </a:rPr>
              <a:t>Modern storage devices use electronic memory to deliver faster and more efficient data access. One such technology is the Solid State Drive (SSD), which stores data using </a:t>
            </a:r>
            <a:r>
              <a:rPr lang="en-IN" sz="1800" b="1" dirty="0">
                <a:solidFill>
                  <a:schemeClr val="tx1"/>
                </a:solidFill>
                <a:latin typeface="+mj-lt"/>
              </a:rPr>
              <a:t>flash memory instead of moving parts</a:t>
            </a:r>
            <a:r>
              <a:rPr lang="en-IN" sz="1800" dirty="0">
                <a:solidFill>
                  <a:schemeClr val="tx1"/>
                </a:solidFill>
                <a:latin typeface="+mj-lt"/>
              </a:rPr>
              <a:t>. This allows quicker read/write operations and improved system performance. SSDs are commonly used in laptops and high-performance systems due to their speed and reliability. </a:t>
            </a:r>
          </a:p>
          <a:p>
            <a:pPr algn="just">
              <a:lnSpc>
                <a:spcPct val="150000"/>
              </a:lnSpc>
              <a:spcBef>
                <a:spcPts val="0"/>
              </a:spcBef>
            </a:pPr>
            <a:endParaRPr lang="en-IN" sz="1800" dirty="0">
              <a:solidFill>
                <a:schemeClr val="tx1"/>
              </a:solidFill>
              <a:latin typeface="+mj-lt"/>
            </a:endParaRPr>
          </a:p>
        </p:txBody>
      </p:sp>
    </p:spTree>
    <p:extLst>
      <p:ext uri="{BB962C8B-B14F-4D97-AF65-F5344CB8AC3E}">
        <p14:creationId xmlns:p14="http://schemas.microsoft.com/office/powerpoint/2010/main" val="3483227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Every SSD Type You Should Know Before Upgrading Your PC Not sure which SSD to buy? From SATA to NVMe, this quick guide shows the most common SSD types and how they differ. Save this before your next PC upgrade : r/RigBuild">
            <a:extLst>
              <a:ext uri="{FF2B5EF4-FFF2-40B4-BE49-F238E27FC236}">
                <a16:creationId xmlns:a16="http://schemas.microsoft.com/office/drawing/2014/main" id="{96D22BAE-F460-9394-70C3-1BE5B7CFA343}"/>
              </a:ext>
            </a:extLst>
          </p:cNvPr>
          <p:cNvPicPr>
            <a:picLocks noChangeAspect="1"/>
          </p:cNvPicPr>
          <p:nvPr/>
        </p:nvPicPr>
        <p:blipFill>
          <a:blip r:embed="rId2"/>
          <a:stretch>
            <a:fillRect/>
          </a:stretch>
        </p:blipFill>
        <p:spPr>
          <a:xfrm>
            <a:off x="1678305" y="414307"/>
            <a:ext cx="5467163" cy="5467163"/>
          </a:xfrm>
          <a:prstGeom prst="rect">
            <a:avLst/>
          </a:prstGeom>
        </p:spPr>
      </p:pic>
      <p:sp>
        <p:nvSpPr>
          <p:cNvPr id="11" name="TextBox 10">
            <a:extLst>
              <a:ext uri="{FF2B5EF4-FFF2-40B4-BE49-F238E27FC236}">
                <a16:creationId xmlns:a16="http://schemas.microsoft.com/office/drawing/2014/main" id="{7CAB2C21-E2F7-59E1-EB17-DBCF845B10D3}"/>
              </a:ext>
            </a:extLst>
          </p:cNvPr>
          <p:cNvSpPr txBox="1"/>
          <p:nvPr/>
        </p:nvSpPr>
        <p:spPr>
          <a:xfrm>
            <a:off x="619760" y="121920"/>
            <a:ext cx="4602480" cy="584775"/>
          </a:xfrm>
          <a:prstGeom prst="rect">
            <a:avLst/>
          </a:prstGeom>
          <a:noFill/>
        </p:spPr>
        <p:txBody>
          <a:bodyPr wrap="square" rtlCol="0">
            <a:spAutoFit/>
          </a:bodyPr>
          <a:lstStyle/>
          <a:p>
            <a:r>
              <a:rPr lang="en-IN" sz="3200" b="1" dirty="0">
                <a:latin typeface="Calibri" panose="020F0502020204030204" pitchFamily="34" charset="0"/>
                <a:ea typeface="Calibri" panose="020F0502020204030204" pitchFamily="34" charset="0"/>
                <a:cs typeface="Calibri" panose="020F0502020204030204" pitchFamily="34" charset="0"/>
              </a:rPr>
              <a:t>Types of SSD’S</a:t>
            </a:r>
          </a:p>
        </p:txBody>
      </p:sp>
    </p:spTree>
    <p:extLst>
      <p:ext uri="{BB962C8B-B14F-4D97-AF65-F5344CB8AC3E}">
        <p14:creationId xmlns:p14="http://schemas.microsoft.com/office/powerpoint/2010/main" val="271518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565F3F-43D7-394A-4987-63E2E0954295}"/>
              </a:ext>
            </a:extLst>
          </p:cNvPr>
          <p:cNvSpPr>
            <a:spLocks noGrp="1"/>
          </p:cNvSpPr>
          <p:nvPr>
            <p:ph type="subTitle" idx="1"/>
          </p:nvPr>
        </p:nvSpPr>
        <p:spPr>
          <a:xfrm>
            <a:off x="452120" y="1408795"/>
            <a:ext cx="4178300" cy="1654592"/>
          </a:xfrm>
        </p:spPr>
        <p:txBody>
          <a:bodyPr/>
          <a:lstStyle/>
          <a:p>
            <a:pPr lvl="0" algn="just">
              <a:buFont typeface="Wingdings" panose="05000000000000000000" pitchFamily="2" charset="2"/>
              <a:buChar char="§"/>
            </a:pPr>
            <a:r>
              <a:rPr lang="en-IN" sz="2000" dirty="0">
                <a:solidFill>
                  <a:schemeClr val="tx1"/>
                </a:solidFill>
              </a:rPr>
              <a:t>The oldest SSD format. </a:t>
            </a:r>
          </a:p>
          <a:p>
            <a:pPr lvl="0" algn="just">
              <a:buFont typeface="Wingdings" panose="05000000000000000000" pitchFamily="2" charset="2"/>
              <a:buChar char="§"/>
            </a:pPr>
            <a:r>
              <a:rPr lang="en-IN" sz="2000" dirty="0">
                <a:solidFill>
                  <a:schemeClr val="tx1"/>
                </a:solidFill>
              </a:rPr>
              <a:t>Connected in </a:t>
            </a:r>
            <a:r>
              <a:rPr lang="en-IN" sz="2000" b="1" dirty="0">
                <a:solidFill>
                  <a:schemeClr val="tx1"/>
                </a:solidFill>
              </a:rPr>
              <a:t>SATA III </a:t>
            </a:r>
            <a:r>
              <a:rPr lang="en-IN" sz="2000" dirty="0">
                <a:solidFill>
                  <a:schemeClr val="tx1"/>
                </a:solidFill>
              </a:rPr>
              <a:t>(max speed ~550 MB/s). </a:t>
            </a:r>
          </a:p>
          <a:p>
            <a:pPr lvl="0" algn="just">
              <a:buFont typeface="Wingdings" panose="05000000000000000000" pitchFamily="2" charset="2"/>
              <a:buChar char="§"/>
            </a:pPr>
            <a:r>
              <a:rPr lang="en-IN" sz="2000" dirty="0">
                <a:solidFill>
                  <a:schemeClr val="tx1"/>
                </a:solidFill>
              </a:rPr>
              <a:t>Compatible with almost all desktop and laptop PCs. </a:t>
            </a:r>
          </a:p>
          <a:p>
            <a:pPr lvl="0" algn="just">
              <a:buFont typeface="Wingdings" panose="05000000000000000000" pitchFamily="2" charset="2"/>
              <a:buChar char="§"/>
            </a:pPr>
            <a:r>
              <a:rPr lang="en-IN" sz="2000" dirty="0">
                <a:solidFill>
                  <a:schemeClr val="tx1"/>
                </a:solidFill>
              </a:rPr>
              <a:t>Perfect for a </a:t>
            </a:r>
            <a:r>
              <a:rPr lang="en-IN" sz="2000" b="1" dirty="0">
                <a:solidFill>
                  <a:schemeClr val="tx1"/>
                </a:solidFill>
              </a:rPr>
              <a:t>cheap upgrade </a:t>
            </a:r>
            <a:r>
              <a:rPr lang="en-IN" sz="2000" dirty="0">
                <a:solidFill>
                  <a:schemeClr val="tx1"/>
                </a:solidFill>
              </a:rPr>
              <a:t>. </a:t>
            </a:r>
          </a:p>
          <a:p>
            <a:pPr marL="482600" indent="-457200">
              <a:buFont typeface="Wingdings" panose="05000000000000000000" pitchFamily="2" charset="2"/>
              <a:buChar char="§"/>
            </a:pPr>
            <a:endParaRPr lang="en-IN" sz="4000" dirty="0">
              <a:solidFill>
                <a:schemeClr val="tx1"/>
              </a:solidFill>
            </a:endParaRPr>
          </a:p>
        </p:txBody>
      </p:sp>
      <p:sp>
        <p:nvSpPr>
          <p:cNvPr id="5" name="TextBox 4">
            <a:extLst>
              <a:ext uri="{FF2B5EF4-FFF2-40B4-BE49-F238E27FC236}">
                <a16:creationId xmlns:a16="http://schemas.microsoft.com/office/drawing/2014/main" id="{7956EC24-B5D6-27BB-F3D1-6F3D0FFB9A8C}"/>
              </a:ext>
            </a:extLst>
          </p:cNvPr>
          <p:cNvSpPr txBox="1"/>
          <p:nvPr/>
        </p:nvSpPr>
        <p:spPr>
          <a:xfrm>
            <a:off x="452120" y="1039463"/>
            <a:ext cx="4582160" cy="369332"/>
          </a:xfrm>
          <a:prstGeom prst="rect">
            <a:avLst/>
          </a:prstGeom>
          <a:noFill/>
        </p:spPr>
        <p:txBody>
          <a:bodyPr wrap="square">
            <a:spAutoFit/>
          </a:bodyPr>
          <a:lstStyle/>
          <a:p>
            <a:pPr>
              <a:buNone/>
            </a:pPr>
            <a:r>
              <a:rPr lang="en-IN" sz="1800" b="1" dirty="0"/>
              <a:t>a) SSD SATA 2.5" </a:t>
            </a:r>
          </a:p>
        </p:txBody>
      </p:sp>
      <p:pic>
        <p:nvPicPr>
          <p:cNvPr id="9" name="Picture 8" descr="SATA SSDs—which is short for serial ATA solid-state drives—serve as an accessible gateway into the realm of solid-state storage. These drives leverage the SATA interface, a standard connection protocol ubiquitous in PCs and laptops, making them compatible with most existing systems. While SATA SSDs have revolutionized storage by delivering noticeable speed enhancements when compared to traditional hard drives, they fall short in sheer performance compared to newer SSD technologies, such as NVMe.">
            <a:extLst>
              <a:ext uri="{FF2B5EF4-FFF2-40B4-BE49-F238E27FC236}">
                <a16:creationId xmlns:a16="http://schemas.microsoft.com/office/drawing/2014/main" id="{2763EA7F-18C9-C272-8C0F-8D1A0FC223EA}"/>
              </a:ext>
            </a:extLst>
          </p:cNvPr>
          <p:cNvPicPr>
            <a:picLocks noChangeAspect="1"/>
          </p:cNvPicPr>
          <p:nvPr/>
        </p:nvPicPr>
        <p:blipFill>
          <a:blip r:embed="rId2"/>
          <a:srcRect l="31670" t="28832" r="31227" b="29542"/>
          <a:stretch>
            <a:fillRect/>
          </a:stretch>
        </p:blipFill>
        <p:spPr>
          <a:xfrm>
            <a:off x="5201920" y="1371600"/>
            <a:ext cx="2895600" cy="2030382"/>
          </a:xfrm>
          <a:prstGeom prst="rect">
            <a:avLst/>
          </a:prstGeom>
        </p:spPr>
      </p:pic>
      <p:sp>
        <p:nvSpPr>
          <p:cNvPr id="11" name="TextBox 10">
            <a:extLst>
              <a:ext uri="{FF2B5EF4-FFF2-40B4-BE49-F238E27FC236}">
                <a16:creationId xmlns:a16="http://schemas.microsoft.com/office/drawing/2014/main" id="{1345D9B5-1819-38AB-2165-65F70B9B9A7B}"/>
              </a:ext>
            </a:extLst>
          </p:cNvPr>
          <p:cNvSpPr txBox="1"/>
          <p:nvPr/>
        </p:nvSpPr>
        <p:spPr>
          <a:xfrm>
            <a:off x="452120" y="3761611"/>
            <a:ext cx="4582160" cy="369332"/>
          </a:xfrm>
          <a:prstGeom prst="rect">
            <a:avLst/>
          </a:prstGeom>
          <a:noFill/>
        </p:spPr>
        <p:txBody>
          <a:bodyPr wrap="square">
            <a:spAutoFit/>
          </a:bodyPr>
          <a:lstStyle/>
          <a:p>
            <a:pPr>
              <a:buNone/>
            </a:pPr>
            <a:r>
              <a:rPr lang="en-IN" sz="1800" b="1" dirty="0"/>
              <a:t>b) SSD M.2 SATA </a:t>
            </a:r>
          </a:p>
        </p:txBody>
      </p:sp>
      <p:pic>
        <p:nvPicPr>
          <p:cNvPr id="13" name="Picture 12">
            <a:extLst>
              <a:ext uri="{FF2B5EF4-FFF2-40B4-BE49-F238E27FC236}">
                <a16:creationId xmlns:a16="http://schemas.microsoft.com/office/drawing/2014/main" id="{88E3B46F-3CFC-25F1-2C30-47D48FA4E17F}"/>
              </a:ext>
            </a:extLst>
          </p:cNvPr>
          <p:cNvPicPr>
            <a:picLocks noChangeAspect="1"/>
          </p:cNvPicPr>
          <p:nvPr/>
        </p:nvPicPr>
        <p:blipFill>
          <a:blip r:embed="rId3"/>
          <a:srcRect l="20222" t="30954" r="19778" b="32856"/>
          <a:stretch>
            <a:fillRect/>
          </a:stretch>
        </p:blipFill>
        <p:spPr>
          <a:xfrm>
            <a:off x="4445000" y="5083591"/>
            <a:ext cx="4246880" cy="1280777"/>
          </a:xfrm>
          <a:prstGeom prst="rect">
            <a:avLst/>
          </a:prstGeom>
        </p:spPr>
      </p:pic>
      <p:sp>
        <p:nvSpPr>
          <p:cNvPr id="15" name="TextBox 14">
            <a:extLst>
              <a:ext uri="{FF2B5EF4-FFF2-40B4-BE49-F238E27FC236}">
                <a16:creationId xmlns:a16="http://schemas.microsoft.com/office/drawing/2014/main" id="{84498404-2196-2A02-DEFA-38CA96F4759B}"/>
              </a:ext>
            </a:extLst>
          </p:cNvPr>
          <p:cNvSpPr txBox="1"/>
          <p:nvPr/>
        </p:nvSpPr>
        <p:spPr>
          <a:xfrm>
            <a:off x="452120" y="4069388"/>
            <a:ext cx="7305040" cy="1015663"/>
          </a:xfrm>
          <a:prstGeom prst="rect">
            <a:avLst/>
          </a:prstGeom>
          <a:noFill/>
        </p:spPr>
        <p:txBody>
          <a:bodyPr wrap="square">
            <a:spAutoFit/>
          </a:bodyPr>
          <a:lstStyle/>
          <a:p>
            <a:pPr marL="342900" lvl="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Use the format </a:t>
            </a:r>
            <a:r>
              <a:rPr lang="en-IN" sz="2000" b="1" dirty="0">
                <a:latin typeface="Calibri" panose="020F0502020204030204" pitchFamily="34" charset="0"/>
                <a:ea typeface="Calibri" panose="020F0502020204030204" pitchFamily="34" charset="0"/>
                <a:cs typeface="Calibri" panose="020F0502020204030204" pitchFamily="34" charset="0"/>
              </a:rPr>
              <a:t>M.2 </a:t>
            </a:r>
            <a:r>
              <a:rPr lang="en-IN" sz="2000" dirty="0">
                <a:latin typeface="Calibri" panose="020F0502020204030204" pitchFamily="34" charset="0"/>
                <a:ea typeface="Calibri" panose="020F0502020204030204" pitchFamily="34" charset="0"/>
                <a:cs typeface="Calibri" panose="020F0502020204030204" pitchFamily="34" charset="0"/>
              </a:rPr>
              <a:t>, smaller than the 2.5". </a:t>
            </a:r>
          </a:p>
          <a:p>
            <a:pPr marL="342900" lvl="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But limited by the SATA interface, so same speeds (≈ 550 MB/s). </a:t>
            </a:r>
          </a:p>
          <a:p>
            <a:pPr marL="342900" lvl="0" indent="-342900">
              <a:buFont typeface="Wingdings" panose="05000000000000000000" pitchFamily="2" charset="2"/>
              <a:buChar char="§"/>
            </a:pPr>
            <a:r>
              <a:rPr lang="en-IN" sz="2000" b="1" dirty="0">
                <a:latin typeface="Calibri" panose="020F0502020204030204" pitchFamily="34" charset="0"/>
                <a:ea typeface="Calibri" panose="020F0502020204030204" pitchFamily="34" charset="0"/>
                <a:cs typeface="Calibri" panose="020F0502020204030204" pitchFamily="34" charset="0"/>
              </a:rPr>
              <a:t>Running on laptops and recent motherboards </a:t>
            </a:r>
            <a:r>
              <a:rPr lang="en-IN" sz="20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450459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E6728A-6ECC-6C94-B8EF-9200BE62202D}"/>
              </a:ext>
            </a:extLst>
          </p:cNvPr>
          <p:cNvSpPr txBox="1"/>
          <p:nvPr/>
        </p:nvSpPr>
        <p:spPr>
          <a:xfrm>
            <a:off x="541767" y="922777"/>
            <a:ext cx="4582160" cy="369332"/>
          </a:xfrm>
          <a:prstGeom prst="rect">
            <a:avLst/>
          </a:prstGeom>
          <a:noFill/>
        </p:spPr>
        <p:txBody>
          <a:bodyPr wrap="square">
            <a:spAutoFit/>
          </a:bodyPr>
          <a:lstStyle/>
          <a:p>
            <a:pPr>
              <a:buNone/>
            </a:pPr>
            <a:r>
              <a:rPr lang="en-IN" sz="1800" b="1" dirty="0"/>
              <a:t>c) SSD M.2 </a:t>
            </a:r>
            <a:r>
              <a:rPr lang="en-IN" sz="1800" b="1" dirty="0" err="1"/>
              <a:t>NVMe</a:t>
            </a:r>
            <a:r>
              <a:rPr lang="en-IN" sz="1800" b="1" dirty="0"/>
              <a:t> </a:t>
            </a:r>
          </a:p>
        </p:txBody>
      </p:sp>
      <p:pic>
        <p:nvPicPr>
          <p:cNvPr id="7" name="Picture 6" descr="NVMe SSDs redefined storage performance with blistering speeds and ultra-low latency. Unlike SATA interfaces, NVMe utilizes the PCIe interface designed specifically for flash-based SSD storage, unlocking the full potential of solid-state technology. This storage type can be applied through various form factors such as NVMe M.2.">
            <a:extLst>
              <a:ext uri="{FF2B5EF4-FFF2-40B4-BE49-F238E27FC236}">
                <a16:creationId xmlns:a16="http://schemas.microsoft.com/office/drawing/2014/main" id="{930D350D-A3E2-BAD0-4356-DD15C1F9166F}"/>
              </a:ext>
            </a:extLst>
          </p:cNvPr>
          <p:cNvPicPr>
            <a:picLocks noChangeAspect="1"/>
          </p:cNvPicPr>
          <p:nvPr/>
        </p:nvPicPr>
        <p:blipFill>
          <a:blip r:embed="rId2"/>
          <a:srcRect l="26054" t="37111" r="25758" b="38056"/>
          <a:stretch>
            <a:fillRect/>
          </a:stretch>
        </p:blipFill>
        <p:spPr>
          <a:xfrm>
            <a:off x="5291567" y="1572708"/>
            <a:ext cx="3312162" cy="1066801"/>
          </a:xfrm>
          <a:prstGeom prst="rect">
            <a:avLst/>
          </a:prstGeom>
        </p:spPr>
      </p:pic>
      <p:sp>
        <p:nvSpPr>
          <p:cNvPr id="9" name="TextBox 8">
            <a:extLst>
              <a:ext uri="{FF2B5EF4-FFF2-40B4-BE49-F238E27FC236}">
                <a16:creationId xmlns:a16="http://schemas.microsoft.com/office/drawing/2014/main" id="{B8BAAA3A-096D-F3B5-0E30-B063F781CA67}"/>
              </a:ext>
            </a:extLst>
          </p:cNvPr>
          <p:cNvSpPr txBox="1"/>
          <p:nvPr/>
        </p:nvSpPr>
        <p:spPr>
          <a:xfrm>
            <a:off x="541767" y="1202561"/>
            <a:ext cx="4749800" cy="2814617"/>
          </a:xfrm>
          <a:prstGeom prst="rect">
            <a:avLst/>
          </a:prstGeom>
          <a:noFill/>
        </p:spPr>
        <p:txBody>
          <a:bodyPr wrap="square">
            <a:spAutoFit/>
          </a:bodyPr>
          <a:lstStyle/>
          <a:p>
            <a:pPr marL="342900" lvl="0" indent="-342900">
              <a:lnSpc>
                <a:spcPct val="150000"/>
              </a:lnSpc>
              <a:buFont typeface="Wingdings" panose="05000000000000000000" pitchFamily="2" charset="2"/>
              <a:buChar char="§"/>
            </a:pPr>
            <a:r>
              <a:rPr lang="en-IN" sz="2000" b="1" dirty="0">
                <a:latin typeface="Calibri" panose="020F0502020204030204" pitchFamily="34" charset="0"/>
                <a:ea typeface="Calibri" panose="020F0502020204030204" pitchFamily="34" charset="0"/>
                <a:cs typeface="Calibri" panose="020F0502020204030204" pitchFamily="34" charset="0"/>
              </a:rPr>
              <a:t>The most popular today </a:t>
            </a:r>
            <a:r>
              <a:rPr lang="en-IN" sz="2000" dirty="0">
                <a:latin typeface="Calibri" panose="020F0502020204030204" pitchFamily="34" charset="0"/>
                <a:ea typeface="Calibri" panose="020F0502020204030204" pitchFamily="34" charset="0"/>
                <a:cs typeface="Calibri" panose="020F0502020204030204" pitchFamily="34" charset="0"/>
              </a:rPr>
              <a:t>. </a:t>
            </a:r>
          </a:p>
          <a:p>
            <a:pPr marL="342900" lvl="0" indent="-342900">
              <a:lnSpc>
                <a:spcPct val="150000"/>
              </a:lnSpc>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Use the PCIe bus via the M.2 format. </a:t>
            </a:r>
          </a:p>
          <a:p>
            <a:pPr marL="342900" lvl="0" indent="-342900">
              <a:lnSpc>
                <a:spcPct val="150000"/>
              </a:lnSpc>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Speeds ranging from 2000 MB/s to over 7000 MB/s depending on the generation (PCIe 3.0, 4.0, 5.0). </a:t>
            </a:r>
          </a:p>
          <a:p>
            <a:pPr marL="342900" lvl="0" indent="-342900">
              <a:lnSpc>
                <a:spcPct val="150000"/>
              </a:lnSpc>
              <a:buFont typeface="Wingdings" panose="05000000000000000000" pitchFamily="2" charset="2"/>
              <a:buChar char="§"/>
            </a:pPr>
            <a:r>
              <a:rPr lang="en-IN" sz="2000" b="1" dirty="0">
                <a:latin typeface="Calibri" panose="020F0502020204030204" pitchFamily="34" charset="0"/>
                <a:ea typeface="Calibri" panose="020F0502020204030204" pitchFamily="34" charset="0"/>
                <a:cs typeface="Calibri" panose="020F0502020204030204" pitchFamily="34" charset="0"/>
              </a:rPr>
              <a:t>Ideal for gamers </a:t>
            </a:r>
            <a:r>
              <a:rPr lang="en-IN" sz="2000" dirty="0">
                <a:latin typeface="Calibri" panose="020F0502020204030204" pitchFamily="34" charset="0"/>
                <a:ea typeface="Calibri" panose="020F0502020204030204" pitchFamily="34" charset="0"/>
                <a:cs typeface="Calibri" panose="020F0502020204030204" pitchFamily="34" charset="0"/>
              </a:rPr>
              <a:t>and content creators. </a:t>
            </a:r>
          </a:p>
        </p:txBody>
      </p:sp>
      <p:sp>
        <p:nvSpPr>
          <p:cNvPr id="11" name="TextBox 10">
            <a:extLst>
              <a:ext uri="{FF2B5EF4-FFF2-40B4-BE49-F238E27FC236}">
                <a16:creationId xmlns:a16="http://schemas.microsoft.com/office/drawing/2014/main" id="{3EEC9ECA-120D-A386-0221-9964D1A53DD8}"/>
              </a:ext>
            </a:extLst>
          </p:cNvPr>
          <p:cNvSpPr txBox="1"/>
          <p:nvPr/>
        </p:nvSpPr>
        <p:spPr>
          <a:xfrm>
            <a:off x="541767" y="4262826"/>
            <a:ext cx="4582160" cy="369332"/>
          </a:xfrm>
          <a:prstGeom prst="rect">
            <a:avLst/>
          </a:prstGeom>
          <a:noFill/>
        </p:spPr>
        <p:txBody>
          <a:bodyPr wrap="square">
            <a:spAutoFit/>
          </a:bodyPr>
          <a:lstStyle/>
          <a:p>
            <a:pPr>
              <a:buNone/>
            </a:pPr>
            <a:r>
              <a:rPr lang="en-IN" sz="1800" b="1" dirty="0"/>
              <a:t>d) SSD PCIe (Add-in Card) </a:t>
            </a:r>
          </a:p>
        </p:txBody>
      </p:sp>
      <p:pic>
        <p:nvPicPr>
          <p:cNvPr id="13" name="Picture 12" descr="PCIe SSDs leverage the high-bandwidth PCIe interface to deliver exceptional storage performance. By directly interfacing with the PCIe bus, these SSDs can achieve remarkable data transfer rates, making them ideal for applications demanding maximum speed.">
            <a:extLst>
              <a:ext uri="{FF2B5EF4-FFF2-40B4-BE49-F238E27FC236}">
                <a16:creationId xmlns:a16="http://schemas.microsoft.com/office/drawing/2014/main" id="{46E08EA1-CAC7-F586-D37B-806EDD860E80}"/>
              </a:ext>
            </a:extLst>
          </p:cNvPr>
          <p:cNvPicPr>
            <a:picLocks noChangeAspect="1"/>
          </p:cNvPicPr>
          <p:nvPr/>
        </p:nvPicPr>
        <p:blipFill>
          <a:blip r:embed="rId3"/>
          <a:srcRect l="26054" t="37347" r="25758" b="37819"/>
          <a:stretch>
            <a:fillRect/>
          </a:stretch>
        </p:blipFill>
        <p:spPr>
          <a:xfrm>
            <a:off x="5291567" y="4112647"/>
            <a:ext cx="3312162" cy="1066802"/>
          </a:xfrm>
          <a:prstGeom prst="rect">
            <a:avLst/>
          </a:prstGeom>
        </p:spPr>
      </p:pic>
      <p:sp>
        <p:nvSpPr>
          <p:cNvPr id="15" name="TextBox 14">
            <a:extLst>
              <a:ext uri="{FF2B5EF4-FFF2-40B4-BE49-F238E27FC236}">
                <a16:creationId xmlns:a16="http://schemas.microsoft.com/office/drawing/2014/main" id="{FE7CB2F5-9DA4-5D0D-C639-21A7B92594B4}"/>
              </a:ext>
            </a:extLst>
          </p:cNvPr>
          <p:cNvSpPr txBox="1"/>
          <p:nvPr/>
        </p:nvSpPr>
        <p:spPr>
          <a:xfrm>
            <a:off x="625587" y="4632158"/>
            <a:ext cx="4582160" cy="1711366"/>
          </a:xfrm>
          <a:prstGeom prst="rect">
            <a:avLst/>
          </a:prstGeom>
          <a:noFill/>
        </p:spPr>
        <p:txBody>
          <a:bodyPr wrap="square">
            <a:spAutoFit/>
          </a:bodyPr>
          <a:lstStyle/>
          <a:p>
            <a:pPr marL="342900" lvl="0" indent="-342900">
              <a:lnSpc>
                <a:spcPct val="150000"/>
              </a:lnSpc>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Presents itself in the form of a PCIe card plugged directly into a PCIe x4 or x16 port. </a:t>
            </a:r>
          </a:p>
          <a:p>
            <a:pPr marL="342900" lvl="0" indent="-342900">
              <a:lnSpc>
                <a:spcPct val="150000"/>
              </a:lnSpc>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Mainly used in servers and workstations. </a:t>
            </a:r>
          </a:p>
          <a:p>
            <a:pPr marL="342900" lvl="0" indent="-342900">
              <a:lnSpc>
                <a:spcPct val="150000"/>
              </a:lnSpc>
              <a:buFont typeface="Wingdings" panose="05000000000000000000" pitchFamily="2" charset="2"/>
              <a:buChar char="§"/>
            </a:pPr>
            <a:r>
              <a:rPr lang="en-IN" sz="1800" b="1" dirty="0">
                <a:latin typeface="Calibri" panose="020F0502020204030204" pitchFamily="34" charset="0"/>
                <a:ea typeface="Calibri" panose="020F0502020204030204" pitchFamily="34" charset="0"/>
                <a:cs typeface="Calibri" panose="020F0502020204030204" pitchFamily="34" charset="0"/>
              </a:rPr>
              <a:t>Very high performance</a:t>
            </a:r>
            <a:r>
              <a:rPr lang="en-IN" sz="1800" dirty="0">
                <a:latin typeface="Calibri" panose="020F0502020204030204" pitchFamily="34" charset="0"/>
                <a:ea typeface="Calibri" panose="020F0502020204030204" pitchFamily="34" charset="0"/>
                <a:cs typeface="Calibri" panose="020F0502020204030204" pitchFamily="34" charset="0"/>
              </a:rPr>
              <a:t>, but bulky. </a:t>
            </a:r>
          </a:p>
        </p:txBody>
      </p:sp>
    </p:spTree>
    <p:extLst>
      <p:ext uri="{BB962C8B-B14F-4D97-AF65-F5344CB8AC3E}">
        <p14:creationId xmlns:p14="http://schemas.microsoft.com/office/powerpoint/2010/main" val="446944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D2E3D3-CDAD-83DA-8C8F-1DF059C81435}"/>
              </a:ext>
            </a:extLst>
          </p:cNvPr>
          <p:cNvSpPr txBox="1"/>
          <p:nvPr/>
        </p:nvSpPr>
        <p:spPr>
          <a:xfrm>
            <a:off x="452120" y="955060"/>
            <a:ext cx="4582160" cy="369332"/>
          </a:xfrm>
          <a:prstGeom prst="rect">
            <a:avLst/>
          </a:prstGeom>
          <a:noFill/>
        </p:spPr>
        <p:txBody>
          <a:bodyPr wrap="square">
            <a:spAutoFit/>
          </a:bodyPr>
          <a:lstStyle/>
          <a:p>
            <a:pPr>
              <a:buNone/>
            </a:pPr>
            <a:r>
              <a:rPr lang="en-IN" sz="1800" b="1" dirty="0">
                <a:latin typeface="Calibri" panose="020F0502020204030204" pitchFamily="34" charset="0"/>
                <a:ea typeface="Calibri" panose="020F0502020204030204" pitchFamily="34" charset="0"/>
                <a:cs typeface="Calibri" panose="020F0502020204030204" pitchFamily="34" charset="0"/>
              </a:rPr>
              <a:t>e) External SSD </a:t>
            </a:r>
          </a:p>
        </p:txBody>
      </p:sp>
      <p:sp>
        <p:nvSpPr>
          <p:cNvPr id="7" name="TextBox 6">
            <a:extLst>
              <a:ext uri="{FF2B5EF4-FFF2-40B4-BE49-F238E27FC236}">
                <a16:creationId xmlns:a16="http://schemas.microsoft.com/office/drawing/2014/main" id="{EF0BE746-69EA-844F-1369-38C2E81DAEE3}"/>
              </a:ext>
            </a:extLst>
          </p:cNvPr>
          <p:cNvSpPr txBox="1"/>
          <p:nvPr/>
        </p:nvSpPr>
        <p:spPr>
          <a:xfrm>
            <a:off x="523240" y="1324392"/>
            <a:ext cx="4582160" cy="1938992"/>
          </a:xfrm>
          <a:prstGeom prst="rect">
            <a:avLst/>
          </a:prstGeom>
          <a:noFill/>
        </p:spPr>
        <p:txBody>
          <a:bodyPr wrap="square">
            <a:spAutoFit/>
          </a:bodyPr>
          <a:lstStyle/>
          <a:p>
            <a:pPr marL="342900" lvl="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Connected via USB 3.2, USB 4, or Thunderbolt. </a:t>
            </a:r>
          </a:p>
          <a:p>
            <a:pPr marL="342900" lvl="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Variable speed depending on the interface. </a:t>
            </a:r>
          </a:p>
          <a:p>
            <a:pPr marL="342900" lvl="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Convenient for backing up and transporting data. </a:t>
            </a:r>
          </a:p>
        </p:txBody>
      </p:sp>
      <p:pic>
        <p:nvPicPr>
          <p:cNvPr id="9" name="Picture 8">
            <a:extLst>
              <a:ext uri="{FF2B5EF4-FFF2-40B4-BE49-F238E27FC236}">
                <a16:creationId xmlns:a16="http://schemas.microsoft.com/office/drawing/2014/main" id="{E9CA42B9-2368-200B-F47E-08D788073993}"/>
              </a:ext>
            </a:extLst>
          </p:cNvPr>
          <p:cNvPicPr>
            <a:picLocks noChangeAspect="1"/>
          </p:cNvPicPr>
          <p:nvPr/>
        </p:nvPicPr>
        <p:blipFill>
          <a:blip r:embed="rId2"/>
          <a:srcRect l="20111" t="8778" r="19889" b="13000"/>
          <a:stretch>
            <a:fillRect/>
          </a:stretch>
        </p:blipFill>
        <p:spPr>
          <a:xfrm>
            <a:off x="5709920" y="1324392"/>
            <a:ext cx="2702560" cy="1761669"/>
          </a:xfrm>
          <a:prstGeom prst="rect">
            <a:avLst/>
          </a:prstGeom>
        </p:spPr>
      </p:pic>
      <p:sp>
        <p:nvSpPr>
          <p:cNvPr id="11" name="TextBox 10">
            <a:extLst>
              <a:ext uri="{FF2B5EF4-FFF2-40B4-BE49-F238E27FC236}">
                <a16:creationId xmlns:a16="http://schemas.microsoft.com/office/drawing/2014/main" id="{16B57B5F-7007-78A8-EA26-306754624A8B}"/>
              </a:ext>
            </a:extLst>
          </p:cNvPr>
          <p:cNvSpPr txBox="1"/>
          <p:nvPr/>
        </p:nvSpPr>
        <p:spPr>
          <a:xfrm>
            <a:off x="452120" y="3393838"/>
            <a:ext cx="3980031" cy="2862322"/>
          </a:xfrm>
          <a:prstGeom prst="rect">
            <a:avLst/>
          </a:prstGeom>
          <a:noFill/>
        </p:spPr>
        <p:txBody>
          <a:bodyPr wrap="square">
            <a:spAutoFit/>
          </a:bodyPr>
          <a:lstStyle/>
          <a:p>
            <a:r>
              <a:rPr lang="en-IN" sz="1800" b="1" dirty="0">
                <a:latin typeface="Calibri" panose="020F0502020204030204" pitchFamily="34" charset="0"/>
                <a:ea typeface="Calibri" panose="020F0502020204030204" pitchFamily="34" charset="0"/>
                <a:cs typeface="Calibri" panose="020F0502020204030204" pitchFamily="34" charset="0"/>
              </a:rPr>
              <a:t>SSD Speed </a:t>
            </a:r>
          </a:p>
          <a:p>
            <a:pPr marL="285750" indent="-285750">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A key point that differentiates types of SSDs is their speed. </a:t>
            </a:r>
          </a:p>
          <a:p>
            <a:pPr marL="342900" lvl="0" indent="-342900">
              <a:buFont typeface="Wingdings" panose="05000000000000000000" pitchFamily="2" charset="2"/>
              <a:buChar char="§"/>
            </a:pPr>
            <a:r>
              <a:rPr lang="en-IN" sz="1800" b="1" dirty="0">
                <a:latin typeface="Calibri" panose="020F0502020204030204" pitchFamily="34" charset="0"/>
                <a:ea typeface="Calibri" panose="020F0502020204030204" pitchFamily="34" charset="0"/>
                <a:cs typeface="Calibri" panose="020F0502020204030204" pitchFamily="34" charset="0"/>
              </a:rPr>
              <a:t>SATA III </a:t>
            </a:r>
            <a:r>
              <a:rPr lang="en-IN" sz="1800" dirty="0">
                <a:latin typeface="Calibri" panose="020F0502020204030204" pitchFamily="34" charset="0"/>
                <a:ea typeface="Calibri" panose="020F0502020204030204" pitchFamily="34" charset="0"/>
                <a:cs typeface="Calibri" panose="020F0502020204030204" pitchFamily="34" charset="0"/>
              </a:rPr>
              <a:t>→ ≈ 500–550 MB/s </a:t>
            </a:r>
          </a:p>
          <a:p>
            <a:pPr marL="342900" lvl="0" indent="-342900">
              <a:buFont typeface="Wingdings" panose="05000000000000000000" pitchFamily="2" charset="2"/>
              <a:buChar char="§"/>
            </a:pPr>
            <a:r>
              <a:rPr lang="en-IN" sz="1800" b="1" dirty="0" err="1">
                <a:latin typeface="Calibri" panose="020F0502020204030204" pitchFamily="34" charset="0"/>
                <a:ea typeface="Calibri" panose="020F0502020204030204" pitchFamily="34" charset="0"/>
                <a:cs typeface="Calibri" panose="020F0502020204030204" pitchFamily="34" charset="0"/>
              </a:rPr>
              <a:t>NVMe</a:t>
            </a:r>
            <a:r>
              <a:rPr lang="en-IN" sz="1800" b="1" dirty="0">
                <a:latin typeface="Calibri" panose="020F0502020204030204" pitchFamily="34" charset="0"/>
                <a:ea typeface="Calibri" panose="020F0502020204030204" pitchFamily="34" charset="0"/>
                <a:cs typeface="Calibri" panose="020F0502020204030204" pitchFamily="34" charset="0"/>
              </a:rPr>
              <a:t> PCIe 3.0 </a:t>
            </a:r>
            <a:r>
              <a:rPr lang="en-IN" sz="1800" dirty="0">
                <a:latin typeface="Calibri" panose="020F0502020204030204" pitchFamily="34" charset="0"/>
                <a:ea typeface="Calibri" panose="020F0502020204030204" pitchFamily="34" charset="0"/>
                <a:cs typeface="Calibri" panose="020F0502020204030204" pitchFamily="34" charset="0"/>
              </a:rPr>
              <a:t>→ 2000 to 3500 MB/s </a:t>
            </a:r>
          </a:p>
          <a:p>
            <a:pPr marL="342900" lvl="0" indent="-342900">
              <a:buFont typeface="Wingdings" panose="05000000000000000000" pitchFamily="2" charset="2"/>
              <a:buChar char="§"/>
            </a:pPr>
            <a:r>
              <a:rPr lang="en-IN" sz="1800" b="1" dirty="0" err="1">
                <a:latin typeface="Calibri" panose="020F0502020204030204" pitchFamily="34" charset="0"/>
                <a:ea typeface="Calibri" panose="020F0502020204030204" pitchFamily="34" charset="0"/>
                <a:cs typeface="Calibri" panose="020F0502020204030204" pitchFamily="34" charset="0"/>
              </a:rPr>
              <a:t>NVMe</a:t>
            </a:r>
            <a:r>
              <a:rPr lang="en-IN" sz="1800" b="1" dirty="0">
                <a:latin typeface="Calibri" panose="020F0502020204030204" pitchFamily="34" charset="0"/>
                <a:ea typeface="Calibri" panose="020F0502020204030204" pitchFamily="34" charset="0"/>
                <a:cs typeface="Calibri" panose="020F0502020204030204" pitchFamily="34" charset="0"/>
              </a:rPr>
              <a:t> PCIe 4.0 </a:t>
            </a:r>
            <a:r>
              <a:rPr lang="en-IN" sz="1800" dirty="0">
                <a:latin typeface="Calibri" panose="020F0502020204030204" pitchFamily="34" charset="0"/>
                <a:ea typeface="Calibri" panose="020F0502020204030204" pitchFamily="34" charset="0"/>
                <a:cs typeface="Calibri" panose="020F0502020204030204" pitchFamily="34" charset="0"/>
              </a:rPr>
              <a:t>→ 5000 to 7500 MB/s </a:t>
            </a:r>
          </a:p>
          <a:p>
            <a:pPr marL="342900" lvl="0" indent="-342900">
              <a:buFont typeface="Wingdings" panose="05000000000000000000" pitchFamily="2" charset="2"/>
              <a:buChar char="§"/>
            </a:pPr>
            <a:r>
              <a:rPr lang="en-IN" sz="1800" b="1" dirty="0" err="1">
                <a:latin typeface="Calibri" panose="020F0502020204030204" pitchFamily="34" charset="0"/>
                <a:ea typeface="Calibri" panose="020F0502020204030204" pitchFamily="34" charset="0"/>
                <a:cs typeface="Calibri" panose="020F0502020204030204" pitchFamily="34" charset="0"/>
              </a:rPr>
              <a:t>NVMe</a:t>
            </a:r>
            <a:r>
              <a:rPr lang="en-IN" sz="1800" b="1" dirty="0">
                <a:latin typeface="Calibri" panose="020F0502020204030204" pitchFamily="34" charset="0"/>
                <a:ea typeface="Calibri" panose="020F0502020204030204" pitchFamily="34" charset="0"/>
                <a:cs typeface="Calibri" panose="020F0502020204030204" pitchFamily="34" charset="0"/>
              </a:rPr>
              <a:t> PCIe 5.0 </a:t>
            </a:r>
            <a:r>
              <a:rPr lang="en-IN" sz="1800" dirty="0">
                <a:latin typeface="Calibri" panose="020F0502020204030204" pitchFamily="34" charset="0"/>
                <a:ea typeface="Calibri" panose="020F0502020204030204" pitchFamily="34" charset="0"/>
                <a:cs typeface="Calibri" panose="020F0502020204030204" pitchFamily="34" charset="0"/>
              </a:rPr>
              <a:t>→ can exceed 10,000 MB/s </a:t>
            </a:r>
          </a:p>
        </p:txBody>
      </p:sp>
      <p:sp>
        <p:nvSpPr>
          <p:cNvPr id="13" name="TextBox 12">
            <a:extLst>
              <a:ext uri="{FF2B5EF4-FFF2-40B4-BE49-F238E27FC236}">
                <a16:creationId xmlns:a16="http://schemas.microsoft.com/office/drawing/2014/main" id="{70D199D6-50D1-7DAC-4BB1-6ED43294E997}"/>
              </a:ext>
            </a:extLst>
          </p:cNvPr>
          <p:cNvSpPr txBox="1"/>
          <p:nvPr/>
        </p:nvSpPr>
        <p:spPr>
          <a:xfrm>
            <a:off x="4711851" y="3429000"/>
            <a:ext cx="4130040" cy="2308324"/>
          </a:xfrm>
          <a:prstGeom prst="rect">
            <a:avLst/>
          </a:prstGeom>
          <a:noFill/>
        </p:spPr>
        <p:txBody>
          <a:bodyPr wrap="square">
            <a:spAutoFit/>
          </a:bodyPr>
          <a:lstStyle/>
          <a:p>
            <a:r>
              <a:rPr lang="en-IN" sz="1600" b="1" dirty="0"/>
              <a:t>SSD size </a:t>
            </a:r>
          </a:p>
          <a:p>
            <a:pPr marL="171450" indent="-171450">
              <a:buFont typeface="Wingdings" panose="05000000000000000000" pitchFamily="2" charset="2"/>
              <a:buChar char="§"/>
            </a:pPr>
            <a:r>
              <a:rPr lang="en-IN" sz="1600" dirty="0"/>
              <a:t>The SSD size (capacity) is also an important criterion. </a:t>
            </a:r>
          </a:p>
          <a:p>
            <a:pPr marL="342900" lvl="0" indent="-342900">
              <a:buFont typeface="Wingdings" panose="05000000000000000000" pitchFamily="2" charset="2"/>
              <a:buChar char="§"/>
            </a:pPr>
            <a:r>
              <a:rPr lang="en-IN" sz="1600" b="1" dirty="0"/>
              <a:t>250 GB - 500 GB </a:t>
            </a:r>
            <a:r>
              <a:rPr lang="en-IN" sz="1600" dirty="0"/>
              <a:t>→ sufficient for Windows and a few apps. </a:t>
            </a:r>
          </a:p>
          <a:p>
            <a:pPr marL="342900" lvl="0" indent="-342900">
              <a:buFont typeface="Wingdings" panose="05000000000000000000" pitchFamily="2" charset="2"/>
              <a:buChar char="§"/>
            </a:pPr>
            <a:r>
              <a:rPr lang="en-IN" sz="1600" b="1" dirty="0"/>
              <a:t>1 To </a:t>
            </a:r>
            <a:r>
              <a:rPr lang="en-IN" sz="1600" dirty="0"/>
              <a:t>→ the best compromise for OS + software + games. </a:t>
            </a:r>
          </a:p>
          <a:p>
            <a:pPr marL="342900" lvl="0" indent="-342900">
              <a:buFont typeface="Wingdings" panose="05000000000000000000" pitchFamily="2" charset="2"/>
              <a:buChar char="§"/>
            </a:pPr>
            <a:r>
              <a:rPr lang="en-IN" sz="1600" b="1" dirty="0"/>
              <a:t>2 To and more </a:t>
            </a:r>
            <a:r>
              <a:rPr lang="en-IN" sz="1600" dirty="0"/>
              <a:t>→ perfect for big gamers or video creators. </a:t>
            </a:r>
          </a:p>
        </p:txBody>
      </p:sp>
    </p:spTree>
    <p:extLst>
      <p:ext uri="{BB962C8B-B14F-4D97-AF65-F5344CB8AC3E}">
        <p14:creationId xmlns:p14="http://schemas.microsoft.com/office/powerpoint/2010/main" val="2569472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09802BF-7653-CD6A-70B4-912C28ABFE3E}"/>
              </a:ext>
            </a:extLst>
          </p:cNvPr>
          <p:cNvGraphicFramePr>
            <a:graphicFrameLocks noGrp="1"/>
          </p:cNvGraphicFramePr>
          <p:nvPr>
            <p:extLst>
              <p:ext uri="{D42A27DB-BD31-4B8C-83A1-F6EECF244321}">
                <p14:modId xmlns:p14="http://schemas.microsoft.com/office/powerpoint/2010/main" val="1994302694"/>
              </p:ext>
            </p:extLst>
          </p:nvPr>
        </p:nvGraphicFramePr>
        <p:xfrm>
          <a:off x="328108" y="837901"/>
          <a:ext cx="8487783" cy="5536782"/>
        </p:xfrm>
        <a:graphic>
          <a:graphicData uri="http://schemas.openxmlformats.org/drawingml/2006/table">
            <a:tbl>
              <a:tblPr>
                <a:tableStyleId>{EB344D84-9AFB-497E-A393-DC336BA19D2E}</a:tableStyleId>
              </a:tblPr>
              <a:tblGrid>
                <a:gridCol w="2060143">
                  <a:extLst>
                    <a:ext uri="{9D8B030D-6E8A-4147-A177-3AD203B41FA5}">
                      <a16:colId xmlns:a16="http://schemas.microsoft.com/office/drawing/2014/main" val="1033700183"/>
                    </a:ext>
                  </a:extLst>
                </a:gridCol>
                <a:gridCol w="3366860">
                  <a:extLst>
                    <a:ext uri="{9D8B030D-6E8A-4147-A177-3AD203B41FA5}">
                      <a16:colId xmlns:a16="http://schemas.microsoft.com/office/drawing/2014/main" val="1460308701"/>
                    </a:ext>
                  </a:extLst>
                </a:gridCol>
                <a:gridCol w="3060780">
                  <a:extLst>
                    <a:ext uri="{9D8B030D-6E8A-4147-A177-3AD203B41FA5}">
                      <a16:colId xmlns:a16="http://schemas.microsoft.com/office/drawing/2014/main" val="1214975654"/>
                    </a:ext>
                  </a:extLst>
                </a:gridCol>
              </a:tblGrid>
              <a:tr h="302253">
                <a:tc>
                  <a:txBody>
                    <a:bodyPr/>
                    <a:lstStyle/>
                    <a:p>
                      <a:pPr algn="l">
                        <a:buNone/>
                      </a:pPr>
                      <a:r>
                        <a:rPr lang="en-IN" sz="1800" b="1">
                          <a:effectLst/>
                          <a:latin typeface="Cambria" panose="02040503050406030204" pitchFamily="18" charset="0"/>
                          <a:ea typeface="Cambria" panose="02040503050406030204" pitchFamily="18" charset="0"/>
                        </a:rPr>
                        <a:t>Feature</a:t>
                      </a:r>
                      <a:endParaRPr lang="en-IN" sz="1800">
                        <a:effectLst/>
                        <a:latin typeface="Cambria" panose="02040503050406030204" pitchFamily="18" charset="0"/>
                        <a:ea typeface="Cambria" panose="02040503050406030204" pitchFamily="18" charset="0"/>
                      </a:endParaRPr>
                    </a:p>
                  </a:txBody>
                  <a:tcPr marL="66558" marR="66558" marT="33279" marB="33279" anchor="ctr"/>
                </a:tc>
                <a:tc>
                  <a:txBody>
                    <a:bodyPr/>
                    <a:lstStyle/>
                    <a:p>
                      <a:pPr algn="l">
                        <a:buNone/>
                      </a:pPr>
                      <a:r>
                        <a:rPr lang="en-IN" sz="1800" b="1">
                          <a:effectLst/>
                          <a:latin typeface="Cambria" panose="02040503050406030204" pitchFamily="18" charset="0"/>
                          <a:ea typeface="Cambria" panose="02040503050406030204" pitchFamily="18" charset="0"/>
                        </a:rPr>
                        <a:t>HDD (Hard Disk Drive)</a:t>
                      </a:r>
                      <a:endParaRPr lang="en-IN" sz="1800">
                        <a:effectLst/>
                        <a:latin typeface="Cambria" panose="02040503050406030204" pitchFamily="18" charset="0"/>
                        <a:ea typeface="Cambria" panose="02040503050406030204" pitchFamily="18" charset="0"/>
                      </a:endParaRPr>
                    </a:p>
                  </a:txBody>
                  <a:tcPr marL="66558" marR="66558" marT="33279" marB="33279" anchor="ctr"/>
                </a:tc>
                <a:tc>
                  <a:txBody>
                    <a:bodyPr/>
                    <a:lstStyle/>
                    <a:p>
                      <a:pPr algn="l">
                        <a:buNone/>
                      </a:pPr>
                      <a:r>
                        <a:rPr lang="en-IN" sz="1800" b="1">
                          <a:effectLst/>
                          <a:latin typeface="Cambria" panose="02040503050406030204" pitchFamily="18" charset="0"/>
                          <a:ea typeface="Cambria" panose="02040503050406030204" pitchFamily="18" charset="0"/>
                        </a:rPr>
                        <a:t>SSD (Solid State Drive)</a:t>
                      </a:r>
                      <a:endParaRPr lang="en-IN" sz="1800">
                        <a:effectLst/>
                        <a:latin typeface="Cambria" panose="02040503050406030204" pitchFamily="18" charset="0"/>
                        <a:ea typeface="Cambria" panose="02040503050406030204" pitchFamily="18" charset="0"/>
                      </a:endParaRPr>
                    </a:p>
                  </a:txBody>
                  <a:tcPr marL="66558" marR="66558" marT="33279" marB="33279" anchor="ctr"/>
                </a:tc>
                <a:extLst>
                  <a:ext uri="{0D108BD9-81ED-4DB2-BD59-A6C34878D82A}">
                    <a16:rowId xmlns:a16="http://schemas.microsoft.com/office/drawing/2014/main" val="2614082915"/>
                  </a:ext>
                </a:extLst>
              </a:tr>
              <a:tr h="532639">
                <a:tc>
                  <a:txBody>
                    <a:bodyPr/>
                    <a:lstStyle/>
                    <a:p>
                      <a:pPr rtl="0">
                        <a:buNone/>
                      </a:pPr>
                      <a:r>
                        <a:rPr lang="en-IN" sz="1800" b="1">
                          <a:latin typeface="Cambria" panose="02040503050406030204" pitchFamily="18" charset="0"/>
                          <a:ea typeface="Cambria" panose="02040503050406030204" pitchFamily="18" charset="0"/>
                        </a:rPr>
                        <a:t>Definition</a:t>
                      </a:r>
                      <a:endParaRPr lang="en-IN" sz="1800">
                        <a:latin typeface="Cambria" panose="02040503050406030204" pitchFamily="18" charset="0"/>
                        <a:ea typeface="Cambria" panose="02040503050406030204" pitchFamily="18" charset="0"/>
                      </a:endParaRPr>
                    </a:p>
                  </a:txBody>
                  <a:tcPr marL="66558" marR="66558" marT="33279" marB="33279" anchor="ctr"/>
                </a:tc>
                <a:tc>
                  <a:txBody>
                    <a:bodyPr/>
                    <a:lstStyle/>
                    <a:p>
                      <a:pPr rtl="0">
                        <a:buNone/>
                      </a:pPr>
                      <a:r>
                        <a:rPr lang="en-IN" sz="1800">
                          <a:latin typeface="Cambria" panose="02040503050406030204" pitchFamily="18" charset="0"/>
                          <a:ea typeface="Cambria" panose="02040503050406030204" pitchFamily="18" charset="0"/>
                        </a:rPr>
                        <a:t>Uses spinning disks and mechanical parts</a:t>
                      </a:r>
                    </a:p>
                  </a:txBody>
                  <a:tcPr marL="66558" marR="66558" marT="33279" marB="33279" anchor="ctr"/>
                </a:tc>
                <a:tc>
                  <a:txBody>
                    <a:bodyPr/>
                    <a:lstStyle/>
                    <a:p>
                      <a:pPr rtl="0">
                        <a:buNone/>
                      </a:pPr>
                      <a:r>
                        <a:rPr lang="en-IN" sz="1800" dirty="0">
                          <a:latin typeface="Cambria" panose="02040503050406030204" pitchFamily="18" charset="0"/>
                          <a:ea typeface="Cambria" panose="02040503050406030204" pitchFamily="18" charset="0"/>
                        </a:rPr>
                        <a:t>Uses electronic components (no moving parts)</a:t>
                      </a:r>
                    </a:p>
                  </a:txBody>
                  <a:tcPr marL="66558" marR="66558" marT="33279" marB="33279" anchor="ctr"/>
                </a:tc>
                <a:extLst>
                  <a:ext uri="{0D108BD9-81ED-4DB2-BD59-A6C34878D82A}">
                    <a16:rowId xmlns:a16="http://schemas.microsoft.com/office/drawing/2014/main" val="3092281591"/>
                  </a:ext>
                </a:extLst>
              </a:tr>
              <a:tr h="532639">
                <a:tc>
                  <a:txBody>
                    <a:bodyPr/>
                    <a:lstStyle/>
                    <a:p>
                      <a:pPr>
                        <a:buNone/>
                      </a:pPr>
                      <a:r>
                        <a:rPr lang="en-IN" sz="1800" b="1">
                          <a:latin typeface="Cambria" panose="02040503050406030204" pitchFamily="18" charset="0"/>
                          <a:ea typeface="Cambria" panose="02040503050406030204" pitchFamily="18" charset="0"/>
                        </a:rPr>
                        <a:t>Storage Technology</a:t>
                      </a:r>
                      <a:endParaRPr lang="en-IN" sz="1800">
                        <a:latin typeface="Cambria" panose="02040503050406030204" pitchFamily="18" charset="0"/>
                        <a:ea typeface="Cambria" panose="02040503050406030204" pitchFamily="18" charset="0"/>
                      </a:endParaRP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Uses spinning magnetic disks for storage.</a:t>
                      </a: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Uses NAND flash memory with no moving parts.</a:t>
                      </a:r>
                    </a:p>
                  </a:txBody>
                  <a:tcPr marL="66558" marR="66558" marT="33279" marB="33279" anchor="ctr"/>
                </a:tc>
                <a:extLst>
                  <a:ext uri="{0D108BD9-81ED-4DB2-BD59-A6C34878D82A}">
                    <a16:rowId xmlns:a16="http://schemas.microsoft.com/office/drawing/2014/main" val="2284201243"/>
                  </a:ext>
                </a:extLst>
              </a:tr>
              <a:tr h="532639">
                <a:tc>
                  <a:txBody>
                    <a:bodyPr/>
                    <a:lstStyle/>
                    <a:p>
                      <a:pPr>
                        <a:buNone/>
                      </a:pPr>
                      <a:r>
                        <a:rPr lang="en-IN" sz="1800" b="1" dirty="0">
                          <a:latin typeface="Cambria" panose="02040503050406030204" pitchFamily="18" charset="0"/>
                          <a:ea typeface="Cambria" panose="02040503050406030204" pitchFamily="18" charset="0"/>
                        </a:rPr>
                        <a:t>Speed</a:t>
                      </a:r>
                      <a:endParaRPr lang="en-IN" sz="1800" dirty="0">
                        <a:latin typeface="Cambria" panose="02040503050406030204" pitchFamily="18" charset="0"/>
                        <a:ea typeface="Cambria" panose="02040503050406030204" pitchFamily="18" charset="0"/>
                      </a:endParaRP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Slower boot times and file access.</a:t>
                      </a: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Much faster boot times and file access.</a:t>
                      </a:r>
                    </a:p>
                  </a:txBody>
                  <a:tcPr marL="66558" marR="66558" marT="33279" marB="33279" anchor="ctr"/>
                </a:tc>
                <a:extLst>
                  <a:ext uri="{0D108BD9-81ED-4DB2-BD59-A6C34878D82A}">
                    <a16:rowId xmlns:a16="http://schemas.microsoft.com/office/drawing/2014/main" val="4153096711"/>
                  </a:ext>
                </a:extLst>
              </a:tr>
              <a:tr h="532639">
                <a:tc>
                  <a:txBody>
                    <a:bodyPr/>
                    <a:lstStyle/>
                    <a:p>
                      <a:pPr>
                        <a:buNone/>
                      </a:pPr>
                      <a:r>
                        <a:rPr lang="en-IN" sz="1800" b="1">
                          <a:latin typeface="Cambria" panose="02040503050406030204" pitchFamily="18" charset="0"/>
                          <a:ea typeface="Cambria" panose="02040503050406030204" pitchFamily="18" charset="0"/>
                        </a:rPr>
                        <a:t>Durability</a:t>
                      </a:r>
                      <a:endParaRPr lang="en-IN" sz="1800">
                        <a:latin typeface="Cambria" panose="02040503050406030204" pitchFamily="18" charset="0"/>
                        <a:ea typeface="Cambria" panose="02040503050406030204" pitchFamily="18" charset="0"/>
                      </a:endParaRP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Has moving parts, making it prone to damage.</a:t>
                      </a: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More durable and shock-resistant.</a:t>
                      </a:r>
                    </a:p>
                  </a:txBody>
                  <a:tcPr marL="66558" marR="66558" marT="33279" marB="33279" anchor="ctr"/>
                </a:tc>
                <a:extLst>
                  <a:ext uri="{0D108BD9-81ED-4DB2-BD59-A6C34878D82A}">
                    <a16:rowId xmlns:a16="http://schemas.microsoft.com/office/drawing/2014/main" val="107811204"/>
                  </a:ext>
                </a:extLst>
              </a:tr>
              <a:tr h="532639">
                <a:tc>
                  <a:txBody>
                    <a:bodyPr/>
                    <a:lstStyle/>
                    <a:p>
                      <a:pPr>
                        <a:buNone/>
                      </a:pPr>
                      <a:r>
                        <a:rPr lang="en-IN" sz="1800" b="1">
                          <a:latin typeface="Cambria" panose="02040503050406030204" pitchFamily="18" charset="0"/>
                          <a:ea typeface="Cambria" panose="02040503050406030204" pitchFamily="18" charset="0"/>
                        </a:rPr>
                        <a:t>Noise</a:t>
                      </a:r>
                      <a:endParaRPr lang="en-IN" sz="1800">
                        <a:latin typeface="Cambria" panose="02040503050406030204" pitchFamily="18" charset="0"/>
                        <a:ea typeface="Cambria" panose="02040503050406030204" pitchFamily="18" charset="0"/>
                      </a:endParaRP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Produces noise due to spinning disks.</a:t>
                      </a: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Operates silently.</a:t>
                      </a:r>
                    </a:p>
                  </a:txBody>
                  <a:tcPr marL="66558" marR="66558" marT="33279" marB="33279" anchor="ctr"/>
                </a:tc>
                <a:extLst>
                  <a:ext uri="{0D108BD9-81ED-4DB2-BD59-A6C34878D82A}">
                    <a16:rowId xmlns:a16="http://schemas.microsoft.com/office/drawing/2014/main" val="292454436"/>
                  </a:ext>
                </a:extLst>
              </a:tr>
              <a:tr h="532639">
                <a:tc>
                  <a:txBody>
                    <a:bodyPr/>
                    <a:lstStyle/>
                    <a:p>
                      <a:pPr>
                        <a:buNone/>
                      </a:pPr>
                      <a:r>
                        <a:rPr lang="en-IN" sz="1800" b="1" dirty="0">
                          <a:latin typeface="Cambria" panose="02040503050406030204" pitchFamily="18" charset="0"/>
                          <a:ea typeface="Cambria" panose="02040503050406030204" pitchFamily="18" charset="0"/>
                        </a:rPr>
                        <a:t>Power Consumption</a:t>
                      </a:r>
                      <a:endParaRPr lang="en-IN" sz="1800" dirty="0">
                        <a:latin typeface="Cambria" panose="02040503050406030204" pitchFamily="18" charset="0"/>
                        <a:ea typeface="Cambria" panose="02040503050406030204" pitchFamily="18" charset="0"/>
                      </a:endParaRP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Consumes more power.</a:t>
                      </a: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Uses less power, improving battery life.</a:t>
                      </a:r>
                    </a:p>
                  </a:txBody>
                  <a:tcPr marL="66558" marR="66558" marT="33279" marB="33279" anchor="ctr"/>
                </a:tc>
                <a:extLst>
                  <a:ext uri="{0D108BD9-81ED-4DB2-BD59-A6C34878D82A}">
                    <a16:rowId xmlns:a16="http://schemas.microsoft.com/office/drawing/2014/main" val="3254849641"/>
                  </a:ext>
                </a:extLst>
              </a:tr>
              <a:tr h="532639">
                <a:tc>
                  <a:txBody>
                    <a:bodyPr/>
                    <a:lstStyle/>
                    <a:p>
                      <a:pPr>
                        <a:buNone/>
                      </a:pPr>
                      <a:r>
                        <a:rPr lang="en-IN" sz="1800" b="1">
                          <a:latin typeface="Cambria" panose="02040503050406030204" pitchFamily="18" charset="0"/>
                          <a:ea typeface="Cambria" panose="02040503050406030204" pitchFamily="18" charset="0"/>
                        </a:rPr>
                        <a:t>Lifespan</a:t>
                      </a:r>
                      <a:endParaRPr lang="en-IN" sz="1800">
                        <a:latin typeface="Cambria" panose="02040503050406030204" pitchFamily="18" charset="0"/>
                        <a:ea typeface="Cambria" panose="02040503050406030204" pitchFamily="18" charset="0"/>
                      </a:endParaRP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Wears out over time due to mechanical movement.</a:t>
                      </a:r>
                    </a:p>
                  </a:txBody>
                  <a:tcPr marL="66558" marR="66558" marT="33279" marB="33279" anchor="ctr"/>
                </a:tc>
                <a:tc>
                  <a:txBody>
                    <a:bodyPr/>
                    <a:lstStyle/>
                    <a:p>
                      <a:pPr>
                        <a:buNone/>
                      </a:pPr>
                      <a:r>
                        <a:rPr lang="en-IN" sz="1800">
                          <a:latin typeface="Cambria" panose="02040503050406030204" pitchFamily="18" charset="0"/>
                          <a:ea typeface="Cambria" panose="02040503050406030204" pitchFamily="18" charset="0"/>
                        </a:rPr>
                        <a:t>Lasts longer but has limited write cycles.</a:t>
                      </a:r>
                    </a:p>
                  </a:txBody>
                  <a:tcPr marL="66558" marR="66558" marT="33279" marB="33279" anchor="ctr"/>
                </a:tc>
                <a:extLst>
                  <a:ext uri="{0D108BD9-81ED-4DB2-BD59-A6C34878D82A}">
                    <a16:rowId xmlns:a16="http://schemas.microsoft.com/office/drawing/2014/main" val="1060061662"/>
                  </a:ext>
                </a:extLst>
              </a:tr>
              <a:tr h="532639">
                <a:tc>
                  <a:txBody>
                    <a:bodyPr/>
                    <a:lstStyle/>
                    <a:p>
                      <a:pPr rtl="0">
                        <a:buNone/>
                      </a:pPr>
                      <a:r>
                        <a:rPr lang="en-IN" sz="1800" b="1" dirty="0">
                          <a:latin typeface="Cambria" panose="02040503050406030204" pitchFamily="18" charset="0"/>
                          <a:ea typeface="Cambria" panose="02040503050406030204" pitchFamily="18" charset="0"/>
                        </a:rPr>
                        <a:t>Data Fragmentation</a:t>
                      </a:r>
                      <a:endParaRPr lang="en-IN" sz="1800" dirty="0">
                        <a:latin typeface="Cambria" panose="02040503050406030204" pitchFamily="18" charset="0"/>
                        <a:ea typeface="Cambria" panose="02040503050406030204" pitchFamily="18" charset="0"/>
                      </a:endParaRPr>
                    </a:p>
                  </a:txBody>
                  <a:tcPr marL="66558" marR="66558" marT="33279" marB="33279" anchor="ctr"/>
                </a:tc>
                <a:tc>
                  <a:txBody>
                    <a:bodyPr/>
                    <a:lstStyle/>
                    <a:p>
                      <a:pPr rtl="0">
                        <a:buNone/>
                      </a:pPr>
                      <a:r>
                        <a:rPr lang="en-IN" sz="1800">
                          <a:latin typeface="Cambria" panose="02040503050406030204" pitchFamily="18" charset="0"/>
                          <a:ea typeface="Cambria" panose="02040503050406030204" pitchFamily="18" charset="0"/>
                        </a:rPr>
                        <a:t>Performance can suffer from fragmentation</a:t>
                      </a:r>
                    </a:p>
                  </a:txBody>
                  <a:tcPr marL="66558" marR="66558" marT="33279" marB="33279" anchor="ctr"/>
                </a:tc>
                <a:tc>
                  <a:txBody>
                    <a:bodyPr/>
                    <a:lstStyle/>
                    <a:p>
                      <a:pPr rtl="0">
                        <a:buNone/>
                      </a:pPr>
                      <a:r>
                        <a:rPr lang="en-IN" sz="1800" dirty="0">
                          <a:latin typeface="Cambria" panose="02040503050406030204" pitchFamily="18" charset="0"/>
                          <a:ea typeface="Cambria" panose="02040503050406030204" pitchFamily="18" charset="0"/>
                        </a:rPr>
                        <a:t>No fragmentation; performance remains consistent</a:t>
                      </a:r>
                    </a:p>
                  </a:txBody>
                  <a:tcPr marL="66558" marR="66558" marT="33279" marB="33279" anchor="ctr"/>
                </a:tc>
                <a:extLst>
                  <a:ext uri="{0D108BD9-81ED-4DB2-BD59-A6C34878D82A}">
                    <a16:rowId xmlns:a16="http://schemas.microsoft.com/office/drawing/2014/main" val="3407769177"/>
                  </a:ext>
                </a:extLst>
              </a:tr>
            </a:tbl>
          </a:graphicData>
        </a:graphic>
      </p:graphicFrame>
    </p:spTree>
    <p:extLst>
      <p:ext uri="{BB962C8B-B14F-4D97-AF65-F5344CB8AC3E}">
        <p14:creationId xmlns:p14="http://schemas.microsoft.com/office/powerpoint/2010/main" val="1250605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Conclusion of SSD and HDD</a:t>
            </a:r>
            <a:endParaRPr/>
          </a:p>
        </p:txBody>
      </p:sp>
      <p:sp>
        <p:nvSpPr>
          <p:cNvPr id="318" name="Google Shape;318;p44"/>
          <p:cNvSpPr txBox="1">
            <a:spLocks noGrp="1"/>
          </p:cNvSpPr>
          <p:nvPr>
            <p:ph type="body" idx="1"/>
          </p:nvPr>
        </p:nvSpPr>
        <p:spPr>
          <a:xfrm>
            <a:off x="393065" y="1146175"/>
            <a:ext cx="8519160" cy="511619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SSD is preferred for fast performance because it has no moving parts and provides quick booting, faster application loading, and rapid data access. Therefore, SSDs are commonly used for operating systems, software, gaming, and high-performance applications.</a:t>
            </a: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HDD is preferred for economical, high-capacity storage because it offers more storage at a lower cost per GB. Therefore, HDDs are commonly used for backups, CCTV recordings, large media collections, and long-term data storage.</a:t>
            </a: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HDD = High Capacity + Low Cost + Mechanical Storage</a:t>
            </a: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SSD = High Speed + No Moving Parts + Flash Storage</a:t>
            </a:r>
            <a:endParaRPr sz="2000" dirty="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Flash Media</a:t>
            </a:r>
            <a:endParaRPr/>
          </a:p>
        </p:txBody>
      </p:sp>
      <p:sp>
        <p:nvSpPr>
          <p:cNvPr id="324" name="Google Shape;324;p45"/>
          <p:cNvSpPr txBox="1">
            <a:spLocks noGrp="1"/>
          </p:cNvSpPr>
          <p:nvPr>
            <p:ph type="body" idx="1"/>
          </p:nvPr>
        </p:nvSpPr>
        <p:spPr>
          <a:xfrm>
            <a:off x="263525" y="838835"/>
            <a:ext cx="8423275" cy="546735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Flash media is a type of non-volatile storage that stores data electronically and retains it even when the power is switched OFF. It uses NAND flash memory and has no moving mechanical parts.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Common examples of Flash Media:</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571500" lvl="0" indent="-457200" algn="l" rtl="0">
              <a:lnSpc>
                <a:spcPct val="100000"/>
              </a:lnSpc>
              <a:spcBef>
                <a:spcPts val="360"/>
              </a:spcBef>
              <a:spcAft>
                <a:spcPts val="0"/>
              </a:spcAft>
              <a:buSzPts val="1800"/>
              <a:buFont typeface="Arial"/>
              <a:buAutoNum type="arabicPeriod"/>
            </a:pPr>
            <a:r>
              <a:rPr lang="en-US" sz="2000">
                <a:latin typeface="Times New Roman"/>
                <a:ea typeface="Times New Roman"/>
                <a:cs typeface="Times New Roman"/>
                <a:sym typeface="Times New Roman"/>
              </a:rPr>
              <a:t>SD Cards</a:t>
            </a:r>
            <a:endParaRPr sz="2000">
              <a:latin typeface="Times New Roman"/>
              <a:ea typeface="Times New Roman"/>
              <a:cs typeface="Times New Roman"/>
              <a:sym typeface="Times New Roman"/>
            </a:endParaRPr>
          </a:p>
          <a:p>
            <a:pPr marL="571500" lvl="0" indent="-457200" algn="l" rtl="0">
              <a:lnSpc>
                <a:spcPct val="100000"/>
              </a:lnSpc>
              <a:spcBef>
                <a:spcPts val="360"/>
              </a:spcBef>
              <a:spcAft>
                <a:spcPts val="0"/>
              </a:spcAft>
              <a:buSzPts val="1800"/>
              <a:buFont typeface="Arial"/>
              <a:buAutoNum type="arabicPeriod"/>
            </a:pPr>
            <a:r>
              <a:rPr lang="en-US" sz="2000">
                <a:latin typeface="Times New Roman"/>
                <a:ea typeface="Times New Roman"/>
                <a:cs typeface="Times New Roman"/>
                <a:sym typeface="Times New Roman"/>
              </a:rPr>
              <a:t>microSD Cards</a:t>
            </a:r>
            <a:endParaRPr sz="2000">
              <a:latin typeface="Times New Roman"/>
              <a:ea typeface="Times New Roman"/>
              <a:cs typeface="Times New Roman"/>
              <a:sym typeface="Times New Roman"/>
            </a:endParaRPr>
          </a:p>
          <a:p>
            <a:pPr marL="571500" lvl="0" indent="-457200" algn="l" rtl="0">
              <a:lnSpc>
                <a:spcPct val="100000"/>
              </a:lnSpc>
              <a:spcBef>
                <a:spcPts val="360"/>
              </a:spcBef>
              <a:spcAft>
                <a:spcPts val="0"/>
              </a:spcAft>
              <a:buSzPts val="1800"/>
              <a:buFont typeface="Arial"/>
              <a:buAutoNum type="arabicPeriod"/>
            </a:pPr>
            <a:r>
              <a:rPr lang="en-US" sz="2000">
                <a:latin typeface="Times New Roman"/>
                <a:ea typeface="Times New Roman"/>
                <a:cs typeface="Times New Roman"/>
                <a:sym typeface="Times New Roman"/>
              </a:rPr>
              <a:t>USB Flash Drives</a:t>
            </a:r>
            <a:endParaRPr sz="2000">
              <a:latin typeface="Times New Roman"/>
              <a:ea typeface="Times New Roman"/>
              <a:cs typeface="Times New Roman"/>
              <a:sym typeface="Times New Roman"/>
            </a:endParaRPr>
          </a:p>
          <a:p>
            <a:pPr marL="571500" lvl="0" indent="-457200" algn="l" rtl="0">
              <a:lnSpc>
                <a:spcPct val="100000"/>
              </a:lnSpc>
              <a:spcBef>
                <a:spcPts val="360"/>
              </a:spcBef>
              <a:spcAft>
                <a:spcPts val="0"/>
              </a:spcAft>
              <a:buSzPts val="1800"/>
              <a:buFont typeface="Arial"/>
              <a:buAutoNum type="arabicPeriod"/>
            </a:pPr>
            <a:r>
              <a:rPr lang="en-US" sz="2000">
                <a:latin typeface="Times New Roman"/>
                <a:ea typeface="Times New Roman"/>
                <a:cs typeface="Times New Roman"/>
                <a:sym typeface="Times New Roman"/>
              </a:rPr>
              <a:t>Compact Flash Cards</a:t>
            </a:r>
            <a:endParaRPr sz="2000">
              <a:latin typeface="Times New Roman"/>
              <a:ea typeface="Times New Roman"/>
              <a:cs typeface="Times New Roman"/>
              <a:sym typeface="Times New Roman"/>
            </a:endParaRPr>
          </a:p>
          <a:p>
            <a:pPr marL="571500" lvl="0" indent="-457200" algn="l" rtl="0">
              <a:lnSpc>
                <a:spcPct val="100000"/>
              </a:lnSpc>
              <a:spcBef>
                <a:spcPts val="360"/>
              </a:spcBef>
              <a:spcAft>
                <a:spcPts val="0"/>
              </a:spcAft>
              <a:buSzPts val="1800"/>
              <a:buFont typeface="Arial"/>
              <a:buAutoNum type="arabicPeriod"/>
            </a:pPr>
            <a:r>
              <a:rPr lang="en-US" sz="2000">
                <a:latin typeface="Times New Roman"/>
                <a:ea typeface="Times New Roman"/>
                <a:cs typeface="Times New Roman"/>
                <a:sym typeface="Times New Roman"/>
              </a:rPr>
              <a:t>USB Memory Sticks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Flash media is widely used because it is small, portable, lightweight, durable, and provides quick access to data.</a:t>
            </a:r>
            <a:endParaRPr sz="20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How Flash Memory Works</a:t>
            </a:r>
            <a:endParaRPr/>
          </a:p>
        </p:txBody>
      </p:sp>
      <p:sp>
        <p:nvSpPr>
          <p:cNvPr id="330" name="Google Shape;330;p46"/>
          <p:cNvSpPr txBox="1">
            <a:spLocks noGrp="1"/>
          </p:cNvSpPr>
          <p:nvPr>
            <p:ph type="body" idx="1"/>
          </p:nvPr>
        </p:nvSpPr>
        <p:spPr>
          <a:xfrm>
            <a:off x="296545" y="996315"/>
            <a:ext cx="8390255" cy="523367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Flash memory stores data in small electronic cells. The data stays saved even when the device is switched OFF.</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Simple Process: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Save Data:</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Device → Flash Memory → Data is Stored</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Read Data:</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Flash Memory → Device → Data is Used</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Unlike an HDD, flash memory has no spinning disks and no moving parts. This makes flash storage small, fast, quiet, and more resistant to physical shocks</a:t>
            </a:r>
            <a:endParaRPr sz="20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SD Cards</a:t>
            </a:r>
            <a:endParaRPr/>
          </a:p>
        </p:txBody>
      </p:sp>
      <p:sp>
        <p:nvSpPr>
          <p:cNvPr id="336" name="Google Shape;336;p47"/>
          <p:cNvSpPr txBox="1">
            <a:spLocks noGrp="1"/>
          </p:cNvSpPr>
          <p:nvPr>
            <p:ph type="body" idx="1"/>
          </p:nvPr>
        </p:nvSpPr>
        <p:spPr>
          <a:xfrm>
            <a:off x="254000" y="974725"/>
            <a:ext cx="8432800" cy="492315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An SD (Secure Digital) card is a small removable flash-storage device commonly used to store and transfer digital data.</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Different forms include:</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SD Card: Commonly used in cameras and other larger devices.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microSD Card: Smaller version commonly used in smartphones, tablets, drones, and action cameras.</a:t>
            </a:r>
            <a:endParaRPr sz="20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Real-Life Applications of SD Cards</a:t>
            </a:r>
            <a:endParaRPr/>
          </a:p>
        </p:txBody>
      </p:sp>
      <p:sp>
        <p:nvSpPr>
          <p:cNvPr id="342" name="Google Shape;342;p48"/>
          <p:cNvSpPr txBox="1">
            <a:spLocks noGrp="1"/>
          </p:cNvSpPr>
          <p:nvPr>
            <p:ph type="body" idx="1"/>
          </p:nvPr>
        </p:nvSpPr>
        <p:spPr>
          <a:xfrm>
            <a:off x="92710" y="1017905"/>
            <a:ext cx="8936990" cy="551307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Digital Cameras: SD cards store photographs and high-resolution videos captured by cameras.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Smartphones and Tablets: microSD cards can provide additional storage for photos, videos, music, and documents in devices that support expandable storage.</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Drones and Action Cameras: Used to record high-resolution photographs and videos.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Gaming Devices: Used for storing games, downloadable content, screenshots, and other files.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CCTV and Security Cameras: Some cameras use microSD cards for local video recording.</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Embedded Devices: Used to store software, configuration files, maps, and other data.</a:t>
            </a:r>
            <a:endParaRPr sz="20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Features of SD Cards</a:t>
            </a:r>
            <a:endParaRPr/>
          </a:p>
        </p:txBody>
      </p:sp>
      <p:sp>
        <p:nvSpPr>
          <p:cNvPr id="348" name="Google Shape;348;p49"/>
          <p:cNvSpPr txBox="1">
            <a:spLocks noGrp="1"/>
          </p:cNvSpPr>
          <p:nvPr>
            <p:ph type="body" idx="1"/>
          </p:nvPr>
        </p:nvSpPr>
        <p:spPr>
          <a:xfrm>
            <a:off x="254000" y="1371600"/>
            <a:ext cx="8582660" cy="499872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Non-volatile: Data remains after power is removed.</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Portable: Very small and easy to carry.</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Removable: Can be transferred between compatible devices.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No moving parts: More resistant to physical shock than HDDs.</a:t>
            </a: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r>
              <a:rPr lang="en-US" sz="2000">
                <a:latin typeface="Times New Roman"/>
                <a:ea typeface="Times New Roman"/>
                <a:cs typeface="Times New Roman"/>
                <a:sym typeface="Times New Roman"/>
              </a:rPr>
              <a:t>Different capacities and speeds: Available for different applications.</a:t>
            </a:r>
            <a:endParaRPr sz="20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30"/>
          <p:cNvSpPr txBox="1">
            <a:spLocks noGrp="1"/>
          </p:cNvSpPr>
          <p:nvPr>
            <p:ph type="body" idx="1"/>
          </p:nvPr>
        </p:nvSpPr>
        <p:spPr>
          <a:xfrm>
            <a:off x="457200" y="1028700"/>
            <a:ext cx="8229600" cy="486918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800" dirty="0"/>
              <a:t>Secondary memory is of two types:</a:t>
            </a:r>
            <a:endParaRPr sz="2800" dirty="0"/>
          </a:p>
          <a:p>
            <a:pPr marL="114300" lvl="0" indent="0" algn="l" rtl="0">
              <a:lnSpc>
                <a:spcPct val="100000"/>
              </a:lnSpc>
              <a:spcBef>
                <a:spcPts val="360"/>
              </a:spcBef>
              <a:spcAft>
                <a:spcPts val="0"/>
              </a:spcAft>
              <a:buSzPts val="1800"/>
              <a:buNone/>
            </a:pPr>
            <a:r>
              <a:rPr lang="en-US" sz="2800" dirty="0"/>
              <a:t>1. Fixed devices</a:t>
            </a:r>
            <a:endParaRPr sz="2800" dirty="0"/>
          </a:p>
          <a:p>
            <a:pPr marL="114300" lvl="0" indent="0" algn="l" rtl="0">
              <a:lnSpc>
                <a:spcPct val="100000"/>
              </a:lnSpc>
              <a:spcBef>
                <a:spcPts val="360"/>
              </a:spcBef>
              <a:spcAft>
                <a:spcPts val="0"/>
              </a:spcAft>
              <a:buSzPts val="1800"/>
              <a:buNone/>
            </a:pPr>
            <a:r>
              <a:rPr lang="en-US" sz="2800" dirty="0"/>
              <a:t>2. Removable devices</a:t>
            </a:r>
            <a:endParaRPr sz="2800" dirty="0"/>
          </a:p>
          <a:p>
            <a:pPr marL="114300" lvl="0" indent="0" algn="l" rtl="0">
              <a:lnSpc>
                <a:spcPct val="100000"/>
              </a:lnSpc>
              <a:spcBef>
                <a:spcPts val="360"/>
              </a:spcBef>
              <a:spcAft>
                <a:spcPts val="0"/>
              </a:spcAft>
              <a:buSzPts val="1800"/>
              <a:buNone/>
            </a:pPr>
            <a:r>
              <a:rPr lang="en-US" sz="2800" dirty="0"/>
              <a:t>Fixed storage is also known as fixed disk drives or hard drives. Here data is stored in a built-in fixed storage device.</a:t>
            </a:r>
            <a:endParaRPr sz="2800" dirty="0"/>
          </a:p>
          <a:p>
            <a:pPr marL="114300" lvl="0" indent="0" algn="l" rtl="0">
              <a:lnSpc>
                <a:spcPct val="100000"/>
              </a:lnSpc>
              <a:spcBef>
                <a:spcPts val="360"/>
              </a:spcBef>
              <a:spcAft>
                <a:spcPts val="0"/>
              </a:spcAft>
              <a:buSzPts val="1800"/>
              <a:buNone/>
            </a:pPr>
            <a:r>
              <a:rPr lang="en-US" sz="2800" dirty="0"/>
              <a:t>Types of fixed storage:</a:t>
            </a:r>
            <a:endParaRPr sz="2800" dirty="0"/>
          </a:p>
          <a:p>
            <a:pPr marL="114300" lvl="0" indent="0" algn="l" rtl="0">
              <a:lnSpc>
                <a:spcPct val="100000"/>
              </a:lnSpc>
              <a:spcBef>
                <a:spcPts val="360"/>
              </a:spcBef>
              <a:spcAft>
                <a:spcPts val="0"/>
              </a:spcAft>
              <a:buSzPts val="1800"/>
              <a:buNone/>
            </a:pPr>
            <a:r>
              <a:rPr lang="en-US" sz="2800" dirty="0"/>
              <a:t>SSD (solid-state disk)</a:t>
            </a:r>
            <a:endParaRPr sz="2800" dirty="0"/>
          </a:p>
          <a:p>
            <a:pPr marL="114300" lvl="0" indent="0" algn="l" rtl="0">
              <a:lnSpc>
                <a:spcPct val="100000"/>
              </a:lnSpc>
              <a:spcBef>
                <a:spcPts val="360"/>
              </a:spcBef>
              <a:spcAft>
                <a:spcPts val="0"/>
              </a:spcAft>
              <a:buSzPts val="1800"/>
              <a:buNone/>
            </a:pPr>
            <a:r>
              <a:rPr lang="en-US" sz="2800" dirty="0"/>
              <a:t>Hard disk drives (HDD)</a:t>
            </a:r>
            <a:endParaRPr sz="2800" dirty="0"/>
          </a:p>
        </p:txBody>
      </p:sp>
    </p:spTree>
    <p:extLst>
      <p:ext uri="{BB962C8B-B14F-4D97-AF65-F5344CB8AC3E}">
        <p14:creationId xmlns:p14="http://schemas.microsoft.com/office/powerpoint/2010/main" val="43100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Removable devices</a:t>
            </a:r>
            <a:endParaRPr/>
          </a:p>
        </p:txBody>
      </p:sp>
      <p:sp>
        <p:nvSpPr>
          <p:cNvPr id="237" name="Google Shape;237;p31"/>
          <p:cNvSpPr txBox="1">
            <a:spLocks noGrp="1"/>
          </p:cNvSpPr>
          <p:nvPr>
            <p:ph type="body" idx="1"/>
          </p:nvPr>
        </p:nvSpPr>
        <p:spPr>
          <a:xfrm>
            <a:off x="457200" y="975360"/>
            <a:ext cx="8229600" cy="4525963"/>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400" dirty="0"/>
              <a:t>Removable storage is also known as external drives.</a:t>
            </a:r>
            <a:endParaRPr sz="2400" dirty="0"/>
          </a:p>
          <a:p>
            <a:pPr marL="114300" lvl="0" indent="0" algn="just" rtl="0">
              <a:lnSpc>
                <a:spcPct val="100000"/>
              </a:lnSpc>
              <a:spcBef>
                <a:spcPts val="360"/>
              </a:spcBef>
              <a:spcAft>
                <a:spcPts val="0"/>
              </a:spcAft>
              <a:buSzPts val="1800"/>
              <a:buNone/>
            </a:pPr>
            <a:r>
              <a:rPr lang="en-US" sz="2400" dirty="0"/>
              <a:t>It is a storage device that can be </a:t>
            </a:r>
            <a:r>
              <a:rPr lang="en-US" sz="2400" b="1" dirty="0"/>
              <a:t>inserted or removed from the computer </a:t>
            </a:r>
            <a:r>
              <a:rPr lang="en-US" sz="2400" dirty="0"/>
              <a:t>according to our requirements. They are </a:t>
            </a:r>
            <a:r>
              <a:rPr lang="en-US" sz="2400" b="1" dirty="0"/>
              <a:t>portable</a:t>
            </a:r>
            <a:r>
              <a:rPr lang="en-US" sz="2400" dirty="0"/>
              <a:t> so that we can easily transfer data from one computer to another. Also, they provide the fast data transfer.</a:t>
            </a:r>
            <a:endParaRPr sz="2400" dirty="0"/>
          </a:p>
          <a:p>
            <a:pPr marL="114300" lvl="0" indent="0" algn="l" rtl="0">
              <a:lnSpc>
                <a:spcPct val="100000"/>
              </a:lnSpc>
              <a:spcBef>
                <a:spcPts val="360"/>
              </a:spcBef>
              <a:spcAft>
                <a:spcPts val="0"/>
              </a:spcAft>
              <a:buSzPts val="1800"/>
              <a:buNone/>
            </a:pPr>
            <a:endParaRPr sz="2400" dirty="0"/>
          </a:p>
          <a:p>
            <a:pPr marL="114300" lvl="0" indent="0" algn="l" rtl="0">
              <a:lnSpc>
                <a:spcPct val="100000"/>
              </a:lnSpc>
              <a:spcBef>
                <a:spcPts val="360"/>
              </a:spcBef>
              <a:spcAft>
                <a:spcPts val="0"/>
              </a:spcAft>
              <a:buSzPts val="1800"/>
              <a:buNone/>
            </a:pPr>
            <a:r>
              <a:rPr lang="en-US" sz="2400" dirty="0"/>
              <a:t>Types of Removable Storage:</a:t>
            </a:r>
            <a:endParaRPr sz="2400" dirty="0"/>
          </a:p>
          <a:p>
            <a:pPr marL="571500" lvl="0" indent="-457200" algn="l" rtl="0">
              <a:lnSpc>
                <a:spcPct val="100000"/>
              </a:lnSpc>
              <a:spcBef>
                <a:spcPts val="360"/>
              </a:spcBef>
              <a:spcAft>
                <a:spcPts val="0"/>
              </a:spcAft>
              <a:buSzPts val="1800"/>
              <a:buAutoNum type="arabicPeriod"/>
            </a:pPr>
            <a:r>
              <a:rPr lang="en-US" sz="2400" dirty="0"/>
              <a:t>Optical discs (like CDs, DVDs, Blu-ray discs)</a:t>
            </a:r>
            <a:endParaRPr sz="2400" dirty="0"/>
          </a:p>
          <a:p>
            <a:pPr marL="571500" lvl="0" indent="-457200" algn="l" rtl="0">
              <a:lnSpc>
                <a:spcPct val="100000"/>
              </a:lnSpc>
              <a:spcBef>
                <a:spcPts val="360"/>
              </a:spcBef>
              <a:spcAft>
                <a:spcPts val="0"/>
              </a:spcAft>
              <a:buSzPts val="1800"/>
              <a:buAutoNum type="arabicPeriod"/>
            </a:pPr>
            <a:r>
              <a:rPr lang="en-US" sz="2400" dirty="0"/>
              <a:t>Memory cards</a:t>
            </a:r>
            <a:endParaRPr sz="2400" dirty="0"/>
          </a:p>
          <a:p>
            <a:pPr marL="571500" lvl="0" indent="-457200" algn="l" rtl="0">
              <a:lnSpc>
                <a:spcPct val="100000"/>
              </a:lnSpc>
              <a:spcBef>
                <a:spcPts val="360"/>
              </a:spcBef>
              <a:spcAft>
                <a:spcPts val="0"/>
              </a:spcAft>
              <a:buSzPts val="1800"/>
              <a:buAutoNum type="arabicPeriod"/>
            </a:pPr>
            <a:r>
              <a:rPr lang="en-US" sz="2400" dirty="0"/>
              <a:t>Floppy disks</a:t>
            </a:r>
            <a:endParaRPr sz="2400" dirty="0"/>
          </a:p>
          <a:p>
            <a:pPr marL="571500" lvl="0" indent="-457200" algn="l" rtl="0">
              <a:lnSpc>
                <a:spcPct val="100000"/>
              </a:lnSpc>
              <a:spcBef>
                <a:spcPts val="360"/>
              </a:spcBef>
              <a:spcAft>
                <a:spcPts val="0"/>
              </a:spcAft>
              <a:buSzPts val="1800"/>
              <a:buAutoNum type="arabicPeriod"/>
            </a:pPr>
            <a:r>
              <a:rPr lang="en-US" sz="2400" dirty="0"/>
              <a:t>Magnetic tapes</a:t>
            </a:r>
            <a:endParaRPr sz="2400" dirty="0"/>
          </a:p>
          <a:p>
            <a:pPr marL="114300" lvl="0" indent="0" algn="l" rtl="0">
              <a:lnSpc>
                <a:spcPct val="100000"/>
              </a:lnSpc>
              <a:spcBef>
                <a:spcPts val="360"/>
              </a:spcBef>
              <a:spcAft>
                <a:spcPts val="0"/>
              </a:spcAft>
              <a:buSzPts val="1800"/>
              <a:buNone/>
            </a:pPr>
            <a:endParaRPr sz="2400" dirty="0"/>
          </a:p>
        </p:txBody>
      </p:sp>
    </p:spTree>
    <p:extLst>
      <p:ext uri="{BB962C8B-B14F-4D97-AF65-F5344CB8AC3E}">
        <p14:creationId xmlns:p14="http://schemas.microsoft.com/office/powerpoint/2010/main" val="706036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USB Flash Drive</a:t>
            </a:r>
            <a:endParaRPr/>
          </a:p>
        </p:txBody>
      </p:sp>
      <p:sp>
        <p:nvSpPr>
          <p:cNvPr id="5" name="TextBox 4">
            <a:extLst>
              <a:ext uri="{FF2B5EF4-FFF2-40B4-BE49-F238E27FC236}">
                <a16:creationId xmlns:a16="http://schemas.microsoft.com/office/drawing/2014/main" id="{E219A590-C746-A741-6738-F248A0B6ABA2}"/>
              </a:ext>
            </a:extLst>
          </p:cNvPr>
          <p:cNvSpPr txBox="1"/>
          <p:nvPr/>
        </p:nvSpPr>
        <p:spPr>
          <a:xfrm>
            <a:off x="365760" y="934720"/>
            <a:ext cx="8524240" cy="5632311"/>
          </a:xfrm>
          <a:prstGeom prst="rect">
            <a:avLst/>
          </a:prstGeom>
          <a:noFill/>
        </p:spPr>
        <p:txBody>
          <a:bodyPr wrap="square">
            <a:spAutoFit/>
          </a:bodyPr>
          <a:lstStyle/>
          <a:p>
            <a:pPr rtl="0">
              <a:buNone/>
            </a:pPr>
            <a:r>
              <a:rPr lang="en-IN" sz="2400" dirty="0"/>
              <a:t>A </a:t>
            </a:r>
            <a:r>
              <a:rPr lang="en-IN" sz="2400" b="1" dirty="0"/>
              <a:t>flash drive</a:t>
            </a:r>
            <a:r>
              <a:rPr lang="en-IN" sz="2400" dirty="0"/>
              <a:t>, also called a </a:t>
            </a:r>
            <a:r>
              <a:rPr lang="en-IN" sz="2400" b="1" dirty="0"/>
              <a:t>USB flash drive</a:t>
            </a:r>
            <a:r>
              <a:rPr lang="en-IN" sz="2400" dirty="0"/>
              <a:t> or </a:t>
            </a:r>
            <a:r>
              <a:rPr lang="en-IN" sz="2400" b="1" dirty="0"/>
              <a:t>pen drive</a:t>
            </a:r>
            <a:r>
              <a:rPr lang="en-IN" sz="2400" dirty="0"/>
              <a:t>, is a small portable storage device used to store and transfer digital data.</a:t>
            </a:r>
          </a:p>
          <a:p>
            <a:pPr rtl="0">
              <a:buNone/>
            </a:pPr>
            <a:endParaRPr lang="en-IN" sz="2400" dirty="0"/>
          </a:p>
          <a:p>
            <a:pPr marL="342900" lvl="0" indent="-342900" rtl="0">
              <a:buFont typeface="Arial" panose="020B0604020202020204" pitchFamily="34" charset="0"/>
              <a:buChar char="•"/>
            </a:pPr>
            <a:r>
              <a:rPr lang="en-IN" sz="2400" b="1" dirty="0">
                <a:effectLst/>
              </a:rPr>
              <a:t>Storage:</a:t>
            </a:r>
            <a:r>
              <a:rPr lang="en-IN" sz="2400" dirty="0">
                <a:effectLst/>
              </a:rPr>
              <a:t> Uses flash memory to store files such as documents, photos, videos, and music.</a:t>
            </a:r>
          </a:p>
          <a:p>
            <a:pPr marL="342900" lvl="0" indent="-342900" rtl="0">
              <a:buFont typeface="Arial" panose="020B0604020202020204" pitchFamily="34" charset="0"/>
              <a:buChar char="•"/>
            </a:pPr>
            <a:r>
              <a:rPr lang="en-IN" sz="2400" b="1" dirty="0">
                <a:effectLst/>
              </a:rPr>
              <a:t>Connection:</a:t>
            </a:r>
            <a:r>
              <a:rPr lang="en-IN" sz="2400" dirty="0">
                <a:effectLst/>
              </a:rPr>
              <a:t> Usually connects to a computer through a USB port.</a:t>
            </a:r>
          </a:p>
          <a:p>
            <a:pPr marL="342900" lvl="0" indent="-342900" rtl="0">
              <a:buFont typeface="Arial" panose="020B0604020202020204" pitchFamily="34" charset="0"/>
              <a:buChar char="•"/>
            </a:pPr>
            <a:r>
              <a:rPr lang="en-IN" sz="2400" b="1" dirty="0">
                <a:effectLst/>
              </a:rPr>
              <a:t>Portable:</a:t>
            </a:r>
            <a:r>
              <a:rPr lang="en-IN" sz="2400" dirty="0">
                <a:effectLst/>
              </a:rPr>
              <a:t> Small, lightweight, and easy to carry.</a:t>
            </a:r>
          </a:p>
          <a:p>
            <a:pPr marL="342900" lvl="0" indent="-342900" rtl="0">
              <a:buFont typeface="Arial" panose="020B0604020202020204" pitchFamily="34" charset="0"/>
              <a:buChar char="•"/>
            </a:pPr>
            <a:r>
              <a:rPr lang="en-IN" sz="2400" b="1" dirty="0">
                <a:effectLst/>
              </a:rPr>
              <a:t>No moving parts:</a:t>
            </a:r>
            <a:r>
              <a:rPr lang="en-IN" sz="2400" dirty="0">
                <a:effectLst/>
              </a:rPr>
              <a:t> Unlike traditional hard drives, flash drives have no mechanical moving components.</a:t>
            </a:r>
          </a:p>
          <a:p>
            <a:pPr marL="342900" lvl="0" indent="-342900" rtl="0">
              <a:buFont typeface="Arial" panose="020B0604020202020204" pitchFamily="34" charset="0"/>
              <a:buChar char="•"/>
            </a:pPr>
            <a:r>
              <a:rPr lang="en-IN" sz="2400" b="1" dirty="0">
                <a:effectLst/>
              </a:rPr>
              <a:t>Data transfer:</a:t>
            </a:r>
            <a:r>
              <a:rPr lang="en-IN" sz="2400" dirty="0">
                <a:effectLst/>
              </a:rPr>
              <a:t> Can quickly copy or move files between compatible devices.</a:t>
            </a:r>
          </a:p>
          <a:p>
            <a:pPr marL="342900" lvl="0" indent="-342900" rtl="0">
              <a:buFont typeface="Arial" panose="020B0604020202020204" pitchFamily="34" charset="0"/>
              <a:buChar char="•"/>
            </a:pPr>
            <a:r>
              <a:rPr lang="en-IN" sz="2400" b="1" dirty="0">
                <a:effectLst/>
              </a:rPr>
              <a:t>Capacity:</a:t>
            </a:r>
            <a:r>
              <a:rPr lang="en-IN" sz="2400" dirty="0">
                <a:effectLst/>
              </a:rPr>
              <a:t> Available in different storage capacities, commonly from a few GB to hundreds of GB or more.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Real-Life Applications of USB Flash Drives</a:t>
            </a:r>
            <a:endParaRPr/>
          </a:p>
        </p:txBody>
      </p:sp>
      <p:sp>
        <p:nvSpPr>
          <p:cNvPr id="360" name="Google Shape;360;p51"/>
          <p:cNvSpPr txBox="1">
            <a:spLocks noGrp="1"/>
          </p:cNvSpPr>
          <p:nvPr>
            <p:ph type="body" idx="1"/>
          </p:nvPr>
        </p:nvSpPr>
        <p:spPr>
          <a:xfrm>
            <a:off x="156845" y="942975"/>
            <a:ext cx="8893810" cy="5640705"/>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400" b="1" dirty="0">
                <a:latin typeface="Cambria" panose="02040503050406030204" pitchFamily="18" charset="0"/>
                <a:ea typeface="Cambria" panose="02040503050406030204" pitchFamily="18" charset="0"/>
                <a:cs typeface="Times New Roman"/>
                <a:sym typeface="Times New Roman"/>
              </a:rPr>
              <a:t>File Transfer: </a:t>
            </a:r>
            <a:r>
              <a:rPr lang="en-US" sz="2400" dirty="0">
                <a:latin typeface="Cambria" panose="02040503050406030204" pitchFamily="18" charset="0"/>
                <a:ea typeface="Cambria" panose="02040503050406030204" pitchFamily="18" charset="0"/>
                <a:cs typeface="Times New Roman"/>
                <a:sym typeface="Times New Roman"/>
              </a:rPr>
              <a:t>Used to transfer documents, photographs, videos, presentations, and other files between computers.</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b="1" dirty="0">
                <a:latin typeface="Cambria" panose="02040503050406030204" pitchFamily="18" charset="0"/>
                <a:ea typeface="Cambria" panose="02040503050406030204" pitchFamily="18" charset="0"/>
                <a:cs typeface="Times New Roman"/>
                <a:sym typeface="Times New Roman"/>
              </a:rPr>
              <a:t>Data Backup: </a:t>
            </a:r>
            <a:r>
              <a:rPr lang="en-US" sz="2400" dirty="0">
                <a:latin typeface="Cambria" panose="02040503050406030204" pitchFamily="18" charset="0"/>
                <a:ea typeface="Cambria" panose="02040503050406030204" pitchFamily="18" charset="0"/>
                <a:cs typeface="Times New Roman"/>
                <a:sym typeface="Times New Roman"/>
              </a:rPr>
              <a:t>Important files can be copied to a USB drive as an additional backup.</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b="1" dirty="0">
                <a:latin typeface="Cambria" panose="02040503050406030204" pitchFamily="18" charset="0"/>
                <a:ea typeface="Cambria" panose="02040503050406030204" pitchFamily="18" charset="0"/>
                <a:cs typeface="Times New Roman"/>
                <a:sym typeface="Times New Roman"/>
              </a:rPr>
              <a:t>Operating-System Installation: </a:t>
            </a:r>
            <a:r>
              <a:rPr lang="en-US" sz="2400" dirty="0">
                <a:latin typeface="Cambria" panose="02040503050406030204" pitchFamily="18" charset="0"/>
                <a:ea typeface="Cambria" panose="02040503050406030204" pitchFamily="18" charset="0"/>
                <a:cs typeface="Times New Roman"/>
                <a:sym typeface="Times New Roman"/>
              </a:rPr>
              <a:t>A bootable USB drive can be used to install or repair an operating system.</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b="1" dirty="0">
                <a:latin typeface="Cambria" panose="02040503050406030204" pitchFamily="18" charset="0"/>
                <a:ea typeface="Cambria" panose="02040503050406030204" pitchFamily="18" charset="0"/>
                <a:cs typeface="Times New Roman"/>
                <a:sym typeface="Times New Roman"/>
              </a:rPr>
              <a:t>Educational Use: </a:t>
            </a:r>
            <a:r>
              <a:rPr lang="en-US" sz="2400" dirty="0">
                <a:latin typeface="Cambria" panose="02040503050406030204" pitchFamily="18" charset="0"/>
                <a:ea typeface="Cambria" panose="02040503050406030204" pitchFamily="18" charset="0"/>
                <a:cs typeface="Times New Roman"/>
                <a:sym typeface="Times New Roman"/>
              </a:rPr>
              <a:t>Students and teachers can carry assignments, presentations, notes, software, and study materials.</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b="1" dirty="0">
                <a:latin typeface="Cambria" panose="02040503050406030204" pitchFamily="18" charset="0"/>
                <a:ea typeface="Cambria" panose="02040503050406030204" pitchFamily="18" charset="0"/>
                <a:cs typeface="Times New Roman"/>
                <a:sym typeface="Times New Roman"/>
              </a:rPr>
              <a:t>Business Use</a:t>
            </a:r>
            <a:r>
              <a:rPr lang="en-US" sz="2400" dirty="0">
                <a:latin typeface="Cambria" panose="02040503050406030204" pitchFamily="18" charset="0"/>
                <a:ea typeface="Cambria" panose="02040503050406030204" pitchFamily="18" charset="0"/>
                <a:cs typeface="Times New Roman"/>
                <a:sym typeface="Times New Roman"/>
              </a:rPr>
              <a:t>: Used for transferring reports, presentations, documents, and other work-related files.</a:t>
            </a:r>
            <a:endParaRPr sz="2400" dirty="0">
              <a:latin typeface="Cambria" panose="02040503050406030204" pitchFamily="18" charset="0"/>
              <a:ea typeface="Cambria" panose="02040503050406030204" pitchFamily="18" charset="0"/>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Advantages of Flash Media</a:t>
            </a:r>
            <a:endParaRPr/>
          </a:p>
        </p:txBody>
      </p:sp>
      <p:sp>
        <p:nvSpPr>
          <p:cNvPr id="366" name="Google Shape;366;p52"/>
          <p:cNvSpPr txBox="1">
            <a:spLocks noGrp="1"/>
          </p:cNvSpPr>
          <p:nvPr>
            <p:ph type="body" idx="1"/>
          </p:nvPr>
        </p:nvSpPr>
        <p:spPr>
          <a:xfrm>
            <a:off x="296545" y="792480"/>
            <a:ext cx="8550910" cy="497713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0"/>
              </a:spcBef>
              <a:spcAft>
                <a:spcPts val="0"/>
              </a:spcAft>
              <a:buSzPts val="1800"/>
              <a:buNone/>
            </a:pPr>
            <a:r>
              <a:rPr lang="en-US" sz="2400" b="1" dirty="0">
                <a:latin typeface="Cambria" panose="02040503050406030204" pitchFamily="18" charset="0"/>
                <a:ea typeface="Cambria" panose="02040503050406030204" pitchFamily="18" charset="0"/>
              </a:rPr>
              <a:t>Non-volatile</a:t>
            </a:r>
            <a:r>
              <a:rPr lang="en-US" sz="2400" dirty="0">
                <a:latin typeface="Cambria" panose="02040503050406030204" pitchFamily="18" charset="0"/>
                <a:ea typeface="Cambria" panose="02040503050406030204" pitchFamily="18" charset="0"/>
              </a:rPr>
              <a:t>: Data is retained without power.</a:t>
            </a: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r>
              <a:rPr lang="en-US" sz="2400" b="1" dirty="0">
                <a:latin typeface="Cambria" panose="02040503050406030204" pitchFamily="18" charset="0"/>
                <a:ea typeface="Cambria" panose="02040503050406030204" pitchFamily="18" charset="0"/>
              </a:rPr>
              <a:t>Portable</a:t>
            </a:r>
            <a:r>
              <a:rPr lang="en-US" sz="2400" dirty="0">
                <a:latin typeface="Cambria" panose="02040503050406030204" pitchFamily="18" charset="0"/>
                <a:ea typeface="Cambria" panose="02040503050406030204" pitchFamily="18" charset="0"/>
              </a:rPr>
              <a:t>: Easy to carry and transfer.</a:t>
            </a: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r>
              <a:rPr lang="en-US" sz="2400" b="1" dirty="0">
                <a:latin typeface="Cambria" panose="02040503050406030204" pitchFamily="18" charset="0"/>
                <a:ea typeface="Cambria" panose="02040503050406030204" pitchFamily="18" charset="0"/>
              </a:rPr>
              <a:t>Compact</a:t>
            </a:r>
            <a:r>
              <a:rPr lang="en-US" sz="2400" dirty="0">
                <a:latin typeface="Cambria" panose="02040503050406030204" pitchFamily="18" charset="0"/>
                <a:ea typeface="Cambria" panose="02040503050406030204" pitchFamily="18" charset="0"/>
              </a:rPr>
              <a:t>: Requires very little physical space.</a:t>
            </a: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r>
              <a:rPr lang="en-US" sz="2400" b="1" dirty="0">
                <a:latin typeface="Cambria" panose="02040503050406030204" pitchFamily="18" charset="0"/>
                <a:ea typeface="Cambria" panose="02040503050406030204" pitchFamily="18" charset="0"/>
              </a:rPr>
              <a:t>Durable</a:t>
            </a:r>
            <a:r>
              <a:rPr lang="en-US" sz="2400" dirty="0">
                <a:latin typeface="Cambria" panose="02040503050406030204" pitchFamily="18" charset="0"/>
                <a:ea typeface="Cambria" panose="02040503050406030204" pitchFamily="18" charset="0"/>
              </a:rPr>
              <a:t>: No mechanical moving parts.</a:t>
            </a: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r>
              <a:rPr lang="en-US" sz="2400" dirty="0">
                <a:latin typeface="Cambria" panose="02040503050406030204" pitchFamily="18" charset="0"/>
                <a:ea typeface="Cambria" panose="02040503050406030204" pitchFamily="18" charset="0"/>
              </a:rPr>
              <a:t>Fast: Provides relatively quick data access.</a:t>
            </a: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r>
              <a:rPr lang="en-US" sz="2400" b="1" dirty="0">
                <a:latin typeface="Cambria" panose="02040503050406030204" pitchFamily="18" charset="0"/>
                <a:ea typeface="Cambria" panose="02040503050406030204" pitchFamily="18" charset="0"/>
              </a:rPr>
              <a:t>Convenient</a:t>
            </a:r>
            <a:r>
              <a:rPr lang="en-US" sz="2400" dirty="0">
                <a:latin typeface="Cambria" panose="02040503050406030204" pitchFamily="18" charset="0"/>
                <a:ea typeface="Cambria" panose="02040503050406030204" pitchFamily="18" charset="0"/>
              </a:rPr>
              <a:t>: Can be easily connected or removed from compatible devices.</a:t>
            </a: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endParaRPr sz="2400" dirty="0">
              <a:latin typeface="Cambria" panose="02040503050406030204" pitchFamily="18" charset="0"/>
              <a:ea typeface="Cambria" panose="02040503050406030204" pitchFamily="18" charset="0"/>
            </a:endParaRPr>
          </a:p>
          <a:p>
            <a:pPr marL="114300" lvl="0" indent="0" algn="l" rtl="0">
              <a:lnSpc>
                <a:spcPct val="100000"/>
              </a:lnSpc>
              <a:spcBef>
                <a:spcPts val="0"/>
              </a:spcBef>
              <a:spcAft>
                <a:spcPts val="0"/>
              </a:spcAft>
              <a:buSzPts val="1800"/>
              <a:buNone/>
            </a:pPr>
            <a:r>
              <a:rPr lang="en-US" sz="2400" b="1" dirty="0">
                <a:latin typeface="Cambria" panose="02040503050406030204" pitchFamily="18" charset="0"/>
                <a:ea typeface="Cambria" panose="02040503050406030204" pitchFamily="18" charset="0"/>
              </a:rPr>
              <a:t>Energy efficient</a:t>
            </a:r>
            <a:r>
              <a:rPr lang="en-US" sz="2400" dirty="0">
                <a:latin typeface="Cambria" panose="02040503050406030204" pitchFamily="18" charset="0"/>
                <a:ea typeface="Cambria" panose="02040503050406030204" pitchFamily="18" charset="0"/>
              </a:rPr>
              <a:t>: Generally consumes little power during operation.</a:t>
            </a:r>
            <a:endParaRPr sz="2400" dirty="0">
              <a:latin typeface="Cambria" panose="02040503050406030204" pitchFamily="18" charset="0"/>
              <a:ea typeface="Cambria" panose="020405030504060302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Disadvantages of Flash Media</a:t>
            </a:r>
            <a:endParaRPr/>
          </a:p>
        </p:txBody>
      </p:sp>
      <p:sp>
        <p:nvSpPr>
          <p:cNvPr id="372" name="Google Shape;372;p53"/>
          <p:cNvSpPr txBox="1">
            <a:spLocks noGrp="1"/>
          </p:cNvSpPr>
          <p:nvPr>
            <p:ph type="body" idx="1"/>
          </p:nvPr>
        </p:nvSpPr>
        <p:spPr>
          <a:xfrm>
            <a:off x="375920" y="1005840"/>
            <a:ext cx="8229600" cy="4525963"/>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400" dirty="0">
                <a:latin typeface="Cambria" panose="02040503050406030204" pitchFamily="18" charset="0"/>
                <a:ea typeface="Cambria" panose="02040503050406030204" pitchFamily="18" charset="0"/>
                <a:cs typeface="Times New Roman"/>
                <a:sym typeface="Times New Roman"/>
              </a:rPr>
              <a:t>Flash memory has a limited number of program/erase cycles.</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dirty="0">
                <a:latin typeface="Cambria" panose="02040503050406030204" pitchFamily="18" charset="0"/>
                <a:ea typeface="Cambria" panose="02040503050406030204" pitchFamily="18" charset="0"/>
                <a:cs typeface="Times New Roman"/>
                <a:sym typeface="Times New Roman"/>
              </a:rPr>
              <a:t>Performance and durability vary between different types and qualities of flash products.</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dirty="0">
                <a:latin typeface="Cambria" panose="02040503050406030204" pitchFamily="18" charset="0"/>
                <a:ea typeface="Cambria" panose="02040503050406030204" pitchFamily="18" charset="0"/>
                <a:cs typeface="Times New Roman"/>
                <a:sym typeface="Times New Roman"/>
              </a:rPr>
              <a:t>Small devices such as USB drives and SD cards can be easily lost or damaged.</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dirty="0">
                <a:latin typeface="Cambria" panose="02040503050406030204" pitchFamily="18" charset="0"/>
                <a:ea typeface="Cambria" panose="02040503050406030204" pitchFamily="18" charset="0"/>
                <a:cs typeface="Times New Roman"/>
                <a:sym typeface="Times New Roman"/>
              </a:rPr>
              <a:t>Data can become inaccessible if the memory controller or flash cells fail.</a:t>
            </a:r>
            <a:endParaRPr sz="2400" dirty="0">
              <a:latin typeface="Cambria" panose="02040503050406030204" pitchFamily="18" charset="0"/>
              <a:ea typeface="Cambria" panose="02040503050406030204" pitchFamily="18" charset="0"/>
              <a:cs typeface="Times New Roman"/>
              <a:sym typeface="Times New Roman"/>
            </a:endParaRPr>
          </a:p>
          <a:p>
            <a:pPr marL="114300" lvl="0" indent="0" algn="just" rtl="0">
              <a:lnSpc>
                <a:spcPct val="100000"/>
              </a:lnSpc>
              <a:spcBef>
                <a:spcPts val="360"/>
              </a:spcBef>
              <a:spcAft>
                <a:spcPts val="0"/>
              </a:spcAft>
              <a:buSzPts val="1800"/>
              <a:buNone/>
            </a:pPr>
            <a:r>
              <a:rPr lang="en-US" sz="2400" dirty="0">
                <a:latin typeface="Cambria" panose="02040503050406030204" pitchFamily="18" charset="0"/>
                <a:ea typeface="Cambria" panose="02040503050406030204" pitchFamily="18" charset="0"/>
                <a:cs typeface="Times New Roman"/>
                <a:sym typeface="Times New Roman"/>
              </a:rPr>
              <a:t>It should not be considered the only backup of important data.</a:t>
            </a:r>
            <a:endParaRPr sz="2400" dirty="0">
              <a:latin typeface="Cambria" panose="02040503050406030204" pitchFamily="18" charset="0"/>
              <a:ea typeface="Cambria" panose="02040503050406030204" pitchFamily="18" charset="0"/>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Comparision Between SD Card and  USB Flash Drive</a:t>
            </a:r>
            <a:endParaRPr/>
          </a:p>
        </p:txBody>
      </p:sp>
      <p:graphicFrame>
        <p:nvGraphicFramePr>
          <p:cNvPr id="379" name="Google Shape;379;p54"/>
          <p:cNvGraphicFramePr/>
          <p:nvPr/>
        </p:nvGraphicFramePr>
        <p:xfrm>
          <a:off x="528321" y="838200"/>
          <a:ext cx="8087359" cy="5541025"/>
        </p:xfrm>
        <a:graphic>
          <a:graphicData uri="http://schemas.openxmlformats.org/drawingml/2006/table">
            <a:tbl>
              <a:tblPr>
                <a:noFill/>
              </a:tblPr>
              <a:tblGrid>
                <a:gridCol w="2419137">
                  <a:extLst>
                    <a:ext uri="{9D8B030D-6E8A-4147-A177-3AD203B41FA5}">
                      <a16:colId xmlns:a16="http://schemas.microsoft.com/office/drawing/2014/main" val="20000"/>
                    </a:ext>
                  </a:extLst>
                </a:gridCol>
                <a:gridCol w="3730248">
                  <a:extLst>
                    <a:ext uri="{9D8B030D-6E8A-4147-A177-3AD203B41FA5}">
                      <a16:colId xmlns:a16="http://schemas.microsoft.com/office/drawing/2014/main" val="20001"/>
                    </a:ext>
                  </a:extLst>
                </a:gridCol>
                <a:gridCol w="1937974">
                  <a:extLst>
                    <a:ext uri="{9D8B030D-6E8A-4147-A177-3AD203B41FA5}">
                      <a16:colId xmlns:a16="http://schemas.microsoft.com/office/drawing/2014/main" val="20002"/>
                    </a:ext>
                  </a:extLst>
                </a:gridCol>
              </a:tblGrid>
              <a:tr h="707400">
                <a:tc>
                  <a:txBody>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Feature</a:t>
                      </a:r>
                      <a:endParaRPr sz="2000" b="1" i="0" u="none" strike="noStrike" cap="none" dirty="0">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SD Card</a:t>
                      </a:r>
                      <a:endParaRPr sz="2000" b="1"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USB Flash Drive</a:t>
                      </a:r>
                      <a:endParaRPr sz="2000" b="1"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0"/>
                  </a:ext>
                </a:extLst>
              </a:tr>
              <a:tr h="1057275">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Main purpose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Device storage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File transfer/storage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1"/>
                  </a:ext>
                </a:extLst>
              </a:tr>
              <a:tr h="728350">
                <a:tc>
                  <a:txBody>
                    <a:bodyPr/>
                    <a:lstStyle/>
                    <a:p>
                      <a:pPr marL="0" marR="0" lvl="0" indent="0" algn="ctr" rtl="0">
                        <a:lnSpc>
                          <a:spcPct val="100000"/>
                        </a:lnSpc>
                        <a:spcBef>
                          <a:spcPts val="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Common devices</a:t>
                      </a:r>
                      <a:endParaRPr sz="2000" b="0" i="0" u="none" strike="noStrike" cap="none" dirty="0">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Cameras, phones, drones</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Computers, laptops</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2"/>
                  </a:ext>
                </a:extLst>
              </a:tr>
              <a:tr h="447050">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Size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Very small</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Small</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3"/>
                  </a:ext>
                </a:extLst>
              </a:tr>
              <a:tr h="448300">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Portability</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Very high</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High</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4"/>
                  </a:ext>
                </a:extLst>
              </a:tr>
              <a:tr h="762625">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Technology</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NAND Flash</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NAND Flash</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5"/>
                  </a:ext>
                </a:extLst>
              </a:tr>
              <a:tr h="403225">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Moving parts</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None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None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6"/>
                  </a:ext>
                </a:extLst>
              </a:tr>
              <a:tr h="571500">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Data retention</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Non-volatile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Non-volatile</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7"/>
                  </a:ext>
                </a:extLst>
              </a:tr>
              <a:tr h="415300">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Connection</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SD/microSD slot</a:t>
                      </a:r>
                      <a:endParaRPr sz="2000" b="0" i="0" u="none" strike="noStrike" cap="none">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USB port</a:t>
                      </a:r>
                      <a:endParaRPr sz="2000" b="0" i="0" u="none" strike="noStrike" cap="none" dirty="0">
                        <a:solidFill>
                          <a:srgbClr val="000000"/>
                        </a:solidFill>
                        <a:latin typeface="Times New Roman"/>
                        <a:ea typeface="Times New Roman"/>
                        <a:cs typeface="Times New Roman"/>
                        <a:sym typeface="Times New Roman"/>
                      </a:endParaRPr>
                    </a:p>
                  </a:txBody>
                  <a:tcPr marL="6675" marR="6675" marT="6675" marB="0" anchor="ctr">
                    <a:lnL w="9525" cap="flat" cmpd="sng">
                      <a:solidFill>
                        <a:srgbClr val="000008"/>
                      </a:solidFill>
                      <a:prstDash val="solid"/>
                      <a:round/>
                      <a:headEnd type="none" w="sm" len="sm"/>
                      <a:tailEnd type="none" w="sm" len="sm"/>
                    </a:lnL>
                    <a:lnR w="9525" cap="flat" cmpd="sng">
                      <a:solidFill>
                        <a:srgbClr val="000008"/>
                      </a:solidFill>
                      <a:prstDash val="solid"/>
                      <a:round/>
                      <a:headEnd type="none" w="sm" len="sm"/>
                      <a:tailEnd type="none" w="sm" len="sm"/>
                    </a:lnR>
                    <a:lnT w="9525" cap="flat" cmpd="sng">
                      <a:solidFill>
                        <a:srgbClr val="000008"/>
                      </a:solidFill>
                      <a:prstDash val="solid"/>
                      <a:round/>
                      <a:headEnd type="none" w="sm" len="sm"/>
                      <a:tailEnd type="none" w="sm" len="sm"/>
                    </a:lnT>
                    <a:lnB w="9525" cap="flat" cmpd="sng">
                      <a:solidFill>
                        <a:srgbClr val="000008"/>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688EAE-CBE1-F78C-A573-784DA8E0D199}"/>
              </a:ext>
            </a:extLst>
          </p:cNvPr>
          <p:cNvPicPr>
            <a:picLocks noChangeAspect="1"/>
          </p:cNvPicPr>
          <p:nvPr/>
        </p:nvPicPr>
        <p:blipFill>
          <a:blip r:embed="rId2"/>
          <a:srcRect b="19703"/>
          <a:stretch>
            <a:fillRect/>
          </a:stretch>
        </p:blipFill>
        <p:spPr>
          <a:xfrm>
            <a:off x="610992" y="838200"/>
            <a:ext cx="7515616" cy="5506720"/>
          </a:xfrm>
          <a:prstGeom prst="rect">
            <a:avLst/>
          </a:prstGeom>
        </p:spPr>
      </p:pic>
    </p:spTree>
    <p:extLst>
      <p:ext uri="{BB962C8B-B14F-4D97-AF65-F5344CB8AC3E}">
        <p14:creationId xmlns:p14="http://schemas.microsoft.com/office/powerpoint/2010/main" val="3167374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Conclusion of Flash Media (SD Card and USB Drives)</a:t>
            </a:r>
            <a:endParaRPr/>
          </a:p>
        </p:txBody>
      </p:sp>
      <p:sp>
        <p:nvSpPr>
          <p:cNvPr id="385" name="Google Shape;385;p55"/>
          <p:cNvSpPr txBox="1">
            <a:spLocks noGrp="1"/>
          </p:cNvSpPr>
          <p:nvPr>
            <p:ph type="body" idx="1"/>
          </p:nvPr>
        </p:nvSpPr>
        <p:spPr>
          <a:xfrm>
            <a:off x="307340" y="1061085"/>
            <a:ext cx="8615680" cy="521271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a:t>Flash media is an important type of non-volatile storage that provides a simple, portable, and reliable way to store and transfer data. Since it has no moving parts, it is compact, lightweight, fast, and more resistant to physical damage than traditional mechanical storage.</a:t>
            </a:r>
            <a:endParaRPr sz="2000"/>
          </a:p>
          <a:p>
            <a:pPr marL="114300" lvl="0" indent="0" algn="l" rtl="0">
              <a:lnSpc>
                <a:spcPct val="100000"/>
              </a:lnSpc>
              <a:spcBef>
                <a:spcPts val="360"/>
              </a:spcBef>
              <a:spcAft>
                <a:spcPts val="0"/>
              </a:spcAft>
              <a:buSzPts val="1800"/>
              <a:buNone/>
            </a:pPr>
            <a:endParaRPr sz="2000"/>
          </a:p>
          <a:p>
            <a:pPr marL="114300" lvl="0" indent="0" algn="l" rtl="0">
              <a:lnSpc>
                <a:spcPct val="100000"/>
              </a:lnSpc>
              <a:spcBef>
                <a:spcPts val="360"/>
              </a:spcBef>
              <a:spcAft>
                <a:spcPts val="0"/>
              </a:spcAft>
              <a:buSzPts val="1800"/>
              <a:buNone/>
            </a:pPr>
            <a:r>
              <a:rPr lang="en-US" sz="2000"/>
              <a:t>SD cards are mainly used in digital cameras, smartphones, drones, and other portable devices, while USB flash drives are commonly used for file transfer, data storage, backup, and operating-system installation.</a:t>
            </a:r>
            <a:endParaRPr sz="2000"/>
          </a:p>
          <a:p>
            <a:pPr marL="114300" lvl="0" indent="0" algn="l" rtl="0">
              <a:lnSpc>
                <a:spcPct val="100000"/>
              </a:lnSpc>
              <a:spcBef>
                <a:spcPts val="360"/>
              </a:spcBef>
              <a:spcAft>
                <a:spcPts val="0"/>
              </a:spcAft>
              <a:buSzPts val="1800"/>
              <a:buNone/>
            </a:pPr>
            <a:endParaRPr sz="2000"/>
          </a:p>
          <a:p>
            <a:pPr marL="114300" lvl="0" indent="0" algn="l" rtl="0">
              <a:lnSpc>
                <a:spcPct val="100000"/>
              </a:lnSpc>
              <a:spcBef>
                <a:spcPts val="360"/>
              </a:spcBef>
              <a:spcAft>
                <a:spcPts val="0"/>
              </a:spcAft>
              <a:buSzPts val="1800"/>
              <a:buNone/>
            </a:pPr>
            <a:r>
              <a:rPr lang="en-US" sz="2000"/>
              <a:t>In simple words: Flash Media = Portable + Fast + Durable + Non-Volatile Storage.</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Compact Disc</a:t>
            </a:r>
            <a:endParaRPr/>
          </a:p>
        </p:txBody>
      </p:sp>
      <p:sp>
        <p:nvSpPr>
          <p:cNvPr id="397" name="Google Shape;397;p57"/>
          <p:cNvSpPr txBox="1">
            <a:spLocks noGrp="1"/>
          </p:cNvSpPr>
          <p:nvPr>
            <p:ph type="body" idx="1"/>
          </p:nvPr>
        </p:nvSpPr>
        <p:spPr>
          <a:xfrm>
            <a:off x="382270" y="838200"/>
            <a:ext cx="8304530" cy="521271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dirty="0"/>
              <a:t>A Compact Disc (CD) is a commonly used secondary storage device. It contains tracks and sectors on its surface. Its shape is circular and is made up of polycarbonate plastic. The storage capacity of CD is up to 700 MB of data. A CD may also be called a CD-ROM (Compact Disc Read-Only Memory). CD is of two types:</a:t>
            </a:r>
            <a:endParaRPr sz="2000" dirty="0"/>
          </a:p>
          <a:p>
            <a:pPr marL="114300" lvl="0" indent="0" algn="l" rtl="0">
              <a:lnSpc>
                <a:spcPct val="100000"/>
              </a:lnSpc>
              <a:spcBef>
                <a:spcPts val="360"/>
              </a:spcBef>
              <a:spcAft>
                <a:spcPts val="0"/>
              </a:spcAft>
              <a:buSzPts val="1800"/>
              <a:buNone/>
            </a:pPr>
            <a:r>
              <a:rPr lang="en-US" sz="2000" dirty="0"/>
              <a:t>CD-R (compact disc recordable): Once the data has been written onto it cannot be erased, it can only be read.</a:t>
            </a:r>
            <a:endParaRPr sz="2000" dirty="0"/>
          </a:p>
          <a:p>
            <a:pPr marL="114300" lvl="0" indent="0" algn="l" rtl="0">
              <a:lnSpc>
                <a:spcPct val="100000"/>
              </a:lnSpc>
              <a:spcBef>
                <a:spcPts val="360"/>
              </a:spcBef>
              <a:spcAft>
                <a:spcPts val="0"/>
              </a:spcAft>
              <a:buSzPts val="1800"/>
              <a:buNone/>
            </a:pPr>
            <a:r>
              <a:rPr lang="en-US" sz="2000" dirty="0"/>
              <a:t>CD-RW (compact disc rewritable): It is a special type of CD in which data can be erased and rewritten as many times as we want. It is also called an erasable CD.</a:t>
            </a:r>
            <a:endParaRPr sz="2000" dirty="0"/>
          </a:p>
        </p:txBody>
      </p:sp>
      <p:pic>
        <p:nvPicPr>
          <p:cNvPr id="2" name="Picture 1" descr="Sony CD at ₹ 12/piece | Compact Disc in Chennai | ID: 10803777491">
            <a:extLst>
              <a:ext uri="{FF2B5EF4-FFF2-40B4-BE49-F238E27FC236}">
                <a16:creationId xmlns:a16="http://schemas.microsoft.com/office/drawing/2014/main" id="{4D224112-0877-2BE7-7DAB-AB74A3F237AB}"/>
              </a:ext>
            </a:extLst>
          </p:cNvPr>
          <p:cNvPicPr>
            <a:picLocks noChangeAspect="1"/>
          </p:cNvPicPr>
          <p:nvPr/>
        </p:nvPicPr>
        <p:blipFill>
          <a:blip r:embed="rId3"/>
          <a:stretch>
            <a:fillRect/>
          </a:stretch>
        </p:blipFill>
        <p:spPr>
          <a:xfrm>
            <a:off x="4534535" y="3836035"/>
            <a:ext cx="2490470" cy="25241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3" name="Google Shape;403;p58"/>
          <p:cNvSpPr txBox="1">
            <a:spLocks noGrp="1"/>
          </p:cNvSpPr>
          <p:nvPr>
            <p:ph type="body" idx="1"/>
          </p:nvPr>
        </p:nvSpPr>
        <p:spPr>
          <a:xfrm>
            <a:off x="457200" y="1050290"/>
            <a:ext cx="8229600" cy="484759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2000" dirty="0"/>
              <a:t>Blu-ray Disc</a:t>
            </a:r>
            <a:endParaRPr sz="2000" dirty="0"/>
          </a:p>
          <a:p>
            <a:pPr marL="114300" lvl="0" indent="0" algn="l" rtl="0">
              <a:lnSpc>
                <a:spcPct val="100000"/>
              </a:lnSpc>
              <a:spcBef>
                <a:spcPts val="360"/>
              </a:spcBef>
              <a:spcAft>
                <a:spcPts val="0"/>
              </a:spcAft>
              <a:buSzPts val="1800"/>
              <a:buNone/>
            </a:pPr>
            <a:r>
              <a:rPr lang="en-US" sz="2000" dirty="0"/>
              <a:t>A Blu-ray disc looks just like a CD or a DVD but it can store data or information up to </a:t>
            </a:r>
            <a:r>
              <a:rPr lang="en-US" sz="2000" b="1" dirty="0"/>
              <a:t>25 GB </a:t>
            </a:r>
            <a:r>
              <a:rPr lang="en-US" sz="2000" dirty="0"/>
              <a:t>data. If you want to use a </a:t>
            </a:r>
            <a:r>
              <a:rPr lang="en-US" sz="2000" b="1" dirty="0"/>
              <a:t>Blu-ray disc, you need a Blu-ray reader</a:t>
            </a:r>
            <a:r>
              <a:rPr lang="en-US" sz="2000" dirty="0"/>
              <a:t>. The name Blu-ray is derived from the technology that is used to read the disc </a:t>
            </a:r>
            <a:r>
              <a:rPr lang="en-US" sz="2000" b="1" dirty="0"/>
              <a:t>‘Blu’ from the blue-violet laser </a:t>
            </a:r>
            <a:r>
              <a:rPr lang="en-US" sz="2000" dirty="0"/>
              <a:t>and </a:t>
            </a:r>
            <a:r>
              <a:rPr lang="en-US" sz="2000" b="1" dirty="0"/>
              <a:t>‘ray’ from an optical ray</a:t>
            </a:r>
            <a:r>
              <a:rPr lang="en-US" sz="2000" dirty="0"/>
              <a:t>.</a:t>
            </a:r>
            <a:endParaRPr sz="2000" dirty="0"/>
          </a:p>
          <a:p>
            <a:pPr marL="114300" lvl="0" indent="0" algn="l" rtl="0">
              <a:lnSpc>
                <a:spcPct val="100000"/>
              </a:lnSpc>
              <a:spcBef>
                <a:spcPts val="360"/>
              </a:spcBef>
              <a:spcAft>
                <a:spcPts val="0"/>
              </a:spcAft>
              <a:buSzPts val="1800"/>
              <a:buNone/>
            </a:pPr>
            <a:endParaRPr sz="2000" dirty="0"/>
          </a:p>
        </p:txBody>
      </p:sp>
      <p:pic>
        <p:nvPicPr>
          <p:cNvPr id="2" name="Picture 1" descr="Blu-Ray Technology - Working - Electronic Circuits and Diagrams-Electronic Projects and Design">
            <a:extLst>
              <a:ext uri="{FF2B5EF4-FFF2-40B4-BE49-F238E27FC236}">
                <a16:creationId xmlns:a16="http://schemas.microsoft.com/office/drawing/2014/main" id="{2A6A7D81-E5CF-1017-6AEF-5BA813CF4A9A}"/>
              </a:ext>
            </a:extLst>
          </p:cNvPr>
          <p:cNvPicPr>
            <a:picLocks noChangeAspect="1"/>
          </p:cNvPicPr>
          <p:nvPr/>
        </p:nvPicPr>
        <p:blipFill>
          <a:blip r:embed="rId3"/>
          <a:stretch>
            <a:fillRect/>
          </a:stretch>
        </p:blipFill>
        <p:spPr>
          <a:xfrm>
            <a:off x="2870200" y="2997200"/>
            <a:ext cx="3200400" cy="32004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D92C-2AC7-52E4-6831-831176195DD9}"/>
              </a:ext>
            </a:extLst>
          </p:cNvPr>
          <p:cNvSpPr>
            <a:spLocks noGrp="1"/>
          </p:cNvSpPr>
          <p:nvPr>
            <p:ph type="title"/>
          </p:nvPr>
        </p:nvSpPr>
        <p:spPr/>
        <p:txBody>
          <a:bodyPr/>
          <a:lstStyle/>
          <a:p>
            <a:r>
              <a:rPr lang="en-IN" sz="2800" b="1" dirty="0"/>
              <a:t>Section A — 1 Mark Each (Direct Recall)</a:t>
            </a:r>
            <a:br>
              <a:rPr lang="en-IN" sz="2800" b="1" dirty="0"/>
            </a:br>
            <a:endParaRPr lang="en-IN" sz="2800" dirty="0"/>
          </a:p>
        </p:txBody>
      </p:sp>
      <p:sp>
        <p:nvSpPr>
          <p:cNvPr id="5" name="TextBox 4">
            <a:extLst>
              <a:ext uri="{FF2B5EF4-FFF2-40B4-BE49-F238E27FC236}">
                <a16:creationId xmlns:a16="http://schemas.microsoft.com/office/drawing/2014/main" id="{D2F15944-43E0-E206-0E94-16111472CCC7}"/>
              </a:ext>
            </a:extLst>
          </p:cNvPr>
          <p:cNvSpPr txBox="1"/>
          <p:nvPr/>
        </p:nvSpPr>
        <p:spPr>
          <a:xfrm>
            <a:off x="467360" y="1074509"/>
            <a:ext cx="8676640" cy="4401205"/>
          </a:xfrm>
          <a:prstGeom prst="rect">
            <a:avLst/>
          </a:prstGeom>
          <a:noFill/>
        </p:spPr>
        <p:txBody>
          <a:bodyPr wrap="square">
            <a:spAutoFit/>
          </a:bodyPr>
          <a:lstStyle/>
          <a:p>
            <a:pPr rtl="0">
              <a:buNone/>
            </a:pPr>
            <a:r>
              <a:rPr lang="en-IN" sz="2000" b="1" dirty="0"/>
              <a:t>1.</a:t>
            </a:r>
            <a:r>
              <a:rPr lang="en-IN" sz="2000" dirty="0"/>
              <a:t> Which RAM type needs to be refreshed thousands of times per second to retain data?</a:t>
            </a:r>
            <a:br>
              <a:rPr lang="en-IN" sz="2000" dirty="0"/>
            </a:br>
            <a:r>
              <a:rPr lang="en-IN" sz="2000" dirty="0"/>
              <a:t>a) SRAM b) DRAM c) PROM d) EEPROM</a:t>
            </a:r>
          </a:p>
          <a:p>
            <a:pPr rtl="0">
              <a:buNone/>
            </a:pPr>
            <a:r>
              <a:rPr lang="en-IN" sz="2000" b="1" dirty="0"/>
              <a:t>2.</a:t>
            </a:r>
            <a:r>
              <a:rPr lang="en-IN" sz="2000" dirty="0"/>
              <a:t> SRAM is generally used for which of the following?</a:t>
            </a:r>
            <a:br>
              <a:rPr lang="en-IN" sz="2000" dirty="0"/>
            </a:br>
            <a:r>
              <a:rPr lang="en-IN" sz="2000" dirty="0"/>
              <a:t>a) Main memory b) CPU cache c) Secondary storage d) Optical discs</a:t>
            </a:r>
          </a:p>
          <a:p>
            <a:pPr rtl="0">
              <a:buNone/>
            </a:pPr>
            <a:r>
              <a:rPr lang="en-IN" sz="2000" b="1" dirty="0"/>
              <a:t>3.</a:t>
            </a:r>
            <a:r>
              <a:rPr lang="en-IN" sz="2000" dirty="0"/>
              <a:t> Which memory type can be programmed only once by the user using a special device?</a:t>
            </a:r>
            <a:br>
              <a:rPr lang="en-IN" sz="2000" dirty="0"/>
            </a:br>
            <a:r>
              <a:rPr lang="en-IN" sz="2000" dirty="0"/>
              <a:t>a) EEPROM b) EPROM c) PROM d) DRAM</a:t>
            </a:r>
          </a:p>
          <a:p>
            <a:pPr rtl="0">
              <a:buNone/>
            </a:pPr>
            <a:r>
              <a:rPr lang="en-IN" sz="2000" b="1" dirty="0"/>
              <a:t>4.</a:t>
            </a:r>
            <a:r>
              <a:rPr lang="en-IN" sz="2000" dirty="0"/>
              <a:t> EPROM data can be erased using:</a:t>
            </a:r>
            <a:br>
              <a:rPr lang="en-IN" sz="2000" dirty="0"/>
            </a:br>
            <a:r>
              <a:rPr lang="en-IN" sz="2000" dirty="0"/>
              <a:t>a) Electric current only b) Ultraviolet light c) Magnetic field d) Software command only</a:t>
            </a:r>
          </a:p>
          <a:p>
            <a:pPr rtl="0">
              <a:buNone/>
            </a:pPr>
            <a:r>
              <a:rPr lang="en-IN" sz="2000" b="1" dirty="0"/>
              <a:t>5.</a:t>
            </a:r>
            <a:r>
              <a:rPr lang="en-IN" sz="2000" dirty="0"/>
              <a:t> Which type of ROM can be erased and reprogrammed electrically, in-circuit, without removing the chip?</a:t>
            </a:r>
            <a:br>
              <a:rPr lang="en-IN" sz="2000" dirty="0"/>
            </a:br>
            <a:r>
              <a:rPr lang="en-IN" sz="2000" dirty="0"/>
              <a:t>a) PROM b) EPROM c) EEPROM d) SRAM</a:t>
            </a:r>
          </a:p>
        </p:txBody>
      </p:sp>
    </p:spTree>
    <p:extLst>
      <p:ext uri="{BB962C8B-B14F-4D97-AF65-F5344CB8AC3E}">
        <p14:creationId xmlns:p14="http://schemas.microsoft.com/office/powerpoint/2010/main" val="23266377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577020-8816-AEA4-7F72-077E37F76204}"/>
              </a:ext>
            </a:extLst>
          </p:cNvPr>
          <p:cNvSpPr txBox="1"/>
          <p:nvPr/>
        </p:nvSpPr>
        <p:spPr>
          <a:xfrm>
            <a:off x="487680" y="921643"/>
            <a:ext cx="8473440" cy="4708981"/>
          </a:xfrm>
          <a:prstGeom prst="rect">
            <a:avLst/>
          </a:prstGeom>
          <a:noFill/>
        </p:spPr>
        <p:txBody>
          <a:bodyPr wrap="square">
            <a:spAutoFit/>
          </a:bodyPr>
          <a:lstStyle/>
          <a:p>
            <a:pPr rtl="0">
              <a:buNone/>
            </a:pPr>
            <a:r>
              <a:rPr lang="en-IN" sz="2000" b="1" dirty="0"/>
              <a:t>6.</a:t>
            </a:r>
            <a:r>
              <a:rPr lang="en-IN" sz="2000" dirty="0"/>
              <a:t> Why is SRAM faster than DRAM?</a:t>
            </a:r>
            <a:br>
              <a:rPr lang="en-IN" sz="2000" dirty="0"/>
            </a:br>
            <a:r>
              <a:rPr lang="en-IN" sz="2000" dirty="0"/>
              <a:t>a) It uses capacitors b) It uses flip-flops (transistors) and needs no refreshing c) It has more storage capacity d) It is a type of secondary storage</a:t>
            </a:r>
          </a:p>
          <a:p>
            <a:pPr rtl="0">
              <a:buNone/>
            </a:pPr>
            <a:r>
              <a:rPr lang="en-IN" sz="2000" b="1" dirty="0"/>
              <a:t>7.</a:t>
            </a:r>
            <a:r>
              <a:rPr lang="en-IN" sz="2000" dirty="0"/>
              <a:t> Which of these is volatile memory?</a:t>
            </a:r>
            <a:br>
              <a:rPr lang="en-IN" sz="2000" dirty="0"/>
            </a:br>
            <a:r>
              <a:rPr lang="en-IN" sz="2000" dirty="0"/>
              <a:t>a) ROM b) Flash drive c) RAM d) HDD</a:t>
            </a:r>
          </a:p>
          <a:p>
            <a:pPr rtl="0">
              <a:buNone/>
            </a:pPr>
            <a:r>
              <a:rPr lang="en-IN" sz="2000" b="1" dirty="0"/>
              <a:t>8.</a:t>
            </a:r>
            <a:r>
              <a:rPr lang="en-IN" sz="2000" dirty="0"/>
              <a:t> In an SSD, data is stored using:</a:t>
            </a:r>
            <a:br>
              <a:rPr lang="en-IN" sz="2000" dirty="0"/>
            </a:br>
            <a:r>
              <a:rPr lang="en-IN" sz="2000" dirty="0"/>
              <a:t>a) Magnetic platters b) Flash memory chips c) Optical laser d) Capacitor refresh cycles</a:t>
            </a:r>
          </a:p>
          <a:p>
            <a:pPr rtl="0">
              <a:buNone/>
            </a:pPr>
            <a:r>
              <a:rPr lang="en-IN" sz="2000" b="1" dirty="0"/>
              <a:t>9.</a:t>
            </a:r>
            <a:r>
              <a:rPr lang="en-IN" sz="2000" dirty="0"/>
              <a:t> Which secondary storage device has moving mechanical parts (read/write head and spinning platter)?</a:t>
            </a:r>
            <a:br>
              <a:rPr lang="en-IN" sz="2000" dirty="0"/>
            </a:br>
            <a:r>
              <a:rPr lang="en-IN" sz="2000" dirty="0"/>
              <a:t>a) SSD b) HDD c) USB flash drive d) SD card</a:t>
            </a:r>
          </a:p>
          <a:p>
            <a:pPr rtl="0">
              <a:buNone/>
            </a:pPr>
            <a:r>
              <a:rPr lang="en-IN" sz="2000" b="1" dirty="0"/>
              <a:t>10.</a:t>
            </a:r>
            <a:r>
              <a:rPr lang="en-IN" sz="2000" dirty="0"/>
              <a:t> Which of the following is an example of flash-based secondary storage?</a:t>
            </a:r>
            <a:br>
              <a:rPr lang="en-IN" sz="2000" dirty="0"/>
            </a:br>
            <a:r>
              <a:rPr lang="en-IN" sz="2000" dirty="0"/>
              <a:t>a) HDD b) CD-ROM c) Pen drive (USB flash drive) d) DRAM stick</a:t>
            </a:r>
          </a:p>
        </p:txBody>
      </p:sp>
    </p:spTree>
    <p:extLst>
      <p:ext uri="{BB962C8B-B14F-4D97-AF65-F5344CB8AC3E}">
        <p14:creationId xmlns:p14="http://schemas.microsoft.com/office/powerpoint/2010/main" val="3139535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B9009-F25F-7FE0-D483-4F5F1B427626}"/>
              </a:ext>
            </a:extLst>
          </p:cNvPr>
          <p:cNvSpPr>
            <a:spLocks noGrp="1"/>
          </p:cNvSpPr>
          <p:nvPr>
            <p:ph type="title"/>
          </p:nvPr>
        </p:nvSpPr>
        <p:spPr/>
        <p:txBody>
          <a:bodyPr/>
          <a:lstStyle/>
          <a:p>
            <a:r>
              <a:rPr lang="en-IN" sz="2800" b="1" dirty="0"/>
              <a:t>Section B — 5 Marks Each (Scenario-Based, Middle Level)</a:t>
            </a:r>
            <a:br>
              <a:rPr lang="en-IN" sz="2800" b="1" dirty="0"/>
            </a:br>
            <a:endParaRPr lang="en-IN" sz="2800" dirty="0"/>
          </a:p>
        </p:txBody>
      </p:sp>
      <p:sp>
        <p:nvSpPr>
          <p:cNvPr id="5" name="TextBox 4">
            <a:extLst>
              <a:ext uri="{FF2B5EF4-FFF2-40B4-BE49-F238E27FC236}">
                <a16:creationId xmlns:a16="http://schemas.microsoft.com/office/drawing/2014/main" id="{29673FCE-4C07-83A8-BB1F-90F22ED60EA1}"/>
              </a:ext>
            </a:extLst>
          </p:cNvPr>
          <p:cNvSpPr txBox="1"/>
          <p:nvPr/>
        </p:nvSpPr>
        <p:spPr>
          <a:xfrm>
            <a:off x="655320" y="935841"/>
            <a:ext cx="7960360" cy="3108543"/>
          </a:xfrm>
          <a:prstGeom prst="rect">
            <a:avLst/>
          </a:prstGeom>
          <a:noFill/>
        </p:spPr>
        <p:txBody>
          <a:bodyPr wrap="square">
            <a:spAutoFit/>
          </a:bodyPr>
          <a:lstStyle/>
          <a:p>
            <a:pPr rtl="0">
              <a:buNone/>
            </a:pPr>
            <a:r>
              <a:rPr lang="en-IN" b="1" dirty="0"/>
              <a:t>11.</a:t>
            </a:r>
            <a:r>
              <a:rPr lang="en-IN" dirty="0"/>
              <a:t> Rohan's laptop feels slow to start up. His friend suggests replacing the HDD with an SSD. What is the MOST likely reason this will speed up boot time?</a:t>
            </a:r>
            <a:br>
              <a:rPr lang="en-IN" dirty="0"/>
            </a:br>
            <a:r>
              <a:rPr lang="en-IN" dirty="0"/>
              <a:t>a) SSDs have more storage capacity than HDDs</a:t>
            </a:r>
            <a:br>
              <a:rPr lang="en-IN" dirty="0"/>
            </a:br>
            <a:r>
              <a:rPr lang="en-IN" dirty="0"/>
              <a:t>b) SSDs have no moving parts and access data electronically, giving much faster read/write speeds</a:t>
            </a:r>
            <a:br>
              <a:rPr lang="en-IN" dirty="0"/>
            </a:br>
            <a:r>
              <a:rPr lang="en-IN" dirty="0"/>
              <a:t>c) SSDs use DRAM instead of flash memory</a:t>
            </a:r>
            <a:br>
              <a:rPr lang="en-IN" dirty="0"/>
            </a:br>
            <a:r>
              <a:rPr lang="en-IN" dirty="0"/>
              <a:t>d) SSDs are cheaper than HDDs</a:t>
            </a:r>
          </a:p>
          <a:p>
            <a:pPr rtl="0">
              <a:buNone/>
            </a:pPr>
            <a:r>
              <a:rPr lang="en-IN" b="1" dirty="0"/>
              <a:t>12.</a:t>
            </a:r>
            <a:r>
              <a:rPr lang="en-IN" dirty="0"/>
              <a:t> A computer lab technician wants memory that is fast but doesn't need constant refreshing, to use as CPU cache. Which should they choose, and why?</a:t>
            </a:r>
            <a:br>
              <a:rPr lang="en-IN" dirty="0"/>
            </a:br>
            <a:r>
              <a:rPr lang="en-IN" dirty="0"/>
              <a:t>a) DRAM — because it's cheaper per bit</a:t>
            </a:r>
            <a:br>
              <a:rPr lang="en-IN" dirty="0"/>
            </a:br>
            <a:r>
              <a:rPr lang="en-IN" dirty="0"/>
              <a:t>b) SRAM — because it retains data using transistors without needing refresh cycles, making it faster</a:t>
            </a:r>
            <a:br>
              <a:rPr lang="en-IN" dirty="0"/>
            </a:br>
            <a:r>
              <a:rPr lang="en-IN" dirty="0"/>
              <a:t>c) EEPROM — because it's non-volatile</a:t>
            </a:r>
            <a:br>
              <a:rPr lang="en-IN" dirty="0"/>
            </a:br>
            <a:r>
              <a:rPr lang="en-IN" dirty="0"/>
              <a:t>d) HDD — because it has large capacity</a:t>
            </a:r>
          </a:p>
        </p:txBody>
      </p:sp>
      <p:sp>
        <p:nvSpPr>
          <p:cNvPr id="7" name="TextBox 6">
            <a:extLst>
              <a:ext uri="{FF2B5EF4-FFF2-40B4-BE49-F238E27FC236}">
                <a16:creationId xmlns:a16="http://schemas.microsoft.com/office/drawing/2014/main" id="{BCBC6C0E-4B1C-7756-A239-CB92A5980058}"/>
              </a:ext>
            </a:extLst>
          </p:cNvPr>
          <p:cNvSpPr txBox="1"/>
          <p:nvPr/>
        </p:nvSpPr>
        <p:spPr>
          <a:xfrm>
            <a:off x="655320" y="4142025"/>
            <a:ext cx="7833360" cy="2031325"/>
          </a:xfrm>
          <a:prstGeom prst="rect">
            <a:avLst/>
          </a:prstGeom>
          <a:noFill/>
        </p:spPr>
        <p:txBody>
          <a:bodyPr wrap="square">
            <a:spAutoFit/>
          </a:bodyPr>
          <a:lstStyle/>
          <a:p>
            <a:pPr rtl="0">
              <a:buNone/>
            </a:pPr>
            <a:r>
              <a:rPr lang="en-IN" b="1" dirty="0"/>
              <a:t>13.</a:t>
            </a:r>
            <a:r>
              <a:rPr lang="en-IN" dirty="0"/>
              <a:t> A company manufactures 10,000 identical calculators, each needing the same fixed firmware that will never change. Which ROM type is most cost-effective for mass production?</a:t>
            </a:r>
            <a:br>
              <a:rPr lang="en-IN" dirty="0"/>
            </a:br>
            <a:r>
              <a:rPr lang="en-IN" dirty="0"/>
              <a:t>a) EEPROM, since it can be reprogrammed</a:t>
            </a:r>
            <a:br>
              <a:rPr lang="en-IN" dirty="0"/>
            </a:br>
            <a:r>
              <a:rPr lang="en-IN" dirty="0"/>
              <a:t>b) EPROM, since UV light can erase it</a:t>
            </a:r>
            <a:br>
              <a:rPr lang="en-IN" dirty="0"/>
            </a:br>
            <a:r>
              <a:rPr lang="en-IN" dirty="0"/>
              <a:t>c) PROM (or mask ROM), since the same fixed data is written permanently at low cost per unit</a:t>
            </a:r>
            <a:br>
              <a:rPr lang="en-IN" dirty="0"/>
            </a:br>
            <a:r>
              <a:rPr lang="en-IN" dirty="0"/>
              <a:t>d) SRAM, since it's fast</a:t>
            </a:r>
          </a:p>
          <a:p>
            <a:pPr rtl="0">
              <a:buNone/>
            </a:pPr>
            <a:r>
              <a:rPr lang="en-IN" b="1" dirty="0"/>
              <a:t>14.</a:t>
            </a:r>
            <a:r>
              <a:rPr lang="en-IN" dirty="0"/>
              <a:t> An engineer needs to update firmware in a device periodically without physically removing the chip or using UV light. Which memory type fits best?</a:t>
            </a:r>
            <a:br>
              <a:rPr lang="en-IN" dirty="0"/>
            </a:br>
            <a:r>
              <a:rPr lang="en-IN" dirty="0"/>
              <a:t>a) PROM b) EPROM c) EEPROM d) DRAM</a:t>
            </a:r>
          </a:p>
        </p:txBody>
      </p:sp>
    </p:spTree>
    <p:extLst>
      <p:ext uri="{BB962C8B-B14F-4D97-AF65-F5344CB8AC3E}">
        <p14:creationId xmlns:p14="http://schemas.microsoft.com/office/powerpoint/2010/main" val="4133289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FFB87-D55D-9EEB-0F2D-9590FEDAAB39}"/>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B6BBBF4C-C48D-ABF0-91BD-25C6F056BC7D}"/>
              </a:ext>
            </a:extLst>
          </p:cNvPr>
          <p:cNvSpPr txBox="1"/>
          <p:nvPr/>
        </p:nvSpPr>
        <p:spPr>
          <a:xfrm>
            <a:off x="416560" y="1023114"/>
            <a:ext cx="8331200" cy="4801314"/>
          </a:xfrm>
          <a:prstGeom prst="rect">
            <a:avLst/>
          </a:prstGeom>
          <a:noFill/>
        </p:spPr>
        <p:txBody>
          <a:bodyPr wrap="square">
            <a:spAutoFit/>
          </a:bodyPr>
          <a:lstStyle/>
          <a:p>
            <a:pPr rtl="0">
              <a:buNone/>
            </a:pPr>
            <a:r>
              <a:rPr lang="en-IN" sz="1800" b="1" dirty="0"/>
              <a:t>15.</a:t>
            </a:r>
            <a:r>
              <a:rPr lang="en-IN" sz="1800" dirty="0"/>
              <a:t> A student stores a project file on a USB pen drive, unplugs it, and later plugs it into another computer — the file is still there. What property of flash memory explains this?</a:t>
            </a:r>
            <a:br>
              <a:rPr lang="en-IN" sz="1800" dirty="0"/>
            </a:br>
            <a:r>
              <a:rPr lang="en-IN" sz="1800" dirty="0"/>
              <a:t>a) It is volatile b) It is non-volatile — it retains data without power c) It needs constant refreshing d) It only works while connected to power</a:t>
            </a:r>
          </a:p>
          <a:p>
            <a:pPr rtl="0">
              <a:buNone/>
            </a:pPr>
            <a:r>
              <a:rPr lang="en-IN" sz="1800" b="1" dirty="0"/>
              <a:t>16.</a:t>
            </a:r>
            <a:r>
              <a:rPr lang="en-IN" sz="1800" dirty="0"/>
              <a:t> A gaming PC builder has a budget for only ONE new drive and wants the best mix of large storage capacity and low cost per GB for storing a large game library. What should they most likely pick?</a:t>
            </a:r>
            <a:br>
              <a:rPr lang="en-IN" sz="1800" dirty="0"/>
            </a:br>
            <a:r>
              <a:rPr lang="en-IN" sz="1800" dirty="0"/>
              <a:t>a) SSD, because it's non-volatile</a:t>
            </a:r>
            <a:br>
              <a:rPr lang="en-IN" sz="1800" dirty="0"/>
            </a:br>
            <a:r>
              <a:rPr lang="en-IN" sz="1800" dirty="0"/>
              <a:t>b) HDD, because it generally offers more storage capacity per rupee spent than SSD</a:t>
            </a:r>
            <a:br>
              <a:rPr lang="en-IN" sz="1800" dirty="0"/>
            </a:br>
            <a:r>
              <a:rPr lang="en-IN" sz="1800" dirty="0"/>
              <a:t>c) SRAM, because it's the fastest memory</a:t>
            </a:r>
            <a:br>
              <a:rPr lang="en-IN" sz="1800" dirty="0"/>
            </a:br>
            <a:r>
              <a:rPr lang="en-IN" sz="1800" dirty="0"/>
              <a:t>d) EEPROM, because it's reprogrammable</a:t>
            </a:r>
          </a:p>
          <a:p>
            <a:pPr rtl="0">
              <a:buNone/>
            </a:pPr>
            <a:r>
              <a:rPr lang="en-IN" sz="1800" b="1" dirty="0"/>
              <a:t>17.</a:t>
            </a:r>
            <a:r>
              <a:rPr lang="en-IN" sz="1800" dirty="0"/>
              <a:t> A digital camera needs a memory type that is compact, has no moving parts (to survive shocks), and retains photos even when the battery is removed. Which technology fits?</a:t>
            </a:r>
            <a:br>
              <a:rPr lang="en-IN" sz="1800" dirty="0"/>
            </a:br>
            <a:r>
              <a:rPr lang="en-IN" sz="1800" dirty="0"/>
              <a:t>a) DRAM b) SRAM c) Flash memory (e.g., SD card) d) HDD</a:t>
            </a:r>
          </a:p>
        </p:txBody>
      </p:sp>
    </p:spTree>
    <p:extLst>
      <p:ext uri="{BB962C8B-B14F-4D97-AF65-F5344CB8AC3E}">
        <p14:creationId xmlns:p14="http://schemas.microsoft.com/office/powerpoint/2010/main" val="21560077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E864F4-D9A2-778E-92FF-C21A352AFA72}"/>
              </a:ext>
            </a:extLst>
          </p:cNvPr>
          <p:cNvSpPr txBox="1"/>
          <p:nvPr/>
        </p:nvSpPr>
        <p:spPr>
          <a:xfrm>
            <a:off x="454660" y="838200"/>
            <a:ext cx="8519160" cy="5509200"/>
          </a:xfrm>
          <a:prstGeom prst="rect">
            <a:avLst/>
          </a:prstGeom>
          <a:noFill/>
        </p:spPr>
        <p:txBody>
          <a:bodyPr wrap="square">
            <a:spAutoFit/>
          </a:bodyPr>
          <a:lstStyle/>
          <a:p>
            <a:pPr rtl="0">
              <a:buNone/>
            </a:pPr>
            <a:r>
              <a:rPr lang="en-IN" sz="1600" b="1" dirty="0"/>
              <a:t>18.</a:t>
            </a:r>
            <a:r>
              <a:rPr lang="en-IN" sz="1600" dirty="0"/>
              <a:t> While assembling a PC, a technician mistakenly swaps RAM modules with a smaller EEPROM chip meant for BIOS storage. What problem will likely occur?</a:t>
            </a:r>
            <a:br>
              <a:rPr lang="en-IN" sz="1600" dirty="0"/>
            </a:br>
            <a:r>
              <a:rPr lang="en-IN" sz="1600" dirty="0"/>
              <a:t>a) None — both are volatile memory, so they're interchangeable</a:t>
            </a:r>
            <a:br>
              <a:rPr lang="en-IN" sz="1600" dirty="0"/>
            </a:br>
            <a:r>
              <a:rPr lang="en-IN" sz="1600" dirty="0"/>
              <a:t>b) The system will fail to run properly, since EEPROM is much slower and far smaller in capacity than RAM used for main memory</a:t>
            </a:r>
            <a:br>
              <a:rPr lang="en-IN" sz="1600" dirty="0"/>
            </a:br>
            <a:r>
              <a:rPr lang="en-IN" sz="1600" dirty="0"/>
              <a:t>c) EEPROM is faster than RAM, so performance will improve</a:t>
            </a:r>
            <a:br>
              <a:rPr lang="en-IN" sz="1600" dirty="0"/>
            </a:br>
            <a:r>
              <a:rPr lang="en-IN" sz="1600" dirty="0"/>
              <a:t>d) EEPROM will refresh itself like DRAM</a:t>
            </a:r>
          </a:p>
          <a:p>
            <a:pPr rtl="0">
              <a:buNone/>
            </a:pPr>
            <a:r>
              <a:rPr lang="en-IN" sz="1600" b="1" dirty="0"/>
              <a:t>19.</a:t>
            </a:r>
            <a:r>
              <a:rPr lang="en-IN" sz="1600" dirty="0"/>
              <a:t> A hospital's server needs storage that is very reliable, fast, and resistant to physical shock (important in a moving equipment cart). Between HDD and SSD, which is more suitable, and why?</a:t>
            </a:r>
            <a:br>
              <a:rPr lang="en-IN" sz="1600" dirty="0"/>
            </a:br>
            <a:r>
              <a:rPr lang="en-IN" sz="1600" dirty="0"/>
              <a:t>a) HDD, because it's cheaper</a:t>
            </a:r>
            <a:br>
              <a:rPr lang="en-IN" sz="1600" dirty="0"/>
            </a:br>
            <a:r>
              <a:rPr lang="en-IN" sz="1600" dirty="0"/>
              <a:t>b) SSD, because it has no moving parts, making it more shock-resistant and reliable in motion</a:t>
            </a:r>
            <a:br>
              <a:rPr lang="en-IN" sz="1600" dirty="0"/>
            </a:br>
            <a:r>
              <a:rPr lang="en-IN" sz="1600" dirty="0"/>
              <a:t>c) HDD, because it has larger capacity</a:t>
            </a:r>
            <a:br>
              <a:rPr lang="en-IN" sz="1600" dirty="0"/>
            </a:br>
            <a:r>
              <a:rPr lang="en-IN" sz="1600" dirty="0"/>
              <a:t>d) Either works equally well for shock resistance</a:t>
            </a:r>
          </a:p>
          <a:p>
            <a:pPr rtl="0">
              <a:buNone/>
            </a:pPr>
            <a:r>
              <a:rPr lang="en-IN" sz="1600" b="1" dirty="0"/>
              <a:t>20.</a:t>
            </a:r>
            <a:r>
              <a:rPr lang="en-IN" sz="1600" dirty="0"/>
              <a:t> A teacher explains that BIOS settings changed by a user (like boot order) are saved even after the computer is switched off and unplugged for days. Which memory type stores these settings?</a:t>
            </a:r>
            <a:br>
              <a:rPr lang="en-IN" sz="1600" dirty="0"/>
            </a:br>
            <a:r>
              <a:rPr lang="en-IN" sz="1600" dirty="0"/>
              <a:t>a) DRAM, because it's fast</a:t>
            </a:r>
            <a:br>
              <a:rPr lang="en-IN" sz="1600" dirty="0"/>
            </a:br>
            <a:r>
              <a:rPr lang="en-IN" sz="1600" dirty="0"/>
              <a:t>b) SRAM, because it's used as cache</a:t>
            </a:r>
            <a:br>
              <a:rPr lang="en-IN" sz="1600" dirty="0"/>
            </a:br>
            <a:r>
              <a:rPr lang="en-IN" sz="1600" dirty="0"/>
              <a:t>c) A small EEPROM/CMOS memory chip, because it is non-volatile and can be rewritten</a:t>
            </a:r>
            <a:br>
              <a:rPr lang="en-IN" sz="1600" dirty="0"/>
            </a:br>
            <a:r>
              <a:rPr lang="en-IN" sz="1600" dirty="0"/>
              <a:t>d) Volatile RAM, because settings need to reload each time</a:t>
            </a:r>
          </a:p>
        </p:txBody>
      </p:sp>
    </p:spTree>
    <p:extLst>
      <p:ext uri="{BB962C8B-B14F-4D97-AF65-F5344CB8AC3E}">
        <p14:creationId xmlns:p14="http://schemas.microsoft.com/office/powerpoint/2010/main" val="11902544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AFB1-CEB3-F007-4018-264E95E76FBF}"/>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70AF72A7-0277-8561-8084-CFCE252B8F28}"/>
              </a:ext>
            </a:extLst>
          </p:cNvPr>
          <p:cNvSpPr txBox="1"/>
          <p:nvPr/>
        </p:nvSpPr>
        <p:spPr>
          <a:xfrm>
            <a:off x="1163320" y="838200"/>
            <a:ext cx="6863080" cy="2062103"/>
          </a:xfrm>
          <a:prstGeom prst="rect">
            <a:avLst/>
          </a:prstGeom>
          <a:noFill/>
        </p:spPr>
        <p:txBody>
          <a:bodyPr wrap="square">
            <a:spAutoFit/>
          </a:bodyPr>
          <a:lstStyle/>
          <a:p>
            <a:pPr rtl="0">
              <a:buNone/>
            </a:pPr>
            <a:r>
              <a:rPr lang="en-IN" sz="3200" b="1" dirty="0"/>
              <a:t>Answer Key</a:t>
            </a:r>
          </a:p>
          <a:p>
            <a:pPr rtl="0">
              <a:buNone/>
            </a:pPr>
            <a:r>
              <a:rPr lang="en-IN" sz="3200" dirty="0"/>
              <a:t>1-b, 2-b, 3-c, 4-b, 5-c, 6-b, 7-c, 8-b, 9-b, 10-c, 11-b, 12-b, 13-c, 14-c, 15-b, 16-b, 17-c, 18-b, 19-b, 20-c</a:t>
            </a:r>
          </a:p>
        </p:txBody>
      </p:sp>
    </p:spTree>
    <p:extLst>
      <p:ext uri="{BB962C8B-B14F-4D97-AF65-F5344CB8AC3E}">
        <p14:creationId xmlns:p14="http://schemas.microsoft.com/office/powerpoint/2010/main" val="25161103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5FB1FA1-E601-5129-CA6D-93B1C9D4FC73}"/>
              </a:ext>
            </a:extLst>
          </p:cNvPr>
          <p:cNvSpPr>
            <a:spLocks noGrp="1"/>
          </p:cNvSpPr>
          <p:nvPr>
            <p:ph type="subTitle" idx="1"/>
          </p:nvPr>
        </p:nvSpPr>
        <p:spPr>
          <a:xfrm>
            <a:off x="495300" y="885463"/>
            <a:ext cx="8153400" cy="5422740"/>
          </a:xfrm>
        </p:spPr>
        <p:txBody>
          <a:bodyPr/>
          <a:lstStyle/>
          <a:p>
            <a:pPr algn="just"/>
            <a:r>
              <a:rPr lang="en-IN" sz="2000" b="1" dirty="0">
                <a:solidFill>
                  <a:schemeClr val="tx1"/>
                </a:solidFill>
              </a:rPr>
              <a:t>What is the main difference between HDD and SSD?</a:t>
            </a:r>
          </a:p>
          <a:p>
            <a:pPr algn="just"/>
            <a:endParaRPr lang="en-IN" sz="2000" dirty="0">
              <a:solidFill>
                <a:schemeClr val="tx1"/>
              </a:solidFill>
            </a:endParaRPr>
          </a:p>
          <a:p>
            <a:pPr lvl="0" algn="just"/>
            <a:r>
              <a:rPr lang="en-IN" sz="2000" dirty="0">
                <a:solidFill>
                  <a:schemeClr val="tx1"/>
                </a:solidFill>
              </a:rPr>
              <a:t>A HDD uses flash memory, SSD uses magnetic disks</a:t>
            </a:r>
          </a:p>
          <a:p>
            <a:pPr lvl="0" algn="just"/>
            <a:r>
              <a:rPr lang="en-IN" sz="2000" dirty="0">
                <a:solidFill>
                  <a:schemeClr val="tx1"/>
                </a:solidFill>
              </a:rPr>
              <a:t>B HDD uses mechanical parts, SSD uses electronic memory</a:t>
            </a:r>
          </a:p>
          <a:p>
            <a:pPr lvl="0" algn="just"/>
            <a:r>
              <a:rPr lang="en-IN" sz="2000" dirty="0">
                <a:solidFill>
                  <a:schemeClr val="tx1"/>
                </a:solidFill>
              </a:rPr>
              <a:t>C Both use mechanical parts</a:t>
            </a:r>
          </a:p>
          <a:p>
            <a:pPr lvl="0" algn="just"/>
            <a:r>
              <a:rPr lang="en-IN" sz="2000" dirty="0">
                <a:solidFill>
                  <a:schemeClr val="tx1"/>
                </a:solidFill>
              </a:rPr>
              <a:t>D Both use magnetic storage</a:t>
            </a:r>
          </a:p>
          <a:p>
            <a:pPr lvl="0" algn="just"/>
            <a:endParaRPr lang="en-IN" sz="2000" dirty="0">
              <a:solidFill>
                <a:schemeClr val="tx1"/>
              </a:solidFill>
            </a:endParaRPr>
          </a:p>
          <a:p>
            <a:pPr marL="92075" indent="-66675" algn="just"/>
            <a:r>
              <a:rPr lang="en-IN" sz="2000" b="1" dirty="0">
                <a:solidFill>
                  <a:schemeClr val="tx1"/>
                </a:solidFill>
              </a:rPr>
              <a:t>Which storage device provides faster data access and boot time?</a:t>
            </a:r>
          </a:p>
          <a:p>
            <a:pPr marL="92075" indent="-66675" algn="just"/>
            <a:endParaRPr lang="en-IN" sz="2000" dirty="0">
              <a:solidFill>
                <a:schemeClr val="tx1"/>
              </a:solidFill>
            </a:endParaRPr>
          </a:p>
          <a:p>
            <a:pPr lvl="0" algn="just"/>
            <a:r>
              <a:rPr lang="en-IN" sz="2000" dirty="0">
                <a:solidFill>
                  <a:schemeClr val="tx1"/>
                </a:solidFill>
              </a:rPr>
              <a:t>A HDD</a:t>
            </a:r>
          </a:p>
          <a:p>
            <a:pPr lvl="0" algn="just"/>
            <a:r>
              <a:rPr lang="en-IN" sz="2000" dirty="0">
                <a:solidFill>
                  <a:schemeClr val="tx1"/>
                </a:solidFill>
              </a:rPr>
              <a:t>B SSD</a:t>
            </a:r>
          </a:p>
          <a:p>
            <a:pPr lvl="0" algn="just"/>
            <a:r>
              <a:rPr lang="en-IN" sz="2000" dirty="0">
                <a:solidFill>
                  <a:schemeClr val="tx1"/>
                </a:solidFill>
              </a:rPr>
              <a:t>C CD-ROM</a:t>
            </a:r>
          </a:p>
          <a:p>
            <a:pPr lvl="0" algn="just"/>
            <a:r>
              <a:rPr lang="en-IN" sz="2000" dirty="0">
                <a:solidFill>
                  <a:schemeClr val="tx1"/>
                </a:solidFill>
              </a:rPr>
              <a:t>D Floppy Disk</a:t>
            </a:r>
          </a:p>
          <a:p>
            <a:pPr lvl="0" algn="just"/>
            <a:endParaRPr lang="en-IN" sz="2000" dirty="0">
              <a:solidFill>
                <a:schemeClr val="tx1"/>
              </a:solidFill>
            </a:endParaRPr>
          </a:p>
          <a:p>
            <a:pPr algn="just"/>
            <a:endParaRPr lang="en-IN" sz="2000" dirty="0">
              <a:solidFill>
                <a:schemeClr val="tx1"/>
              </a:solidFill>
            </a:endParaRPr>
          </a:p>
        </p:txBody>
      </p:sp>
    </p:spTree>
    <p:extLst>
      <p:ext uri="{BB962C8B-B14F-4D97-AF65-F5344CB8AC3E}">
        <p14:creationId xmlns:p14="http://schemas.microsoft.com/office/powerpoint/2010/main" val="24241798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A7274D-6D4B-C76D-16BF-A242E2E4B3AA}"/>
              </a:ext>
            </a:extLst>
          </p:cNvPr>
          <p:cNvSpPr txBox="1"/>
          <p:nvPr/>
        </p:nvSpPr>
        <p:spPr>
          <a:xfrm>
            <a:off x="694479" y="811385"/>
            <a:ext cx="7095281" cy="1893339"/>
          </a:xfrm>
          <a:prstGeom prst="rect">
            <a:avLst/>
          </a:prstGeom>
          <a:noFill/>
        </p:spPr>
        <p:txBody>
          <a:bodyPr wrap="square">
            <a:spAutoFit/>
          </a:bodyPr>
          <a:lstStyle/>
          <a:p>
            <a:pPr rtl="0">
              <a:lnSpc>
                <a:spcPct val="150000"/>
              </a:lnSpc>
            </a:pPr>
            <a:r>
              <a:rPr lang="en-IN" sz="1600" b="1" dirty="0">
                <a:solidFill>
                  <a:srgbClr val="273329"/>
                </a:solidFill>
                <a:effectLst/>
              </a:rPr>
              <a:t>Why is SSD considered more durable than HDD</a:t>
            </a:r>
            <a:r>
              <a:rPr lang="en-IN" sz="1600" dirty="0">
                <a:solidFill>
                  <a:srgbClr val="273329"/>
                </a:solidFill>
                <a:effectLst/>
              </a:rPr>
              <a:t>?</a:t>
            </a:r>
          </a:p>
          <a:p>
            <a:pPr lvl="0">
              <a:lnSpc>
                <a:spcPct val="150000"/>
              </a:lnSpc>
            </a:pPr>
            <a:r>
              <a:rPr lang="en-IN" sz="1600" dirty="0"/>
              <a:t>A </a:t>
            </a:r>
            <a:r>
              <a:rPr lang="en-IN" sz="1600" dirty="0">
                <a:effectLst/>
              </a:rPr>
              <a:t>It uses magnetic disks</a:t>
            </a:r>
          </a:p>
          <a:p>
            <a:pPr lvl="0">
              <a:lnSpc>
                <a:spcPct val="150000"/>
              </a:lnSpc>
            </a:pPr>
            <a:r>
              <a:rPr lang="en-IN" sz="1600" dirty="0"/>
              <a:t>B </a:t>
            </a:r>
            <a:r>
              <a:rPr lang="en-IN" sz="1600" dirty="0">
                <a:effectLst/>
              </a:rPr>
              <a:t>It has larger storage</a:t>
            </a:r>
          </a:p>
          <a:p>
            <a:pPr lvl="0">
              <a:lnSpc>
                <a:spcPct val="150000"/>
              </a:lnSpc>
            </a:pPr>
            <a:r>
              <a:rPr lang="en-IN" sz="1600" dirty="0"/>
              <a:t>C </a:t>
            </a:r>
            <a:r>
              <a:rPr lang="en-IN" sz="1600" dirty="0">
                <a:effectLst/>
              </a:rPr>
              <a:t>It has no moving parts</a:t>
            </a:r>
          </a:p>
          <a:p>
            <a:pPr lvl="0">
              <a:lnSpc>
                <a:spcPct val="150000"/>
              </a:lnSpc>
            </a:pPr>
            <a:r>
              <a:rPr lang="en-IN" sz="1600" dirty="0"/>
              <a:t>D </a:t>
            </a:r>
            <a:r>
              <a:rPr lang="en-IN" sz="1600" dirty="0">
                <a:effectLst/>
              </a:rPr>
              <a:t>It is cheaper</a:t>
            </a:r>
          </a:p>
        </p:txBody>
      </p:sp>
      <p:sp>
        <p:nvSpPr>
          <p:cNvPr id="7" name="TextBox 6">
            <a:extLst>
              <a:ext uri="{FF2B5EF4-FFF2-40B4-BE49-F238E27FC236}">
                <a16:creationId xmlns:a16="http://schemas.microsoft.com/office/drawing/2014/main" id="{A6D7B2A9-D752-ABF7-D9BE-69FD42981404}"/>
              </a:ext>
            </a:extLst>
          </p:cNvPr>
          <p:cNvSpPr txBox="1"/>
          <p:nvPr/>
        </p:nvSpPr>
        <p:spPr>
          <a:xfrm>
            <a:off x="694480" y="2704724"/>
            <a:ext cx="7095280" cy="1893339"/>
          </a:xfrm>
          <a:prstGeom prst="rect">
            <a:avLst/>
          </a:prstGeom>
          <a:noFill/>
        </p:spPr>
        <p:txBody>
          <a:bodyPr wrap="square">
            <a:spAutoFit/>
          </a:bodyPr>
          <a:lstStyle/>
          <a:p>
            <a:pPr rtl="0">
              <a:lnSpc>
                <a:spcPct val="150000"/>
              </a:lnSpc>
            </a:pPr>
            <a:r>
              <a:rPr lang="en-IN" sz="1600" b="1" dirty="0">
                <a:solidFill>
                  <a:srgbClr val="273329"/>
                </a:solidFill>
                <a:effectLst/>
              </a:rPr>
              <a:t>Which device is more cost-effective for large data storage?</a:t>
            </a:r>
          </a:p>
          <a:p>
            <a:pPr lvl="0">
              <a:lnSpc>
                <a:spcPct val="150000"/>
              </a:lnSpc>
            </a:pPr>
            <a:r>
              <a:rPr lang="en-IN" sz="1600" dirty="0"/>
              <a:t>A </a:t>
            </a:r>
            <a:r>
              <a:rPr lang="en-IN" sz="1600" dirty="0">
                <a:effectLst/>
              </a:rPr>
              <a:t>SSD</a:t>
            </a:r>
          </a:p>
          <a:p>
            <a:pPr lvl="0">
              <a:lnSpc>
                <a:spcPct val="150000"/>
              </a:lnSpc>
            </a:pPr>
            <a:r>
              <a:rPr lang="en-IN" sz="1600" dirty="0"/>
              <a:t>B </a:t>
            </a:r>
            <a:r>
              <a:rPr lang="en-IN" sz="1600" dirty="0">
                <a:effectLst/>
              </a:rPr>
              <a:t>HDD</a:t>
            </a:r>
          </a:p>
          <a:p>
            <a:pPr lvl="0">
              <a:lnSpc>
                <a:spcPct val="150000"/>
              </a:lnSpc>
            </a:pPr>
            <a:r>
              <a:rPr lang="en-IN" sz="1600" dirty="0"/>
              <a:t>C </a:t>
            </a:r>
            <a:r>
              <a:rPr lang="en-IN" sz="1600" dirty="0">
                <a:effectLst/>
              </a:rPr>
              <a:t>Both are equal</a:t>
            </a:r>
          </a:p>
          <a:p>
            <a:pPr lvl="0">
              <a:lnSpc>
                <a:spcPct val="150000"/>
              </a:lnSpc>
            </a:pPr>
            <a:r>
              <a:rPr lang="en-IN" sz="1600" dirty="0"/>
              <a:t>D </a:t>
            </a:r>
            <a:r>
              <a:rPr lang="en-IN" sz="1600" dirty="0">
                <a:effectLst/>
              </a:rPr>
              <a:t>Optical Disk</a:t>
            </a:r>
          </a:p>
        </p:txBody>
      </p:sp>
      <p:sp>
        <p:nvSpPr>
          <p:cNvPr id="9" name="TextBox 8">
            <a:extLst>
              <a:ext uri="{FF2B5EF4-FFF2-40B4-BE49-F238E27FC236}">
                <a16:creationId xmlns:a16="http://schemas.microsoft.com/office/drawing/2014/main" id="{F49BDAF1-8C27-0A80-282D-9F975ECE479F}"/>
              </a:ext>
            </a:extLst>
          </p:cNvPr>
          <p:cNvSpPr txBox="1"/>
          <p:nvPr/>
        </p:nvSpPr>
        <p:spPr>
          <a:xfrm>
            <a:off x="694479" y="4598063"/>
            <a:ext cx="6597570" cy="1893339"/>
          </a:xfrm>
          <a:prstGeom prst="rect">
            <a:avLst/>
          </a:prstGeom>
          <a:noFill/>
        </p:spPr>
        <p:txBody>
          <a:bodyPr wrap="square">
            <a:spAutoFit/>
          </a:bodyPr>
          <a:lstStyle/>
          <a:p>
            <a:pPr rtl="0">
              <a:lnSpc>
                <a:spcPct val="150000"/>
              </a:lnSpc>
            </a:pPr>
            <a:r>
              <a:rPr lang="en-IN" sz="1600" b="1" dirty="0">
                <a:solidFill>
                  <a:srgbClr val="273329"/>
                </a:solidFill>
                <a:effectLst/>
              </a:rPr>
              <a:t>What is a disadvantage of HDD compared to SSD?</a:t>
            </a:r>
          </a:p>
          <a:p>
            <a:pPr lvl="0">
              <a:lnSpc>
                <a:spcPct val="150000"/>
              </a:lnSpc>
            </a:pPr>
            <a:r>
              <a:rPr lang="en-IN" sz="1600" dirty="0"/>
              <a:t>A </a:t>
            </a:r>
            <a:r>
              <a:rPr lang="en-IN" sz="1600" dirty="0">
                <a:effectLst/>
              </a:rPr>
              <a:t>Higher power consumption</a:t>
            </a:r>
          </a:p>
          <a:p>
            <a:pPr lvl="0">
              <a:lnSpc>
                <a:spcPct val="150000"/>
              </a:lnSpc>
            </a:pPr>
            <a:r>
              <a:rPr lang="en-IN" sz="1600" dirty="0"/>
              <a:t>B </a:t>
            </a:r>
            <a:r>
              <a:rPr lang="en-IN" sz="1600" dirty="0">
                <a:effectLst/>
              </a:rPr>
              <a:t>Silent operation</a:t>
            </a:r>
          </a:p>
          <a:p>
            <a:pPr lvl="0">
              <a:lnSpc>
                <a:spcPct val="150000"/>
              </a:lnSpc>
            </a:pPr>
            <a:r>
              <a:rPr lang="en-IN" sz="1600" dirty="0"/>
              <a:t>C </a:t>
            </a:r>
            <a:r>
              <a:rPr lang="en-IN" sz="1600" dirty="0">
                <a:effectLst/>
              </a:rPr>
              <a:t>Faster performance</a:t>
            </a:r>
          </a:p>
          <a:p>
            <a:pPr lvl="0">
              <a:lnSpc>
                <a:spcPct val="150000"/>
              </a:lnSpc>
            </a:pPr>
            <a:r>
              <a:rPr lang="en-IN" sz="1600" dirty="0"/>
              <a:t>D </a:t>
            </a:r>
            <a:r>
              <a:rPr lang="en-IN" sz="1600" dirty="0">
                <a:effectLst/>
              </a:rPr>
              <a:t>No fragmentation</a:t>
            </a:r>
          </a:p>
        </p:txBody>
      </p:sp>
    </p:spTree>
    <p:extLst>
      <p:ext uri="{BB962C8B-B14F-4D97-AF65-F5344CB8AC3E}">
        <p14:creationId xmlns:p14="http://schemas.microsoft.com/office/powerpoint/2010/main" val="38732428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2FC37C4-27F3-7D5C-8E67-B53F0C75A5A7}"/>
              </a:ext>
            </a:extLst>
          </p:cNvPr>
          <p:cNvSpPr>
            <a:spLocks noGrp="1"/>
          </p:cNvSpPr>
          <p:nvPr>
            <p:ph type="subTitle" idx="1"/>
          </p:nvPr>
        </p:nvSpPr>
        <p:spPr>
          <a:xfrm>
            <a:off x="533400" y="2306320"/>
            <a:ext cx="8153400" cy="3789680"/>
          </a:xfrm>
        </p:spPr>
        <p:txBody>
          <a:bodyPr/>
          <a:lstStyle/>
          <a:p>
            <a:endParaRPr lang="en-IN" sz="4000" b="1" dirty="0">
              <a:solidFill>
                <a:schemeClr val="accent6"/>
              </a:solidFill>
            </a:endParaRPr>
          </a:p>
          <a:p>
            <a:r>
              <a:rPr lang="en-IN" sz="4000" b="1" dirty="0">
                <a:solidFill>
                  <a:schemeClr val="accent6"/>
                </a:solidFill>
              </a:rPr>
              <a:t>Thank You</a:t>
            </a:r>
          </a:p>
        </p:txBody>
      </p:sp>
    </p:spTree>
    <p:extLst>
      <p:ext uri="{BB962C8B-B14F-4D97-AF65-F5344CB8AC3E}">
        <p14:creationId xmlns:p14="http://schemas.microsoft.com/office/powerpoint/2010/main" val="12175353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3672</TotalTime>
  <Words>4892</Words>
  <Application>Microsoft Office PowerPoint</Application>
  <PresentationFormat>On-screen Show (4:3)</PresentationFormat>
  <Paragraphs>408</Paragraphs>
  <Slides>51</Slides>
  <Notes>24</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Cambria</vt:lpstr>
      <vt:lpstr>Times New Roman</vt:lpstr>
      <vt:lpstr>Wingdings</vt:lpstr>
      <vt:lpstr>Office Theme</vt:lpstr>
      <vt:lpstr>PowerPoint Presentation</vt:lpstr>
      <vt:lpstr>UNIT-2 -Memory Hierarchy and Classification </vt:lpstr>
      <vt:lpstr>Introduction to Memory and Memory Units</vt:lpstr>
      <vt:lpstr>Memory Unit</vt:lpstr>
      <vt:lpstr>PowerPoint Presentation</vt:lpstr>
      <vt:lpstr>Volatile and Non-Volatile Memory</vt:lpstr>
      <vt:lpstr>PowerPoint Presentation</vt:lpstr>
      <vt:lpstr>SRAM (Static RAM) </vt:lpstr>
      <vt:lpstr>Real life applications of SRAM</vt:lpstr>
      <vt:lpstr>DRAM (Dynamic Random Access Memory) </vt:lpstr>
      <vt:lpstr>PowerPoint Presentation</vt:lpstr>
      <vt:lpstr>Difference between SRAM and DRAM</vt:lpstr>
      <vt:lpstr>PowerPoint Presentation</vt:lpstr>
      <vt:lpstr>Types of ROM</vt:lpstr>
      <vt:lpstr>Types of Memory in a Computer System</vt:lpstr>
      <vt:lpstr>PowerPoint Presentation</vt:lpstr>
      <vt:lpstr>Hard Disk Drive (HDD) vs Solid State Drive (SSD)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of SSD and HDD</vt:lpstr>
      <vt:lpstr>Flash Media</vt:lpstr>
      <vt:lpstr>How Flash Memory Works</vt:lpstr>
      <vt:lpstr>SD Cards</vt:lpstr>
      <vt:lpstr>Real-Life Applications of SD Cards</vt:lpstr>
      <vt:lpstr>Features of SD Cards</vt:lpstr>
      <vt:lpstr>PowerPoint Presentation</vt:lpstr>
      <vt:lpstr>Removable devices</vt:lpstr>
      <vt:lpstr>USB Flash Drive</vt:lpstr>
      <vt:lpstr>Real-Life Applications of USB Flash Drives</vt:lpstr>
      <vt:lpstr>Advantages of Flash Media</vt:lpstr>
      <vt:lpstr>Disadvantages of Flash Media</vt:lpstr>
      <vt:lpstr>Comparision Between SD Card and  USB Flash Drive</vt:lpstr>
      <vt:lpstr>PowerPoint Presentation</vt:lpstr>
      <vt:lpstr>Conclusion of Flash Media (SD Card and USB Drives)</vt:lpstr>
      <vt:lpstr>Compact Disc</vt:lpstr>
      <vt:lpstr>PowerPoint Presentation</vt:lpstr>
      <vt:lpstr>Section A — 1 Mark Each (Direct Recall) </vt:lpstr>
      <vt:lpstr>PowerPoint Presentation</vt:lpstr>
      <vt:lpstr>Section B — 5 Marks Each (Scenario-Based, Middle Level)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TAJINDER KAUR</cp:lastModifiedBy>
  <cp:revision>59</cp:revision>
  <dcterms:created xsi:type="dcterms:W3CDTF">2010-04-09T07:36:00Z</dcterms:created>
  <dcterms:modified xsi:type="dcterms:W3CDTF">2026-09-23T09:38:02Z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E902465EB90644BEAC40B33CBD587F7A_13</vt:lpwstr>
  </property>
  <property fmtid="{D5CDD505-2E9C-101B-9397-08002B2CF9AE}" pid="3" name="KSOProductBuildVer">
    <vt:lpwstr>1033-12.2.0.17562</vt:lpwstr>
  </property>
</Properties>
</file>