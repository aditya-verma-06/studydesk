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56" r:id="rId2"/>
    <p:sldId id="257" r:id="rId3"/>
    <p:sldId id="337" r:id="rId4"/>
    <p:sldId id="338" r:id="rId5"/>
    <p:sldId id="331" r:id="rId6"/>
    <p:sldId id="341" r:id="rId7"/>
    <p:sldId id="333" r:id="rId8"/>
    <p:sldId id="270" r:id="rId9"/>
    <p:sldId id="271" r:id="rId10"/>
    <p:sldId id="273" r:id="rId11"/>
    <p:sldId id="274" r:id="rId12"/>
    <p:sldId id="276" r:id="rId13"/>
    <p:sldId id="335" r:id="rId14"/>
    <p:sldId id="281" r:id="rId15"/>
    <p:sldId id="332" r:id="rId16"/>
    <p:sldId id="334" r:id="rId17"/>
    <p:sldId id="336" r:id="rId18"/>
    <p:sldId id="342" r:id="rId19"/>
    <p:sldId id="346" r:id="rId20"/>
    <p:sldId id="347" r:id="rId21"/>
    <p:sldId id="348" r:id="rId22"/>
    <p:sldId id="349" r:id="rId23"/>
    <p:sldId id="345" r:id="rId24"/>
    <p:sldId id="343" r:id="rId25"/>
    <p:sldId id="344" r:id="rId26"/>
    <p:sldId id="298" r:id="rId2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4" roundtripDataSignature="AMtx7mgY4BVn/cop8Biq/B1Ys7aNCcN+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94660"/>
  </p:normalViewPr>
  <p:slideViewPr>
    <p:cSldViewPr snapToGrid="0">
      <p:cViewPr varScale="1">
        <p:scale>
          <a:sx n="75" d="100"/>
          <a:sy n="75" d="100"/>
        </p:scale>
        <p:origin x="1603"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48"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4" name="Google Shape;4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1" name="Google Shape;5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35" name="Google Shape;135;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1" name="Google Shape;141;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3" name="Google Shape;15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9" name="Google Shape;15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1" name="Google Shape;171;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203" name="Google Shape;203;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36"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36"/>
          <p:cNvGrpSpPr/>
          <p:nvPr/>
        </p:nvGrpSpPr>
        <p:grpSpPr>
          <a:xfrm>
            <a:off x="6146800" y="0"/>
            <a:ext cx="2997200" cy="876300"/>
            <a:chOff x="6096000" y="3924300"/>
            <a:chExt cx="2997200" cy="876300"/>
          </a:xfrm>
        </p:grpSpPr>
        <p:sp>
          <p:nvSpPr>
            <p:cNvPr id="27" name="Google Shape;27;p36"/>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 name="Google Shape;28;p36"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36"/>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0" name="Google Shape;30;p36"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3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36"/>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6"/>
        <p:cNvGrpSpPr/>
        <p:nvPr/>
      </p:nvGrpSpPr>
      <p:grpSpPr>
        <a:xfrm>
          <a:off x="0" y="0"/>
          <a:ext cx="0" cy="0"/>
          <a:chOff x="0" y="0"/>
          <a:chExt cx="0" cy="0"/>
        </a:xfrm>
      </p:grpSpPr>
      <p:sp>
        <p:nvSpPr>
          <p:cNvPr id="37" name="Google Shape;37;p37"/>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37"/>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39" name="Google Shape;39;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35"/>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35"/>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35"/>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35"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pic>
        <p:nvPicPr>
          <p:cNvPr id="18" name="Google Shape;18;p35"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grpSp>
        <p:nvGrpSpPr>
          <p:cNvPr id="19" name="Google Shape;19;p35"/>
          <p:cNvGrpSpPr/>
          <p:nvPr/>
        </p:nvGrpSpPr>
        <p:grpSpPr>
          <a:xfrm>
            <a:off x="6146800" y="0"/>
            <a:ext cx="2997200" cy="876300"/>
            <a:chOff x="6096000" y="3924300"/>
            <a:chExt cx="2997200" cy="876300"/>
          </a:xfrm>
        </p:grpSpPr>
        <p:sp>
          <p:nvSpPr>
            <p:cNvPr id="20" name="Google Shape;20;p35"/>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35" descr="LOGO.gif"/>
            <p:cNvPicPr preferRelativeResize="0"/>
            <p:nvPr/>
          </p:nvPicPr>
          <p:blipFill rotWithShape="1">
            <a:blip r:embed="rId4">
              <a:alphaModFix/>
            </a:blip>
            <a:srcRect b="10713"/>
            <a:stretch/>
          </p:blipFill>
          <p:spPr>
            <a:xfrm>
              <a:off x="6502400" y="4152900"/>
              <a:ext cx="2057400" cy="635000"/>
            </a:xfrm>
            <a:prstGeom prst="rect">
              <a:avLst/>
            </a:prstGeom>
            <a:noFill/>
            <a:ln>
              <a:noFill/>
            </a:ln>
          </p:spPr>
        </p:pic>
        <p:sp>
          <p:nvSpPr>
            <p:cNvPr id="22" name="Google Shape;22;p35"/>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3" name="Google Shape;23;p35" descr="logo.jpg"/>
          <p:cNvPicPr preferRelativeResize="0"/>
          <p:nvPr/>
        </p:nvPicPr>
        <p:blipFill rotWithShape="1">
          <a:blip r:embed="rId5">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eeksforgeeks.org/computer-organization-architecture/hard-disk-drive-hdd-secondary-memory/"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
          <p:cNvSpPr txBox="1"/>
          <p:nvPr/>
        </p:nvSpPr>
        <p:spPr>
          <a:xfrm>
            <a:off x="1219200" y="914400"/>
            <a:ext cx="6553200" cy="1981200"/>
          </a:xfrm>
          <a:prstGeom prst="rect">
            <a:avLst/>
          </a:prstGeom>
          <a:noFill/>
          <a:ln>
            <a:noFill/>
          </a:ln>
        </p:spPr>
        <p:txBody>
          <a:bodyPr spcFirstLastPara="1" wrap="square" lIns="91425" tIns="33100" rIns="91425" bIns="45700" anchor="ctr" anchorCtr="0">
            <a:noAutofit/>
          </a:bodyPr>
          <a:lstStyle/>
          <a:p>
            <a:pPr lvl="0" algn="ctr"/>
            <a:r>
              <a:rPr lang="en-US" sz="2800" b="1" dirty="0">
                <a:latin typeface="Times New Roman"/>
                <a:ea typeface="Times New Roman"/>
                <a:cs typeface="Times New Roman"/>
                <a:sym typeface="Times New Roman"/>
              </a:rPr>
              <a:t>Foundations of Computer Science (26CSE0103)</a:t>
            </a:r>
            <a:endParaRPr lang="en-US" sz="3200" b="1" dirty="0">
              <a:solidFill>
                <a:srgbClr val="3A30FA"/>
              </a:solidFill>
              <a:latin typeface="Calibri"/>
              <a:ea typeface="Calibri"/>
              <a:cs typeface="Calibri"/>
              <a:sym typeface="Calibri"/>
            </a:endParaRPr>
          </a:p>
        </p:txBody>
      </p:sp>
      <p:sp>
        <p:nvSpPr>
          <p:cNvPr id="47" name="Google Shape;47;p1"/>
          <p:cNvSpPr txBox="1"/>
          <p:nvPr/>
        </p:nvSpPr>
        <p:spPr>
          <a:xfrm>
            <a:off x="2318999" y="3530300"/>
            <a:ext cx="4406265" cy="1107955"/>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2200"/>
              <a:buFont typeface="Arial"/>
              <a:buNone/>
            </a:pPr>
            <a:r>
              <a:rPr lang="en-US" sz="2200" b="1" i="0" u="none" strike="noStrike" cap="none" dirty="0">
                <a:solidFill>
                  <a:schemeClr val="dk1"/>
                </a:solidFill>
                <a:latin typeface="Times New Roman"/>
                <a:ea typeface="Times New Roman"/>
                <a:cs typeface="Times New Roman"/>
                <a:sym typeface="Times New Roman"/>
              </a:rPr>
              <a:t>Prepared By: Dr. Tajinder Kaur</a:t>
            </a:r>
            <a:endParaRPr sz="22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50000"/>
              </a:lnSpc>
              <a:spcBef>
                <a:spcPts val="0"/>
              </a:spcBef>
              <a:spcAft>
                <a:spcPts val="0"/>
              </a:spcAft>
              <a:buClr>
                <a:srgbClr val="000000"/>
              </a:buClr>
              <a:buSzPts val="2200"/>
              <a:buFont typeface="Arial"/>
              <a:buNone/>
            </a:pPr>
            <a:endParaRPr sz="2200" b="1" i="0" u="none" strike="noStrike" cap="none" dirty="0">
              <a:solidFill>
                <a:schemeClr val="dk1"/>
              </a:solidFill>
              <a:latin typeface="Times New Roman"/>
              <a:ea typeface="Times New Roman"/>
              <a:cs typeface="Times New Roman"/>
              <a:sym typeface="Times New Roman"/>
            </a:endParaRPr>
          </a:p>
        </p:txBody>
      </p:sp>
      <p:sp>
        <p:nvSpPr>
          <p:cNvPr id="48" name="Google Shape;48;p1"/>
          <p:cNvSpPr txBox="1"/>
          <p:nvPr/>
        </p:nvSpPr>
        <p:spPr>
          <a:xfrm>
            <a:off x="1731675" y="5609050"/>
            <a:ext cx="61512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FF0000"/>
                </a:solidFill>
                <a:latin typeface="Times New Roman"/>
                <a:ea typeface="Times New Roman"/>
                <a:cs typeface="Times New Roman"/>
                <a:sym typeface="Times New Roman"/>
              </a:rPr>
              <a:t>Chitkara University Institute of Engineering and Technology,</a:t>
            </a:r>
            <a:endParaRPr sz="1800" b="1" i="0" u="none" strike="noStrike" cap="none">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FF0000"/>
                </a:solidFill>
                <a:latin typeface="Times New Roman"/>
                <a:ea typeface="Times New Roman"/>
                <a:cs typeface="Times New Roman"/>
                <a:sym typeface="Times New Roman"/>
              </a:rPr>
              <a:t>Chitkara University, Punjab</a:t>
            </a:r>
            <a:endParaRPr sz="1800" b="1" i="0" u="none" strike="noStrike" cap="none">
              <a:solidFill>
                <a:srgbClr val="FF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4" name="Google Shape;54;p12"/>
          <p:cNvSpPr txBox="1"/>
          <p:nvPr/>
        </p:nvSpPr>
        <p:spPr>
          <a:xfrm>
            <a:off x="167148" y="115669"/>
            <a:ext cx="4739149" cy="55395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0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Contents</a:t>
            </a:r>
            <a:endParaRPr sz="3000" b="1"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2" name="Title 1">
            <a:extLst>
              <a:ext uri="{FF2B5EF4-FFF2-40B4-BE49-F238E27FC236}">
                <a16:creationId xmlns:a16="http://schemas.microsoft.com/office/drawing/2014/main" id="{D5FD6C28-F953-9872-EFC3-7D7FF1EB3531}"/>
              </a:ext>
            </a:extLst>
          </p:cNvPr>
          <p:cNvSpPr>
            <a:spLocks noGrp="1"/>
          </p:cNvSpPr>
          <p:nvPr>
            <p:ph type="ctrTitle"/>
          </p:nvPr>
        </p:nvSpPr>
        <p:spPr>
          <a:xfrm>
            <a:off x="167147" y="1351935"/>
            <a:ext cx="6858685" cy="1023682"/>
          </a:xfrm>
        </p:spPr>
        <p:txBody>
          <a:bodyPr>
            <a:normAutofit/>
          </a:bodyPr>
          <a:lstStyle/>
          <a:p>
            <a:pPr algn="l"/>
            <a:r>
              <a:rPr lang="en-IN" sz="2400" b="1" dirty="0">
                <a:solidFill>
                  <a:schemeClr val="tx1"/>
                </a:solidFill>
                <a:latin typeface="Calibri" panose="020F0502020204030204" pitchFamily="34" charset="0"/>
                <a:ea typeface="Calibri" panose="020F0502020204030204" pitchFamily="34" charset="0"/>
                <a:cs typeface="Calibri" panose="020F0502020204030204" pitchFamily="34" charset="0"/>
              </a:rPr>
              <a:t>UNIT-2 -</a:t>
            </a:r>
            <a:r>
              <a:rPr lang="en-IN" sz="2400" b="1" dirty="0"/>
              <a:t>Memory Hierarchy and Classification</a:t>
            </a:r>
            <a:br>
              <a:rPr lang="en-IN" sz="2400" b="1"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IN"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681382FE-EF81-1FDB-1AFA-88AD8AEBA719}"/>
              </a:ext>
            </a:extLst>
          </p:cNvPr>
          <p:cNvSpPr>
            <a:spLocks noGrp="1"/>
          </p:cNvSpPr>
          <p:nvPr>
            <p:ph type="subTitle" idx="1"/>
          </p:nvPr>
        </p:nvSpPr>
        <p:spPr>
          <a:xfrm>
            <a:off x="442451" y="2001867"/>
            <a:ext cx="7718323" cy="4248462"/>
          </a:xfrm>
        </p:spPr>
        <p:txBody>
          <a:bodyPr>
            <a:normAutofit/>
          </a:bodyPr>
          <a:lstStyle/>
          <a:p>
            <a:pPr marL="482600" indent="-457200" algn="just">
              <a:lnSpc>
                <a:spcPct val="150000"/>
              </a:lnSpc>
              <a:buFont typeface="Wingdings" panose="05000000000000000000" pitchFamily="2" charset="2"/>
              <a:buChar char="§"/>
              <a:tabLst>
                <a:tab pos="717550" algn="l"/>
              </a:tabLst>
            </a:pPr>
            <a:r>
              <a:rPr lang="en-IN" sz="2400" dirty="0">
                <a:solidFill>
                  <a:schemeClr val="tx1"/>
                </a:solidFill>
              </a:rPr>
              <a:t>Memory layers from registers to hard disk</a:t>
            </a:r>
          </a:p>
          <a:p>
            <a:pPr marL="482600" indent="-457200" algn="just">
              <a:lnSpc>
                <a:spcPct val="150000"/>
              </a:lnSpc>
              <a:buFont typeface="Wingdings" panose="05000000000000000000" pitchFamily="2" charset="2"/>
              <a:buChar char="§"/>
              <a:tabLst>
                <a:tab pos="717550" algn="l"/>
              </a:tabLst>
            </a:pPr>
            <a:r>
              <a:rPr lang="en-IN" sz="2400" dirty="0">
                <a:solidFill>
                  <a:schemeClr val="tx1"/>
                </a:solidFill>
              </a:rPr>
              <a:t>Volatile vs non-volatile memory; </a:t>
            </a:r>
          </a:p>
          <a:p>
            <a:pPr marL="482600" indent="-457200" algn="just">
              <a:lnSpc>
                <a:spcPct val="150000"/>
              </a:lnSpc>
              <a:buFont typeface="Wingdings" panose="05000000000000000000" pitchFamily="2" charset="2"/>
              <a:buChar char="§"/>
              <a:tabLst>
                <a:tab pos="717550" algn="l"/>
              </a:tabLst>
            </a:pPr>
            <a:r>
              <a:rPr lang="en-IN" sz="2400" dirty="0">
                <a:solidFill>
                  <a:schemeClr val="tx1"/>
                </a:solidFill>
              </a:rPr>
              <a:t>RAM types (SRAM, DRAM) and ROM types (PROM, EPROM, EEPROM). </a:t>
            </a:r>
          </a:p>
          <a:p>
            <a:pPr marL="482600" indent="-457200" algn="just">
              <a:lnSpc>
                <a:spcPct val="150000"/>
              </a:lnSpc>
              <a:buFont typeface="Wingdings" panose="05000000000000000000" pitchFamily="2" charset="2"/>
              <a:buChar char="§"/>
              <a:tabLst>
                <a:tab pos="717550" algn="l"/>
              </a:tabLst>
            </a:pPr>
            <a:r>
              <a:rPr lang="en-IN" sz="2400" dirty="0">
                <a:solidFill>
                  <a:schemeClr val="tx1"/>
                </a:solidFill>
              </a:rPr>
              <a:t>Secondary Storage Ecosystems: Structural mechanics, magnetic storage (HDDs) vs. solid-state technology (SSDs, </a:t>
            </a:r>
            <a:r>
              <a:rPr lang="en-IN" sz="2400" dirty="0" err="1">
                <a:solidFill>
                  <a:schemeClr val="tx1"/>
                </a:solidFill>
              </a:rPr>
              <a:t>NVMe</a:t>
            </a:r>
            <a:r>
              <a:rPr lang="en-IN" sz="2400" dirty="0">
                <a:solidFill>
                  <a:schemeClr val="tx1"/>
                </a:solidFill>
              </a:rPr>
              <a:t>), flash media.</a:t>
            </a:r>
          </a:p>
          <a:p>
            <a:pPr algn="just">
              <a:lnSpc>
                <a:spcPct val="150000"/>
              </a:lnSpc>
              <a:buFont typeface="Wingdings" panose="05000000000000000000" pitchFamily="2" charset="2"/>
              <a:buChar char="§"/>
            </a:pPr>
            <a:endParaRPr lang="en-IN" sz="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8D49D-9D0D-5D38-C01C-CA3E5C884E9C}"/>
              </a:ext>
            </a:extLst>
          </p:cNvPr>
          <p:cNvSpPr>
            <a:spLocks noGrp="1"/>
          </p:cNvSpPr>
          <p:nvPr>
            <p:ph type="ctrTitle"/>
          </p:nvPr>
        </p:nvSpPr>
        <p:spPr>
          <a:xfrm>
            <a:off x="138896" y="1"/>
            <a:ext cx="5833642" cy="914400"/>
          </a:xfrm>
        </p:spPr>
        <p:txBody>
          <a:bodyPr/>
          <a:lstStyle/>
          <a:p>
            <a:r>
              <a:rPr lang="en-IN" sz="2400" b="1" dirty="0"/>
              <a:t>Introduction to Memory and Memory Units</a:t>
            </a:r>
            <a:endParaRPr lang="en-IN" sz="2400" dirty="0"/>
          </a:p>
        </p:txBody>
      </p:sp>
      <p:sp>
        <p:nvSpPr>
          <p:cNvPr id="3" name="Subtitle 2">
            <a:extLst>
              <a:ext uri="{FF2B5EF4-FFF2-40B4-BE49-F238E27FC236}">
                <a16:creationId xmlns:a16="http://schemas.microsoft.com/office/drawing/2014/main" id="{7ECAFD6D-2115-6F02-81F6-F2EE00F6E9FA}"/>
              </a:ext>
            </a:extLst>
          </p:cNvPr>
          <p:cNvSpPr>
            <a:spLocks noGrp="1"/>
          </p:cNvSpPr>
          <p:nvPr>
            <p:ph type="subTitle" idx="1"/>
          </p:nvPr>
        </p:nvSpPr>
        <p:spPr>
          <a:xfrm>
            <a:off x="533400" y="914401"/>
            <a:ext cx="8153400" cy="2372809"/>
          </a:xfrm>
        </p:spPr>
        <p:txBody>
          <a:bodyPr/>
          <a:lstStyle/>
          <a:p>
            <a:pPr marL="173038" indent="-147638" algn="just"/>
            <a:r>
              <a:rPr lang="en-IN" sz="1800" dirty="0">
                <a:solidFill>
                  <a:schemeClr val="tx1"/>
                </a:solidFill>
              </a:rPr>
              <a:t>Memory is an essential component of a computer system, responsible for storing data and instructions needed for processing. It enables the CPU to execute programs efficiently and ensures that the system operates properly. </a:t>
            </a:r>
          </a:p>
          <a:p>
            <a:pPr marL="173038" lvl="0" indent="-147638" algn="just"/>
            <a:r>
              <a:rPr lang="en-IN" sz="1800" b="1" dirty="0">
                <a:solidFill>
                  <a:schemeClr val="tx1"/>
                </a:solidFill>
              </a:rPr>
              <a:t>Memory Cell:</a:t>
            </a:r>
            <a:r>
              <a:rPr lang="en-IN" sz="1800" dirty="0">
                <a:solidFill>
                  <a:schemeClr val="tx1"/>
                </a:solidFill>
              </a:rPr>
              <a:t> The smallest storage unit that holds 1 bit of data. Each address in memory typically refers to a byte.</a:t>
            </a:r>
          </a:p>
          <a:p>
            <a:pPr lvl="0" algn="just"/>
            <a:r>
              <a:rPr lang="en-IN" sz="1800" b="1" dirty="0">
                <a:solidFill>
                  <a:schemeClr val="tx1"/>
                </a:solidFill>
              </a:rPr>
              <a:t>Word &amp; Byte:</a:t>
            </a:r>
            <a:r>
              <a:rPr lang="en-IN" sz="1800" dirty="0">
                <a:solidFill>
                  <a:schemeClr val="tx1"/>
                </a:solidFill>
              </a:rPr>
              <a:t> A word is a group of bits; 1 byte = 8 bits.</a:t>
            </a:r>
          </a:p>
          <a:p>
            <a:pPr lvl="0" algn="just"/>
            <a:r>
              <a:rPr lang="en-IN" sz="1800" b="1" dirty="0">
                <a:solidFill>
                  <a:schemeClr val="tx1"/>
                </a:solidFill>
              </a:rPr>
              <a:t>Capacity</a:t>
            </a:r>
            <a:r>
              <a:rPr lang="en-IN" sz="1800" dirty="0">
                <a:solidFill>
                  <a:schemeClr val="tx1"/>
                </a:solidFill>
              </a:rPr>
              <a:t>: Total number of bits a memory can hold.</a:t>
            </a:r>
          </a:p>
          <a:p>
            <a:pPr algn="just"/>
            <a:endParaRPr lang="en-IN" sz="1800" dirty="0">
              <a:solidFill>
                <a:schemeClr val="tx1"/>
              </a:solidFill>
            </a:endParaRPr>
          </a:p>
        </p:txBody>
      </p:sp>
      <p:pic>
        <p:nvPicPr>
          <p:cNvPr id="5" name="Picture 4">
            <a:extLst>
              <a:ext uri="{FF2B5EF4-FFF2-40B4-BE49-F238E27FC236}">
                <a16:creationId xmlns:a16="http://schemas.microsoft.com/office/drawing/2014/main" id="{EF06FA08-255A-7BB8-F839-E1E4AC17008C}"/>
              </a:ext>
            </a:extLst>
          </p:cNvPr>
          <p:cNvPicPr>
            <a:picLocks noChangeAspect="1"/>
          </p:cNvPicPr>
          <p:nvPr/>
        </p:nvPicPr>
        <p:blipFill>
          <a:blip r:embed="rId2"/>
          <a:stretch>
            <a:fillRect/>
          </a:stretch>
        </p:blipFill>
        <p:spPr>
          <a:xfrm>
            <a:off x="1990845" y="3287210"/>
            <a:ext cx="6006296" cy="3003148"/>
          </a:xfrm>
          <a:prstGeom prst="rect">
            <a:avLst/>
          </a:prstGeom>
        </p:spPr>
      </p:pic>
    </p:spTree>
    <p:extLst>
      <p:ext uri="{BB962C8B-B14F-4D97-AF65-F5344CB8AC3E}">
        <p14:creationId xmlns:p14="http://schemas.microsoft.com/office/powerpoint/2010/main" val="256841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6B4C3-A141-9E12-42ED-4D7DDD434C0C}"/>
              </a:ext>
            </a:extLst>
          </p:cNvPr>
          <p:cNvSpPr>
            <a:spLocks noGrp="1"/>
          </p:cNvSpPr>
          <p:nvPr>
            <p:ph type="ctrTitle"/>
          </p:nvPr>
        </p:nvSpPr>
        <p:spPr/>
        <p:txBody>
          <a:bodyPr/>
          <a:lstStyle/>
          <a:p>
            <a:r>
              <a:rPr lang="en-IN" b="1" dirty="0"/>
              <a:t>Memory Unit</a:t>
            </a:r>
            <a:endParaRPr lang="en-IN" dirty="0"/>
          </a:p>
        </p:txBody>
      </p:sp>
      <p:sp>
        <p:nvSpPr>
          <p:cNvPr id="5" name="TextBox 4">
            <a:extLst>
              <a:ext uri="{FF2B5EF4-FFF2-40B4-BE49-F238E27FC236}">
                <a16:creationId xmlns:a16="http://schemas.microsoft.com/office/drawing/2014/main" id="{2533705C-615F-2635-C8F2-7DE4C9CAE071}"/>
              </a:ext>
            </a:extLst>
          </p:cNvPr>
          <p:cNvSpPr txBox="1"/>
          <p:nvPr/>
        </p:nvSpPr>
        <p:spPr>
          <a:xfrm>
            <a:off x="601883" y="1065670"/>
            <a:ext cx="7940233" cy="4031873"/>
          </a:xfrm>
          <a:prstGeom prst="rect">
            <a:avLst/>
          </a:prstGeom>
          <a:noFill/>
        </p:spPr>
        <p:txBody>
          <a:bodyPr wrap="square">
            <a:spAutoFit/>
          </a:bodyPr>
          <a:lstStyle/>
          <a:p>
            <a:pPr algn="just" rtl="0">
              <a:spcBef>
                <a:spcPts val="600"/>
              </a:spcBef>
              <a:spcAft>
                <a:spcPts val="600"/>
              </a:spcAft>
              <a:buNone/>
            </a:pPr>
            <a:r>
              <a:rPr lang="en-IN" sz="1800" dirty="0"/>
              <a:t>A memory unit is a standard unit used to measure the amount of data that can be stored, processed, or transferred in a computer system. It represents the storage capacity of memory and storage devices.</a:t>
            </a:r>
          </a:p>
          <a:p>
            <a:pPr marL="342900" lvl="0" indent="-342900" algn="just">
              <a:spcBef>
                <a:spcPts val="600"/>
              </a:spcBef>
              <a:spcAft>
                <a:spcPts val="600"/>
              </a:spcAft>
              <a:buFont typeface="Arial" panose="020B0604020202020204" pitchFamily="34" charset="0"/>
              <a:buChar char="•"/>
            </a:pPr>
            <a:r>
              <a:rPr lang="en-IN" sz="1800" dirty="0"/>
              <a:t>The smallest memory unit is a Bit (0 or 1) and larger units are KB, MB, GB, TB, PB, EB, ZB, and YB. </a:t>
            </a:r>
          </a:p>
          <a:p>
            <a:pPr marL="342900" lvl="0" indent="-342900" algn="just">
              <a:spcBef>
                <a:spcPts val="600"/>
              </a:spcBef>
              <a:spcAft>
                <a:spcPts val="600"/>
              </a:spcAft>
              <a:buFont typeface="Arial" panose="020B0604020202020204" pitchFamily="34" charset="0"/>
              <a:buChar char="•"/>
            </a:pPr>
            <a:r>
              <a:rPr lang="en-IN" sz="1800" dirty="0"/>
              <a:t>A </a:t>
            </a:r>
            <a:r>
              <a:rPr lang="en-IN" sz="1800" b="1" dirty="0"/>
              <a:t>Byte is the basic unit of storage </a:t>
            </a:r>
            <a:r>
              <a:rPr lang="en-IN" sz="1800" dirty="0"/>
              <a:t>and equals 8 bits. </a:t>
            </a:r>
          </a:p>
          <a:p>
            <a:pPr marL="342900" lvl="0" indent="-342900" algn="just">
              <a:spcBef>
                <a:spcPts val="600"/>
              </a:spcBef>
              <a:spcAft>
                <a:spcPts val="600"/>
              </a:spcAft>
              <a:buFont typeface="Arial" panose="020B0604020202020204" pitchFamily="34" charset="0"/>
              <a:buChar char="•"/>
            </a:pPr>
            <a:r>
              <a:rPr lang="en-IN" sz="1800" dirty="0"/>
              <a:t>Memory units are used to measure file sizes, RAM capacity, and storage device capacity. </a:t>
            </a:r>
          </a:p>
          <a:p>
            <a:pPr marL="342900" lvl="0" indent="-342900" algn="just">
              <a:buFont typeface="Arial" panose="020B0604020202020204" pitchFamily="34" charset="0"/>
              <a:buChar char="•"/>
            </a:pPr>
            <a:r>
              <a:rPr lang="en-IN" sz="1800" dirty="0"/>
              <a:t>Computers use the binary number system, so memory units are typically based on powers of 2 (1024). </a:t>
            </a:r>
          </a:p>
          <a:p>
            <a:pPr marL="342900" lvl="0" indent="-342900" algn="just">
              <a:spcBef>
                <a:spcPts val="600"/>
              </a:spcBef>
              <a:spcAft>
                <a:spcPts val="600"/>
              </a:spcAft>
              <a:buFont typeface="Arial" panose="020B0604020202020204" pitchFamily="34" charset="0"/>
              <a:buChar char="•"/>
            </a:pPr>
            <a:r>
              <a:rPr lang="en-IN" sz="1800" b="1" dirty="0"/>
              <a:t>Example:</a:t>
            </a:r>
            <a:r>
              <a:rPr lang="en-IN" sz="1800" dirty="0"/>
              <a:t> A computer with 8 GB RAM can store approximately 8 gigabytes of data in its main memory.</a:t>
            </a:r>
          </a:p>
        </p:txBody>
      </p:sp>
    </p:spTree>
    <p:extLst>
      <p:ext uri="{BB962C8B-B14F-4D97-AF65-F5344CB8AC3E}">
        <p14:creationId xmlns:p14="http://schemas.microsoft.com/office/powerpoint/2010/main" val="1168813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Google Shape;59;p13"/>
          <p:cNvSpPr txBox="1">
            <a:spLocks/>
          </p:cNvSpPr>
          <p:nvPr/>
        </p:nvSpPr>
        <p:spPr>
          <a:xfrm>
            <a:off x="-1" y="0"/>
            <a:ext cx="6782765" cy="9144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pPr algn="l"/>
            <a:r>
              <a:rPr lang="en-IN" sz="2800" b="1" dirty="0"/>
              <a:t>Memory layers from registers to hard disk</a:t>
            </a:r>
            <a:endParaRPr lang="en-IN" sz="2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6AEF1A9C-7B09-DB15-4A9D-B7EA844BCE45}"/>
              </a:ext>
            </a:extLst>
          </p:cNvPr>
          <p:cNvPicPr>
            <a:picLocks noChangeAspect="1"/>
          </p:cNvPicPr>
          <p:nvPr/>
        </p:nvPicPr>
        <p:blipFill>
          <a:blip r:embed="rId2"/>
          <a:stretch>
            <a:fillRect/>
          </a:stretch>
        </p:blipFill>
        <p:spPr>
          <a:xfrm>
            <a:off x="40512" y="1524000"/>
            <a:ext cx="9103488" cy="4551744"/>
          </a:xfrm>
          <a:prstGeom prst="rect">
            <a:avLst/>
          </a:prstGeom>
        </p:spPr>
      </p:pic>
    </p:spTree>
    <p:extLst>
      <p:ext uri="{BB962C8B-B14F-4D97-AF65-F5344CB8AC3E}">
        <p14:creationId xmlns:p14="http://schemas.microsoft.com/office/powerpoint/2010/main" val="2585975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A71D4-6FC3-D9C7-FF1F-807CEBD78DFF}"/>
              </a:ext>
            </a:extLst>
          </p:cNvPr>
          <p:cNvSpPr>
            <a:spLocks noGrp="1"/>
          </p:cNvSpPr>
          <p:nvPr>
            <p:ph type="ctrTitle"/>
          </p:nvPr>
        </p:nvSpPr>
        <p:spPr>
          <a:xfrm>
            <a:off x="0" y="1"/>
            <a:ext cx="6713316" cy="914400"/>
          </a:xfrm>
        </p:spPr>
        <p:txBody>
          <a:bodyPr/>
          <a:lstStyle/>
          <a:p>
            <a:r>
              <a:rPr lang="en-IN" b="1" dirty="0">
                <a:latin typeface="Calibri" panose="020F0502020204030204" pitchFamily="34" charset="0"/>
                <a:ea typeface="Calibri" panose="020F0502020204030204" pitchFamily="34" charset="0"/>
                <a:cs typeface="Calibri" panose="020F0502020204030204" pitchFamily="34" charset="0"/>
              </a:rPr>
              <a:t>Volatile and Non-Volatile Memory</a:t>
            </a:r>
            <a:endParaRPr lang="en-IN"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DF18BAD1-3104-99E0-1537-32F677BFF75D}"/>
              </a:ext>
            </a:extLst>
          </p:cNvPr>
          <p:cNvGraphicFramePr>
            <a:graphicFrameLocks noGrp="1"/>
          </p:cNvGraphicFramePr>
          <p:nvPr>
            <p:extLst>
              <p:ext uri="{D42A27DB-BD31-4B8C-83A1-F6EECF244321}">
                <p14:modId xmlns:p14="http://schemas.microsoft.com/office/powerpoint/2010/main" val="4006199930"/>
              </p:ext>
            </p:extLst>
          </p:nvPr>
        </p:nvGraphicFramePr>
        <p:xfrm>
          <a:off x="457200" y="1144933"/>
          <a:ext cx="8374284" cy="2651760"/>
        </p:xfrm>
        <a:graphic>
          <a:graphicData uri="http://schemas.openxmlformats.org/drawingml/2006/table">
            <a:tbl>
              <a:tblPr>
                <a:tableStyleId>{69C7853C-536D-4A76-A0AE-DD22124D55A5}</a:tableStyleId>
              </a:tblPr>
              <a:tblGrid>
                <a:gridCol w="4187142">
                  <a:extLst>
                    <a:ext uri="{9D8B030D-6E8A-4147-A177-3AD203B41FA5}">
                      <a16:colId xmlns:a16="http://schemas.microsoft.com/office/drawing/2014/main" val="1687258743"/>
                    </a:ext>
                  </a:extLst>
                </a:gridCol>
                <a:gridCol w="4187142">
                  <a:extLst>
                    <a:ext uri="{9D8B030D-6E8A-4147-A177-3AD203B41FA5}">
                      <a16:colId xmlns:a16="http://schemas.microsoft.com/office/drawing/2014/main" val="3065901791"/>
                    </a:ext>
                  </a:extLst>
                </a:gridCol>
              </a:tblGrid>
              <a:tr h="0">
                <a:tc>
                  <a:txBody>
                    <a:bodyPr/>
                    <a:lstStyle/>
                    <a:p>
                      <a:pPr>
                        <a:buNone/>
                      </a:pPr>
                      <a:r>
                        <a:rPr lang="en-IN" sz="1600" b="1" dirty="0"/>
                        <a:t>Volatile Memory</a:t>
                      </a:r>
                    </a:p>
                  </a:txBody>
                  <a:tcPr anchor="ctr"/>
                </a:tc>
                <a:tc>
                  <a:txBody>
                    <a:bodyPr/>
                    <a:lstStyle/>
                    <a:p>
                      <a:pPr>
                        <a:buNone/>
                      </a:pPr>
                      <a:r>
                        <a:rPr lang="en-IN" sz="1600" b="1" dirty="0"/>
                        <a:t>Non-Volatile Memory</a:t>
                      </a:r>
                    </a:p>
                  </a:txBody>
                  <a:tcPr anchor="ctr"/>
                </a:tc>
                <a:extLst>
                  <a:ext uri="{0D108BD9-81ED-4DB2-BD59-A6C34878D82A}">
                    <a16:rowId xmlns:a16="http://schemas.microsoft.com/office/drawing/2014/main" val="1614067295"/>
                  </a:ext>
                </a:extLst>
              </a:tr>
              <a:tr h="0">
                <a:tc>
                  <a:txBody>
                    <a:bodyPr/>
                    <a:lstStyle/>
                    <a:p>
                      <a:pPr>
                        <a:buNone/>
                      </a:pPr>
                      <a:r>
                        <a:rPr lang="en-IN" sz="1600" u="none" dirty="0"/>
                        <a:t>Volatile memory </a:t>
                      </a:r>
                      <a:r>
                        <a:rPr lang="en-IN" sz="1600" dirty="0"/>
                        <a:t>is the type of memory in which data is lost as it is powered-off.</a:t>
                      </a:r>
                    </a:p>
                  </a:txBody>
                  <a:tcPr anchor="ctr"/>
                </a:tc>
                <a:tc>
                  <a:txBody>
                    <a:bodyPr/>
                    <a:lstStyle/>
                    <a:p>
                      <a:pPr>
                        <a:buNone/>
                      </a:pPr>
                      <a:r>
                        <a:rPr lang="en-IN" sz="1600" dirty="0"/>
                        <a:t>Non-volatile memory is the type of memory in which data remains stored even if it is powered-off.</a:t>
                      </a:r>
                    </a:p>
                  </a:txBody>
                  <a:tcPr anchor="ctr"/>
                </a:tc>
                <a:extLst>
                  <a:ext uri="{0D108BD9-81ED-4DB2-BD59-A6C34878D82A}">
                    <a16:rowId xmlns:a16="http://schemas.microsoft.com/office/drawing/2014/main" val="124488748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t>In volatile memory, the processor has direct access to data.</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600" dirty="0"/>
                        <a:t>In non-volatile memory, processor has no direct access to data.</a:t>
                      </a:r>
                    </a:p>
                  </a:txBody>
                  <a:tcPr anchor="ctr"/>
                </a:tc>
                <a:extLst>
                  <a:ext uri="{0D108BD9-81ED-4DB2-BD59-A6C34878D82A}">
                    <a16:rowId xmlns:a16="http://schemas.microsoft.com/office/drawing/2014/main" val="2256879413"/>
                  </a:ext>
                </a:extLst>
              </a:tr>
              <a:tr h="0">
                <a:tc>
                  <a:txBody>
                    <a:bodyPr/>
                    <a:lstStyle/>
                    <a:p>
                      <a:pPr>
                        <a:buNone/>
                      </a:pPr>
                      <a:r>
                        <a:rPr lang="en-IN" sz="1600" dirty="0"/>
                        <a:t>It is </a:t>
                      </a:r>
                      <a:r>
                        <a:rPr lang="en-IN" sz="1600" b="1" i="1" dirty="0"/>
                        <a:t>faster</a:t>
                      </a:r>
                      <a:r>
                        <a:rPr lang="en-IN" sz="1600" dirty="0"/>
                        <a:t> than non-volatile memory.</a:t>
                      </a:r>
                    </a:p>
                  </a:txBody>
                  <a:tcPr anchor="ctr"/>
                </a:tc>
                <a:tc>
                  <a:txBody>
                    <a:bodyPr/>
                    <a:lstStyle/>
                    <a:p>
                      <a:pPr>
                        <a:buNone/>
                      </a:pPr>
                      <a:r>
                        <a:rPr lang="en-IN" sz="1600" dirty="0"/>
                        <a:t>It is slower than volatile memory.</a:t>
                      </a:r>
                    </a:p>
                  </a:txBody>
                  <a:tcPr anchor="ctr"/>
                </a:tc>
                <a:extLst>
                  <a:ext uri="{0D108BD9-81ED-4DB2-BD59-A6C34878D82A}">
                    <a16:rowId xmlns:a16="http://schemas.microsoft.com/office/drawing/2014/main" val="3778367188"/>
                  </a:ext>
                </a:extLst>
              </a:tr>
              <a:tr h="0">
                <a:tc>
                  <a:txBody>
                    <a:bodyPr/>
                    <a:lstStyle/>
                    <a:p>
                      <a:pPr>
                        <a:buNone/>
                      </a:pPr>
                      <a:r>
                        <a:rPr lang="en-IN" sz="1600" b="1" dirty="0"/>
                        <a:t>RAM(Random Access Memory)</a:t>
                      </a:r>
                      <a:r>
                        <a:rPr lang="en-IN" sz="1600" dirty="0"/>
                        <a:t> is an example of volatile memory.</a:t>
                      </a:r>
                    </a:p>
                  </a:txBody>
                  <a:tcPr anchor="ctr"/>
                </a:tc>
                <a:tc>
                  <a:txBody>
                    <a:bodyPr/>
                    <a:lstStyle/>
                    <a:p>
                      <a:pPr>
                        <a:buNone/>
                      </a:pPr>
                      <a:r>
                        <a:rPr lang="en-IN" sz="1600" b="1" dirty="0"/>
                        <a:t>ROM(Read Only Memory)</a:t>
                      </a:r>
                      <a:r>
                        <a:rPr lang="en-IN" sz="1600" dirty="0"/>
                        <a:t> is an example of non-volatile memory.</a:t>
                      </a:r>
                    </a:p>
                  </a:txBody>
                  <a:tcPr anchor="ctr"/>
                </a:tc>
                <a:extLst>
                  <a:ext uri="{0D108BD9-81ED-4DB2-BD59-A6C34878D82A}">
                    <a16:rowId xmlns:a16="http://schemas.microsoft.com/office/drawing/2014/main" val="2963841266"/>
                  </a:ext>
                </a:extLst>
              </a:tr>
            </a:tbl>
          </a:graphicData>
        </a:graphic>
      </p:graphicFrame>
      <p:graphicFrame>
        <p:nvGraphicFramePr>
          <p:cNvPr id="7" name="Table 6">
            <a:extLst>
              <a:ext uri="{FF2B5EF4-FFF2-40B4-BE49-F238E27FC236}">
                <a16:creationId xmlns:a16="http://schemas.microsoft.com/office/drawing/2014/main" id="{3E8B6C61-B470-3843-B245-CE40AF0B0881}"/>
              </a:ext>
            </a:extLst>
          </p:cNvPr>
          <p:cNvGraphicFramePr>
            <a:graphicFrameLocks noGrp="1"/>
          </p:cNvGraphicFramePr>
          <p:nvPr>
            <p:extLst>
              <p:ext uri="{D42A27DB-BD31-4B8C-83A1-F6EECF244321}">
                <p14:modId xmlns:p14="http://schemas.microsoft.com/office/powerpoint/2010/main" val="3853014566"/>
              </p:ext>
            </p:extLst>
          </p:nvPr>
        </p:nvGraphicFramePr>
        <p:xfrm>
          <a:off x="457200" y="3796693"/>
          <a:ext cx="8374284" cy="2560320"/>
        </p:xfrm>
        <a:graphic>
          <a:graphicData uri="http://schemas.openxmlformats.org/drawingml/2006/table">
            <a:tbl>
              <a:tblPr>
                <a:tableStyleId>{69C7853C-536D-4A76-A0AE-DD22124D55A5}</a:tableStyleId>
              </a:tblPr>
              <a:tblGrid>
                <a:gridCol w="4187142">
                  <a:extLst>
                    <a:ext uri="{9D8B030D-6E8A-4147-A177-3AD203B41FA5}">
                      <a16:colId xmlns:a16="http://schemas.microsoft.com/office/drawing/2014/main" val="949554955"/>
                    </a:ext>
                  </a:extLst>
                </a:gridCol>
                <a:gridCol w="4187142">
                  <a:extLst>
                    <a:ext uri="{9D8B030D-6E8A-4147-A177-3AD203B41FA5}">
                      <a16:colId xmlns:a16="http://schemas.microsoft.com/office/drawing/2014/main" val="3840871769"/>
                    </a:ext>
                  </a:extLst>
                </a:gridCol>
              </a:tblGrid>
              <a:tr h="0">
                <a:tc>
                  <a:txBody>
                    <a:bodyPr/>
                    <a:lstStyle/>
                    <a:p>
                      <a:pPr>
                        <a:buNone/>
                      </a:pPr>
                      <a:r>
                        <a:rPr lang="en-IN" sz="1600" dirty="0"/>
                        <a:t>Volatile memory generally has </a:t>
                      </a:r>
                      <a:r>
                        <a:rPr lang="en-IN" sz="1600" b="1" i="1" dirty="0"/>
                        <a:t>less storage capacity.</a:t>
                      </a:r>
                    </a:p>
                  </a:txBody>
                  <a:tcPr anchor="ctr"/>
                </a:tc>
                <a:tc>
                  <a:txBody>
                    <a:bodyPr/>
                    <a:lstStyle/>
                    <a:p>
                      <a:pPr>
                        <a:buNone/>
                      </a:pPr>
                      <a:r>
                        <a:rPr lang="en-IN" sz="1600" dirty="0"/>
                        <a:t>Non-volatile memory generally has more storage capacity than volatile memory.</a:t>
                      </a:r>
                    </a:p>
                  </a:txBody>
                  <a:tcPr anchor="ctr"/>
                </a:tc>
                <a:extLst>
                  <a:ext uri="{0D108BD9-81ED-4DB2-BD59-A6C34878D82A}">
                    <a16:rowId xmlns:a16="http://schemas.microsoft.com/office/drawing/2014/main" val="402617930"/>
                  </a:ext>
                </a:extLst>
              </a:tr>
              <a:tr h="0">
                <a:tc>
                  <a:txBody>
                    <a:bodyPr/>
                    <a:lstStyle/>
                    <a:p>
                      <a:pPr>
                        <a:buNone/>
                      </a:pPr>
                      <a:r>
                        <a:rPr lang="en-IN" sz="1600" dirty="0"/>
                        <a:t>In volatile memory, the program's data are stored which are currently in process by the CPU.</a:t>
                      </a:r>
                    </a:p>
                  </a:txBody>
                  <a:tcPr anchor="ctr"/>
                </a:tc>
                <a:tc>
                  <a:txBody>
                    <a:bodyPr/>
                    <a:lstStyle/>
                    <a:p>
                      <a:pPr>
                        <a:buNone/>
                      </a:pPr>
                      <a:r>
                        <a:rPr lang="en-IN" sz="1600" dirty="0"/>
                        <a:t>In non-volatile memory, any kind of data which has to be saved permanently are stored.</a:t>
                      </a:r>
                    </a:p>
                  </a:txBody>
                  <a:tcPr anchor="ctr"/>
                </a:tc>
                <a:extLst>
                  <a:ext uri="{0D108BD9-81ED-4DB2-BD59-A6C34878D82A}">
                    <a16:rowId xmlns:a16="http://schemas.microsoft.com/office/drawing/2014/main" val="2839224225"/>
                  </a:ext>
                </a:extLst>
              </a:tr>
              <a:tr h="0">
                <a:tc>
                  <a:txBody>
                    <a:bodyPr/>
                    <a:lstStyle/>
                    <a:p>
                      <a:pPr>
                        <a:buNone/>
                      </a:pPr>
                      <a:r>
                        <a:rPr lang="en-IN" sz="1600" dirty="0"/>
                        <a:t>Volatile memory is </a:t>
                      </a:r>
                      <a:r>
                        <a:rPr lang="en-IN" sz="1600" b="1" i="1" dirty="0"/>
                        <a:t>more costly </a:t>
                      </a:r>
                      <a:r>
                        <a:rPr lang="en-IN" sz="1600" dirty="0"/>
                        <a:t>per unit size.</a:t>
                      </a:r>
                    </a:p>
                  </a:txBody>
                  <a:tcPr anchor="ctr"/>
                </a:tc>
                <a:tc>
                  <a:txBody>
                    <a:bodyPr/>
                    <a:lstStyle/>
                    <a:p>
                      <a:pPr>
                        <a:buNone/>
                      </a:pPr>
                      <a:r>
                        <a:rPr lang="en-IN" sz="1600"/>
                        <a:t>Non-volatile memory is less costly per unit size.</a:t>
                      </a:r>
                    </a:p>
                  </a:txBody>
                  <a:tcPr anchor="ctr"/>
                </a:tc>
                <a:extLst>
                  <a:ext uri="{0D108BD9-81ED-4DB2-BD59-A6C34878D82A}">
                    <a16:rowId xmlns:a16="http://schemas.microsoft.com/office/drawing/2014/main" val="1070385800"/>
                  </a:ext>
                </a:extLst>
              </a:tr>
              <a:tr h="0">
                <a:tc>
                  <a:txBody>
                    <a:bodyPr/>
                    <a:lstStyle/>
                    <a:p>
                      <a:pPr>
                        <a:buNone/>
                      </a:pPr>
                      <a:r>
                        <a:rPr lang="en-IN" sz="1600" dirty="0"/>
                        <a:t>Volatile memory has a huge impact on the </a:t>
                      </a:r>
                      <a:r>
                        <a:rPr lang="en-IN" sz="1600" b="1" i="1" dirty="0"/>
                        <a:t>system’s performance</a:t>
                      </a:r>
                      <a:r>
                        <a:rPr lang="en-IN" sz="1600" dirty="0"/>
                        <a:t>.</a:t>
                      </a:r>
                    </a:p>
                  </a:txBody>
                  <a:tcPr anchor="ctr"/>
                </a:tc>
                <a:tc>
                  <a:txBody>
                    <a:bodyPr/>
                    <a:lstStyle/>
                    <a:p>
                      <a:pPr>
                        <a:buNone/>
                      </a:pPr>
                      <a:r>
                        <a:rPr lang="en-IN" sz="1600" dirty="0"/>
                        <a:t>Non-volatile memory has a huge impact on a system’s storage capacity.</a:t>
                      </a:r>
                    </a:p>
                  </a:txBody>
                  <a:tcPr anchor="ctr"/>
                </a:tc>
                <a:extLst>
                  <a:ext uri="{0D108BD9-81ED-4DB2-BD59-A6C34878D82A}">
                    <a16:rowId xmlns:a16="http://schemas.microsoft.com/office/drawing/2014/main" val="2359750592"/>
                  </a:ext>
                </a:extLst>
              </a:tr>
            </a:tbl>
          </a:graphicData>
        </a:graphic>
      </p:graphicFrame>
      <p:sp>
        <p:nvSpPr>
          <p:cNvPr id="8" name="TextBox 7">
            <a:extLst>
              <a:ext uri="{FF2B5EF4-FFF2-40B4-BE49-F238E27FC236}">
                <a16:creationId xmlns:a16="http://schemas.microsoft.com/office/drawing/2014/main" id="{93B9047F-5C6B-973C-2181-1089874D6223}"/>
              </a:ext>
            </a:extLst>
          </p:cNvPr>
          <p:cNvSpPr txBox="1"/>
          <p:nvPr/>
        </p:nvSpPr>
        <p:spPr>
          <a:xfrm>
            <a:off x="457200" y="775601"/>
            <a:ext cx="8229600" cy="369332"/>
          </a:xfrm>
          <a:prstGeom prst="rect">
            <a:avLst/>
          </a:prstGeom>
          <a:noFill/>
        </p:spPr>
        <p:txBody>
          <a:bodyPr wrap="square" rtlCol="0">
            <a:spAutoFit/>
          </a:bodyPr>
          <a:lstStyle/>
          <a:p>
            <a:r>
              <a:rPr lang="en-IN" sz="1800" b="1" dirty="0">
                <a:latin typeface="Calibri" panose="020F0502020204030204" pitchFamily="34" charset="0"/>
                <a:ea typeface="Calibri" panose="020F0502020204030204" pitchFamily="34" charset="0"/>
                <a:cs typeface="Calibri" panose="020F0502020204030204" pitchFamily="34" charset="0"/>
              </a:rPr>
              <a:t>The main memory of a computer is typically categorised as volatile and non-volatile</a:t>
            </a:r>
          </a:p>
        </p:txBody>
      </p:sp>
    </p:spTree>
    <p:extLst>
      <p:ext uri="{BB962C8B-B14F-4D97-AF65-F5344CB8AC3E}">
        <p14:creationId xmlns:p14="http://schemas.microsoft.com/office/powerpoint/2010/main" val="1345867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CFE691B-945A-30A4-95F5-2066332827C1}"/>
              </a:ext>
            </a:extLst>
          </p:cNvPr>
          <p:cNvSpPr>
            <a:spLocks noGrp="1"/>
          </p:cNvSpPr>
          <p:nvPr>
            <p:ph type="subTitle" idx="1"/>
          </p:nvPr>
        </p:nvSpPr>
        <p:spPr>
          <a:xfrm>
            <a:off x="587898" y="914399"/>
            <a:ext cx="8153400" cy="3541854"/>
          </a:xfrm>
        </p:spPr>
        <p:txBody>
          <a:bodyPr/>
          <a:lstStyle/>
          <a:p>
            <a:pPr algn="just">
              <a:spcBef>
                <a:spcPts val="1200"/>
              </a:spcBef>
              <a:spcAft>
                <a:spcPts val="1200"/>
              </a:spcAft>
            </a:pPr>
            <a:r>
              <a:rPr lang="en-IN" sz="1800" b="1" dirty="0">
                <a:solidFill>
                  <a:schemeClr val="tx1"/>
                </a:solidFill>
              </a:rPr>
              <a:t>Main Memory (Volatile) </a:t>
            </a:r>
            <a:r>
              <a:rPr lang="en-IN" sz="1800" dirty="0">
                <a:solidFill>
                  <a:schemeClr val="tx1"/>
                </a:solidFill>
              </a:rPr>
              <a:t>The memory unit that communicates directly within the CPU, Cache memory is called main memory. It is fast memory used to store data during computer operations. Main memory is made up of </a:t>
            </a:r>
            <a:r>
              <a:rPr lang="en-IN" sz="1800" b="1" dirty="0">
                <a:solidFill>
                  <a:schemeClr val="tx1"/>
                </a:solidFill>
              </a:rPr>
              <a:t>RAM</a:t>
            </a:r>
            <a:r>
              <a:rPr lang="en-IN" sz="1800" dirty="0">
                <a:solidFill>
                  <a:schemeClr val="tx1"/>
                </a:solidFill>
              </a:rPr>
              <a:t> and </a:t>
            </a:r>
            <a:r>
              <a:rPr lang="en-IN" sz="1800" b="1" dirty="0">
                <a:solidFill>
                  <a:schemeClr val="tx1"/>
                </a:solidFill>
              </a:rPr>
              <a:t>ROM</a:t>
            </a:r>
            <a:r>
              <a:rPr lang="en-IN" sz="1800" dirty="0">
                <a:solidFill>
                  <a:schemeClr val="tx1"/>
                </a:solidFill>
              </a:rPr>
              <a:t>, majority part consists of RAM.</a:t>
            </a:r>
          </a:p>
          <a:p>
            <a:pPr marL="25400" indent="0" algn="just">
              <a:spcBef>
                <a:spcPts val="1200"/>
              </a:spcBef>
              <a:spcAft>
                <a:spcPts val="1200"/>
              </a:spcAft>
            </a:pPr>
            <a:r>
              <a:rPr lang="en-IN" sz="1800" b="1" dirty="0">
                <a:solidFill>
                  <a:schemeClr val="tx1"/>
                </a:solidFill>
              </a:rPr>
              <a:t>RAM Random Access Memory</a:t>
            </a:r>
            <a:r>
              <a:rPr lang="en-IN" sz="1800" dirty="0">
                <a:solidFill>
                  <a:schemeClr val="tx1"/>
                </a:solidFill>
              </a:rPr>
              <a:t> </a:t>
            </a:r>
          </a:p>
          <a:p>
            <a:pPr algn="just">
              <a:spcBef>
                <a:spcPts val="1200"/>
              </a:spcBef>
              <a:spcAft>
                <a:spcPts val="1200"/>
              </a:spcAft>
              <a:buFont typeface="Wingdings" panose="05000000000000000000" pitchFamily="2" charset="2"/>
              <a:buChar char="§"/>
            </a:pPr>
            <a:r>
              <a:rPr lang="en-IN" sz="1800" b="1" dirty="0">
                <a:solidFill>
                  <a:schemeClr val="tx1"/>
                </a:solidFill>
              </a:rPr>
              <a:t>DRAM</a:t>
            </a:r>
            <a:r>
              <a:rPr lang="en-IN" sz="1800" dirty="0">
                <a:solidFill>
                  <a:schemeClr val="tx1"/>
                </a:solidFill>
              </a:rPr>
              <a:t>: Dynamic RAM, is made of capacitors. It is slower and cheaper than SRAM.</a:t>
            </a:r>
          </a:p>
          <a:p>
            <a:pPr lvl="0" algn="just">
              <a:spcBef>
                <a:spcPts val="1200"/>
              </a:spcBef>
              <a:spcAft>
                <a:spcPts val="1200"/>
              </a:spcAft>
              <a:buFont typeface="Wingdings" panose="05000000000000000000" pitchFamily="2" charset="2"/>
              <a:buChar char="§"/>
            </a:pPr>
            <a:r>
              <a:rPr lang="en-IN" sz="1800" b="1" dirty="0">
                <a:solidFill>
                  <a:schemeClr val="tx1"/>
                </a:solidFill>
              </a:rPr>
              <a:t>SRAM</a:t>
            </a:r>
            <a:r>
              <a:rPr lang="en-IN" sz="1800" dirty="0">
                <a:solidFill>
                  <a:schemeClr val="tx1"/>
                </a:solidFill>
              </a:rPr>
              <a:t>: Static RAM, is made of flip-flop that consists of transistors, costly than DRAM but fast.</a:t>
            </a:r>
          </a:p>
          <a:p>
            <a:pPr algn="just">
              <a:spcBef>
                <a:spcPts val="1200"/>
              </a:spcBef>
              <a:spcAft>
                <a:spcPts val="1200"/>
              </a:spcAft>
            </a:pPr>
            <a:endParaRPr lang="en-IN" sz="1800" dirty="0">
              <a:solidFill>
                <a:schemeClr val="tx1"/>
              </a:solidFill>
            </a:endParaRPr>
          </a:p>
        </p:txBody>
      </p:sp>
    </p:spTree>
    <p:extLst>
      <p:ext uri="{BB962C8B-B14F-4D97-AF65-F5344CB8AC3E}">
        <p14:creationId xmlns:p14="http://schemas.microsoft.com/office/powerpoint/2010/main" val="202416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5"/>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640"/>
              </a:spcBef>
              <a:spcAft>
                <a:spcPts val="0"/>
              </a:spcAft>
              <a:buSzPts val="1400"/>
              <a:buNone/>
            </a:pPr>
            <a:r>
              <a:rPr lang="en-US" sz="2400" b="1">
                <a:latin typeface="Times New Roman"/>
                <a:ea typeface="Times New Roman"/>
                <a:cs typeface="Times New Roman"/>
                <a:sym typeface="Times New Roman"/>
              </a:rPr>
              <a:t>SRAM (Static RAM)</a:t>
            </a:r>
            <a:endParaRPr sz="2400" b="1">
              <a:latin typeface="Times New Roman"/>
              <a:ea typeface="Times New Roman"/>
              <a:cs typeface="Times New Roman"/>
              <a:sym typeface="Times New Roman"/>
            </a:endParaRPr>
          </a:p>
          <a:p>
            <a:pPr marL="0" lvl="0" indent="0" algn="ctr" rtl="0">
              <a:lnSpc>
                <a:spcPct val="100000"/>
              </a:lnSpc>
              <a:spcBef>
                <a:spcPts val="0"/>
              </a:spcBef>
              <a:spcAft>
                <a:spcPts val="0"/>
              </a:spcAft>
              <a:buSzPts val="1400"/>
              <a:buNone/>
            </a:pPr>
            <a:endParaRPr b="1"/>
          </a:p>
        </p:txBody>
      </p:sp>
      <p:sp>
        <p:nvSpPr>
          <p:cNvPr id="138" name="Google Shape;138;p15"/>
          <p:cNvSpPr txBox="1">
            <a:spLocks noGrp="1"/>
          </p:cNvSpPr>
          <p:nvPr>
            <p:ph type="subTitle" idx="1"/>
          </p:nvPr>
        </p:nvSpPr>
        <p:spPr>
          <a:xfrm>
            <a:off x="495300" y="1158240"/>
            <a:ext cx="8153400" cy="5109845"/>
          </a:xfrm>
          <a:prstGeom prst="rect">
            <a:avLst/>
          </a:prstGeom>
          <a:noFill/>
          <a:ln>
            <a:noFill/>
          </a:ln>
        </p:spPr>
        <p:txBody>
          <a:bodyPr spcFirstLastPara="1" wrap="square" lIns="91425" tIns="45700" rIns="91425" bIns="45700" anchor="t" anchorCtr="0">
            <a:noAutofit/>
          </a:bodyPr>
          <a:lstStyle/>
          <a:p>
            <a:pPr marL="101600" indent="0" algn="l">
              <a:lnSpc>
                <a:spcPct val="115000"/>
              </a:lnSpc>
              <a:spcBef>
                <a:spcPts val="1200"/>
              </a:spcBef>
              <a:buClr>
                <a:schemeClr val="dk1"/>
              </a:buClr>
              <a:buSzPts val="2000"/>
            </a:pPr>
            <a:r>
              <a:rPr lang="en-US" sz="2000" b="1" dirty="0">
                <a:solidFill>
                  <a:schemeClr val="dk1"/>
                </a:solidFill>
                <a:latin typeface="Times New Roman"/>
                <a:ea typeface="Calibri" panose="020F0502020204030204" pitchFamily="34" charset="0"/>
                <a:cs typeface="Times New Roman"/>
                <a:sym typeface="Times New Roman"/>
              </a:rPr>
              <a:t>Static Random Access Memory (SRAM)</a:t>
            </a:r>
            <a:r>
              <a:rPr lang="en-US" sz="2000" dirty="0">
                <a:solidFill>
                  <a:schemeClr val="dk1"/>
                </a:solidFill>
                <a:latin typeface="Times New Roman"/>
                <a:ea typeface="Calibri" panose="020F0502020204030204" pitchFamily="34" charset="0"/>
                <a:cs typeface="Times New Roman"/>
                <a:sym typeface="Times New Roman"/>
              </a:rPr>
              <a:t> is a type of volatile memory that stores data using flip-flop circuits. It does not need to be continuously refreshed like DRAM, making it faster but more expensive. SRAM is mainly used where very high-speed data access is required.</a:t>
            </a:r>
            <a:endParaRPr lang="en-US" sz="2000" b="1" dirty="0">
              <a:solidFill>
                <a:schemeClr val="dk1"/>
              </a:solidFill>
              <a:latin typeface="Times New Roman"/>
              <a:ea typeface="Calibri" panose="020F0502020204030204" pitchFamily="34" charset="0"/>
              <a:cs typeface="Times New Roman"/>
              <a:sym typeface="Times New Roman"/>
            </a:endParaRPr>
          </a:p>
          <a:p>
            <a:pPr marL="101600" lvl="0" indent="0" algn="l" rtl="0">
              <a:lnSpc>
                <a:spcPct val="115000"/>
              </a:lnSpc>
              <a:spcBef>
                <a:spcPts val="1200"/>
              </a:spcBef>
              <a:spcAft>
                <a:spcPts val="0"/>
              </a:spcAft>
              <a:buClr>
                <a:schemeClr val="dk1"/>
              </a:buClr>
              <a:buSzPts val="2000"/>
              <a:buNone/>
            </a:pPr>
            <a:r>
              <a:rPr lang="en-US" sz="2000" b="1" dirty="0">
                <a:solidFill>
                  <a:schemeClr val="dk1"/>
                </a:solidFill>
                <a:latin typeface="Times New Roman"/>
                <a:ea typeface="Calibri" panose="020F0502020204030204" pitchFamily="34" charset="0"/>
                <a:cs typeface="Times New Roman"/>
                <a:sym typeface="Times New Roman"/>
              </a:rPr>
              <a:t>SRAM (</a:t>
            </a:r>
            <a:r>
              <a:rPr lang="en-US" sz="2000" dirty="0">
                <a:solidFill>
                  <a:schemeClr val="dk1"/>
                </a:solidFill>
                <a:latin typeface="Times New Roman"/>
                <a:ea typeface="Calibri" panose="020F0502020204030204" pitchFamily="34" charset="0"/>
                <a:cs typeface="Times New Roman"/>
                <a:sym typeface="Times New Roman"/>
              </a:rPr>
              <a:t>Static Random Access Memory</a:t>
            </a:r>
            <a:r>
              <a:rPr lang="en-US" sz="2000" b="1" dirty="0">
                <a:solidFill>
                  <a:schemeClr val="dk1"/>
                </a:solidFill>
                <a:latin typeface="Times New Roman"/>
                <a:ea typeface="Calibri" panose="020F0502020204030204" pitchFamily="34" charset="0"/>
                <a:cs typeface="Times New Roman"/>
                <a:sym typeface="Times New Roman"/>
              </a:rPr>
              <a:t>)</a:t>
            </a:r>
            <a:endParaRPr sz="2000" b="1" dirty="0">
              <a:solidFill>
                <a:schemeClr val="dk1"/>
              </a:solidFill>
              <a:latin typeface="Times New Roman"/>
              <a:ea typeface="Calibri" panose="020F0502020204030204" pitchFamily="34" charset="0"/>
              <a:cs typeface="Times New Roman"/>
              <a:sym typeface="Times New Roman"/>
            </a:endParaRPr>
          </a:p>
          <a:p>
            <a:pPr marL="457200" lvl="0" indent="-355600" algn="l" rtl="0">
              <a:lnSpc>
                <a:spcPct val="115000"/>
              </a:lnSpc>
              <a:spcBef>
                <a:spcPts val="0"/>
              </a:spcBef>
              <a:spcAft>
                <a:spcPts val="0"/>
              </a:spcAft>
              <a:buClr>
                <a:schemeClr val="dk1"/>
              </a:buClr>
              <a:buSzPts val="2000"/>
              <a:buChar char="●"/>
            </a:pPr>
            <a:r>
              <a:rPr lang="en-US" sz="2000" b="1" dirty="0">
                <a:solidFill>
                  <a:schemeClr val="dk1"/>
                </a:solidFill>
                <a:latin typeface="Times New Roman"/>
                <a:ea typeface="Calibri" panose="020F0502020204030204" pitchFamily="34" charset="0"/>
                <a:cs typeface="Times New Roman"/>
                <a:sym typeface="Times New Roman"/>
              </a:rPr>
              <a:t>Works by:</a:t>
            </a:r>
            <a:r>
              <a:rPr lang="en-US" sz="2000" dirty="0">
                <a:solidFill>
                  <a:schemeClr val="dk1"/>
                </a:solidFill>
                <a:latin typeface="Times New Roman"/>
                <a:ea typeface="Calibri" panose="020F0502020204030204" pitchFamily="34" charset="0"/>
                <a:cs typeface="Times New Roman"/>
                <a:sym typeface="Times New Roman"/>
              </a:rPr>
              <a:t> Using </a:t>
            </a:r>
            <a:r>
              <a:rPr lang="en-US" sz="2000" i="1" dirty="0">
                <a:solidFill>
                  <a:schemeClr val="dk1"/>
                </a:solidFill>
                <a:latin typeface="Times New Roman"/>
                <a:ea typeface="Calibri" panose="020F0502020204030204" pitchFamily="34" charset="0"/>
                <a:cs typeface="Times New Roman"/>
                <a:sym typeface="Times New Roman"/>
              </a:rPr>
              <a:t>flip-flops</a:t>
            </a:r>
            <a:r>
              <a:rPr lang="en-US" sz="2000" dirty="0">
                <a:solidFill>
                  <a:schemeClr val="dk1"/>
                </a:solidFill>
                <a:latin typeface="Times New Roman"/>
                <a:ea typeface="Calibri" panose="020F0502020204030204" pitchFamily="34" charset="0"/>
                <a:cs typeface="Times New Roman"/>
                <a:sym typeface="Times New Roman"/>
              </a:rPr>
              <a:t> (circuits that hold data as long as power is on).</a:t>
            </a:r>
            <a:endParaRPr sz="2000" dirty="0">
              <a:solidFill>
                <a:schemeClr val="dk1"/>
              </a:solidFill>
              <a:latin typeface="Times New Roman"/>
              <a:ea typeface="Calibri" panose="020F0502020204030204" pitchFamily="34" charset="0"/>
              <a:cs typeface="Times New Roman"/>
              <a:sym typeface="Times New Roman"/>
            </a:endParaRPr>
          </a:p>
          <a:p>
            <a:pPr marL="457200" lvl="0" indent="-355600" algn="l" rtl="0">
              <a:lnSpc>
                <a:spcPct val="115000"/>
              </a:lnSpc>
              <a:spcBef>
                <a:spcPts val="0"/>
              </a:spcBef>
              <a:spcAft>
                <a:spcPts val="0"/>
              </a:spcAft>
              <a:buClr>
                <a:schemeClr val="dk1"/>
              </a:buClr>
              <a:buSzPts val="2000"/>
              <a:buChar char="●"/>
            </a:pPr>
            <a:r>
              <a:rPr lang="en-US" sz="2000" b="1" dirty="0">
                <a:solidFill>
                  <a:schemeClr val="dk1"/>
                </a:solidFill>
                <a:latin typeface="Times New Roman"/>
                <a:ea typeface="Calibri" panose="020F0502020204030204" pitchFamily="34" charset="0"/>
                <a:cs typeface="Times New Roman"/>
                <a:sym typeface="Times New Roman"/>
              </a:rPr>
              <a:t>Speed:</a:t>
            </a:r>
            <a:r>
              <a:rPr lang="en-US" sz="2000" dirty="0">
                <a:solidFill>
                  <a:schemeClr val="dk1"/>
                </a:solidFill>
                <a:latin typeface="Times New Roman"/>
                <a:ea typeface="Calibri" panose="020F0502020204030204" pitchFamily="34" charset="0"/>
                <a:cs typeface="Times New Roman"/>
                <a:sym typeface="Times New Roman"/>
              </a:rPr>
              <a:t> Very fast</a:t>
            </a:r>
            <a:endParaRPr sz="2000" dirty="0">
              <a:solidFill>
                <a:schemeClr val="dk1"/>
              </a:solidFill>
              <a:latin typeface="Times New Roman"/>
              <a:ea typeface="Calibri" panose="020F0502020204030204" pitchFamily="34" charset="0"/>
              <a:cs typeface="Times New Roman"/>
              <a:sym typeface="Times New Roman"/>
            </a:endParaRPr>
          </a:p>
          <a:p>
            <a:pPr marL="457200" lvl="0" indent="-355600" algn="l" rtl="0">
              <a:lnSpc>
                <a:spcPct val="115000"/>
              </a:lnSpc>
              <a:spcBef>
                <a:spcPts val="0"/>
              </a:spcBef>
              <a:spcAft>
                <a:spcPts val="0"/>
              </a:spcAft>
              <a:buClr>
                <a:schemeClr val="dk1"/>
              </a:buClr>
              <a:buSzPts val="2000"/>
              <a:buChar char="●"/>
            </a:pPr>
            <a:r>
              <a:rPr lang="en-US" sz="2000" b="1" dirty="0">
                <a:solidFill>
                  <a:schemeClr val="dk1"/>
                </a:solidFill>
                <a:latin typeface="Times New Roman"/>
                <a:ea typeface="Calibri" panose="020F0502020204030204" pitchFamily="34" charset="0"/>
                <a:cs typeface="Times New Roman"/>
                <a:sym typeface="Times New Roman"/>
              </a:rPr>
              <a:t>Cost:</a:t>
            </a:r>
            <a:r>
              <a:rPr lang="en-US" sz="2000" dirty="0">
                <a:solidFill>
                  <a:schemeClr val="dk1"/>
                </a:solidFill>
                <a:latin typeface="Times New Roman"/>
                <a:ea typeface="Calibri" panose="020F0502020204030204" pitchFamily="34" charset="0"/>
                <a:cs typeface="Times New Roman"/>
                <a:sym typeface="Times New Roman"/>
              </a:rPr>
              <a:t> Expensive </a:t>
            </a:r>
            <a:endParaRPr sz="2000" dirty="0">
              <a:solidFill>
                <a:schemeClr val="dk1"/>
              </a:solidFill>
              <a:latin typeface="Times New Roman"/>
              <a:ea typeface="Calibri" panose="020F0502020204030204" pitchFamily="34" charset="0"/>
              <a:cs typeface="Times New Roman"/>
              <a:sym typeface="Times New Roman"/>
            </a:endParaRPr>
          </a:p>
          <a:p>
            <a:pPr marL="457200" lvl="0" indent="-355600" algn="l" rtl="0">
              <a:lnSpc>
                <a:spcPct val="115000"/>
              </a:lnSpc>
              <a:spcBef>
                <a:spcPts val="0"/>
              </a:spcBef>
              <a:spcAft>
                <a:spcPts val="0"/>
              </a:spcAft>
              <a:buClr>
                <a:schemeClr val="dk1"/>
              </a:buClr>
              <a:buSzPts val="2000"/>
              <a:buChar char="●"/>
            </a:pPr>
            <a:r>
              <a:rPr lang="en-US" sz="2000" b="1" dirty="0">
                <a:solidFill>
                  <a:schemeClr val="dk1"/>
                </a:solidFill>
                <a:latin typeface="Times New Roman"/>
                <a:ea typeface="Calibri" panose="020F0502020204030204" pitchFamily="34" charset="0"/>
                <a:cs typeface="Times New Roman"/>
                <a:sym typeface="Times New Roman"/>
              </a:rPr>
              <a:t>Power use:</a:t>
            </a:r>
            <a:r>
              <a:rPr lang="en-US" sz="2000" dirty="0">
                <a:solidFill>
                  <a:schemeClr val="dk1"/>
                </a:solidFill>
                <a:latin typeface="Times New Roman"/>
                <a:ea typeface="Calibri" panose="020F0502020204030204" pitchFamily="34" charset="0"/>
                <a:cs typeface="Times New Roman"/>
                <a:sym typeface="Times New Roman"/>
              </a:rPr>
              <a:t> Low (doesn’t need refreshing)</a:t>
            </a:r>
            <a:endParaRPr sz="2000" dirty="0">
              <a:solidFill>
                <a:schemeClr val="dk1"/>
              </a:solidFill>
              <a:latin typeface="Times New Roman"/>
              <a:ea typeface="Calibri" panose="020F0502020204030204" pitchFamily="34" charset="0"/>
              <a:cs typeface="Times New Roman"/>
              <a:sym typeface="Times New Roman"/>
            </a:endParaRPr>
          </a:p>
          <a:p>
            <a:pPr marL="457200" lvl="0" indent="-355600" algn="l" rtl="0">
              <a:lnSpc>
                <a:spcPct val="115000"/>
              </a:lnSpc>
              <a:spcBef>
                <a:spcPts val="0"/>
              </a:spcBef>
              <a:spcAft>
                <a:spcPts val="0"/>
              </a:spcAft>
              <a:buClr>
                <a:schemeClr val="dk1"/>
              </a:buClr>
              <a:buSzPts val="2000"/>
              <a:buChar char="●"/>
            </a:pPr>
            <a:r>
              <a:rPr lang="en-US" sz="2000" b="1" dirty="0">
                <a:solidFill>
                  <a:schemeClr val="dk1"/>
                </a:solidFill>
                <a:latin typeface="Times New Roman"/>
                <a:ea typeface="Calibri" panose="020F0502020204030204" pitchFamily="34" charset="0"/>
                <a:cs typeface="Times New Roman"/>
                <a:sym typeface="Times New Roman"/>
              </a:rPr>
              <a:t>Use:</a:t>
            </a:r>
            <a:r>
              <a:rPr lang="en-US" sz="2000" dirty="0">
                <a:solidFill>
                  <a:schemeClr val="dk1"/>
                </a:solidFill>
                <a:latin typeface="Times New Roman"/>
                <a:ea typeface="Calibri" panose="020F0502020204030204" pitchFamily="34" charset="0"/>
                <a:cs typeface="Times New Roman"/>
                <a:sym typeface="Times New Roman"/>
              </a:rPr>
              <a:t> Inside CPU as </a:t>
            </a:r>
            <a:r>
              <a:rPr lang="en-US" sz="2000" b="1" dirty="0">
                <a:solidFill>
                  <a:schemeClr val="dk1"/>
                </a:solidFill>
                <a:latin typeface="Times New Roman"/>
                <a:ea typeface="Calibri" panose="020F0502020204030204" pitchFamily="34" charset="0"/>
                <a:cs typeface="Times New Roman"/>
                <a:sym typeface="Times New Roman"/>
              </a:rPr>
              <a:t>cache memory (L1, L2, L3)</a:t>
            </a:r>
            <a:r>
              <a:rPr lang="en-US" sz="2000" dirty="0">
                <a:solidFill>
                  <a:schemeClr val="dk1"/>
                </a:solidFill>
                <a:latin typeface="Times New Roman"/>
                <a:ea typeface="Calibri" panose="020F0502020204030204" pitchFamily="34" charset="0"/>
                <a:cs typeface="Times New Roman"/>
                <a:sym typeface="Times New Roman"/>
              </a:rPr>
              <a:t>.</a:t>
            </a:r>
            <a:endParaRPr sz="2000" dirty="0">
              <a:solidFill>
                <a:schemeClr val="dk1"/>
              </a:solidFill>
              <a:latin typeface="Times New Roman"/>
              <a:ea typeface="Calibri" panose="020F0502020204030204" pitchFamily="34" charset="0"/>
              <a:cs typeface="Times New Roman"/>
              <a:sym typeface="Times New Roman"/>
            </a:endParaRPr>
          </a:p>
          <a:p>
            <a:pPr marL="457200" lvl="0" indent="-355600" algn="l" rtl="0">
              <a:lnSpc>
                <a:spcPct val="115000"/>
              </a:lnSpc>
              <a:spcBef>
                <a:spcPts val="0"/>
              </a:spcBef>
              <a:spcAft>
                <a:spcPts val="0"/>
              </a:spcAft>
              <a:buClr>
                <a:schemeClr val="dk1"/>
              </a:buClr>
              <a:buSzPts val="2000"/>
              <a:buChar char="●"/>
            </a:pPr>
            <a:r>
              <a:rPr lang="en-US" sz="2000" b="1" dirty="0">
                <a:solidFill>
                  <a:schemeClr val="dk1"/>
                </a:solidFill>
                <a:latin typeface="Times New Roman"/>
                <a:ea typeface="Calibri" panose="020F0502020204030204" pitchFamily="34" charset="0"/>
                <a:cs typeface="Times New Roman"/>
                <a:sym typeface="Times New Roman"/>
              </a:rPr>
              <a:t>Size:</a:t>
            </a:r>
            <a:r>
              <a:rPr lang="en-US" sz="2000" dirty="0">
                <a:solidFill>
                  <a:schemeClr val="dk1"/>
                </a:solidFill>
                <a:latin typeface="Times New Roman"/>
                <a:ea typeface="Calibri" panose="020F0502020204030204" pitchFamily="34" charset="0"/>
                <a:cs typeface="Times New Roman"/>
                <a:sym typeface="Times New Roman"/>
              </a:rPr>
              <a:t> Smaller in capacity</a:t>
            </a:r>
            <a:endParaRPr sz="2000" dirty="0">
              <a:solidFill>
                <a:schemeClr val="dk1"/>
              </a:solidFill>
              <a:latin typeface="Times New Roman"/>
              <a:ea typeface="Calibri" panose="020F0502020204030204" pitchFamily="34" charset="0"/>
              <a:cs typeface="Times New Roman"/>
              <a:sym typeface="Times New Roman"/>
            </a:endParaRPr>
          </a:p>
          <a:p>
            <a:pPr marL="101600" lvl="0" indent="0" algn="l" rtl="0">
              <a:lnSpc>
                <a:spcPct val="115000"/>
              </a:lnSpc>
              <a:spcBef>
                <a:spcPts val="0"/>
              </a:spcBef>
              <a:spcAft>
                <a:spcPts val="0"/>
              </a:spcAft>
              <a:buClr>
                <a:schemeClr val="dk1"/>
              </a:buClr>
              <a:buSzPts val="2000"/>
              <a:buNone/>
            </a:pPr>
            <a:endParaRPr sz="2000" dirty="0">
              <a:solidFill>
                <a:schemeClr val="dk1"/>
              </a:solidFill>
              <a:latin typeface="Times New Roman"/>
              <a:ea typeface="Calibri" panose="020F0502020204030204" pitchFamily="34" charset="0"/>
              <a:cs typeface="Times New Roman"/>
              <a:sym typeface="Times New Roman"/>
            </a:endParaRPr>
          </a:p>
          <a:p>
            <a:pPr marL="0" lvl="0" indent="0" algn="ctr" rtl="0">
              <a:lnSpc>
                <a:spcPct val="100000"/>
              </a:lnSpc>
              <a:spcBef>
                <a:spcPts val="1200"/>
              </a:spcBef>
              <a:spcAft>
                <a:spcPts val="0"/>
              </a:spcAft>
              <a:buSzPts val="3200"/>
              <a:buNone/>
            </a:pPr>
            <a:endParaRPr sz="2000" dirty="0">
              <a:latin typeface="Times New Roman"/>
              <a:ea typeface="Calibri" panose="020F0502020204030204" pitchFamily="34" charset="0"/>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5" name="Arrow: Right 4">
            <a:extLst>
              <a:ext uri="{FF2B5EF4-FFF2-40B4-BE49-F238E27FC236}">
                <a16:creationId xmlns:a16="http://schemas.microsoft.com/office/drawing/2014/main" id="{216F3CD0-0AD6-F02A-5C93-23F0AA1AA867}"/>
              </a:ext>
            </a:extLst>
          </p:cNvPr>
          <p:cNvSpPr/>
          <p:nvPr/>
        </p:nvSpPr>
        <p:spPr>
          <a:xfrm>
            <a:off x="394970" y="4761364"/>
            <a:ext cx="2560320" cy="8026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3" name="Google Shape;143;p1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200" dirty="0">
                <a:latin typeface="Times New Roman" panose="02020603050405020304" pitchFamily="18" charset="0"/>
                <a:cs typeface="Times New Roman" panose="02020603050405020304" pitchFamily="18" charset="0"/>
              </a:rPr>
              <a:t>Real life applications of SRAM</a:t>
            </a:r>
            <a:endParaRPr sz="3200" dirty="0">
              <a:latin typeface="Times New Roman" panose="02020603050405020304" pitchFamily="18" charset="0"/>
              <a:cs typeface="Times New Roman" panose="02020603050405020304" pitchFamily="18" charset="0"/>
            </a:endParaRPr>
          </a:p>
        </p:txBody>
      </p:sp>
      <p:sp>
        <p:nvSpPr>
          <p:cNvPr id="144" name="Google Shape;144;p16"/>
          <p:cNvSpPr txBox="1">
            <a:spLocks noGrp="1"/>
          </p:cNvSpPr>
          <p:nvPr>
            <p:ph type="body" idx="1"/>
          </p:nvPr>
        </p:nvSpPr>
        <p:spPr>
          <a:xfrm>
            <a:off x="242570" y="931545"/>
            <a:ext cx="8545830" cy="4290695"/>
          </a:xfrm>
          <a:prstGeom prst="rect">
            <a:avLst/>
          </a:prstGeom>
          <a:noFill/>
          <a:ln>
            <a:noFill/>
          </a:ln>
        </p:spPr>
        <p:txBody>
          <a:bodyPr spcFirstLastPara="1" wrap="square" lIns="91425" tIns="45700" rIns="91425" bIns="45700" anchor="t" anchorCtr="0">
            <a:noAutofit/>
          </a:bodyPr>
          <a:lstStyle/>
          <a:p>
            <a:pPr marL="114300" lvl="0" indent="0" algn="just" rtl="0">
              <a:lnSpc>
                <a:spcPct val="100000"/>
              </a:lnSpc>
              <a:spcBef>
                <a:spcPts val="360"/>
              </a:spcBef>
              <a:spcAft>
                <a:spcPts val="0"/>
              </a:spcAft>
              <a:buSzPts val="1800"/>
              <a:buNone/>
            </a:pPr>
            <a:r>
              <a:rPr lang="en-US" sz="2000" b="1" dirty="0">
                <a:latin typeface="Times New Roman" panose="02020603050405020304" pitchFamily="18" charset="0"/>
                <a:cs typeface="Times New Roman" panose="02020603050405020304" pitchFamily="18" charset="0"/>
              </a:rPr>
              <a:t>CPU Cache Memory: SRAM is widely used for L1, L2, and L3 cache in processors. </a:t>
            </a:r>
            <a:r>
              <a:rPr lang="en-US" sz="2000" dirty="0">
                <a:latin typeface="Times New Roman" panose="02020603050405020304" pitchFamily="18" charset="0"/>
                <a:cs typeface="Times New Roman" panose="02020603050405020304" pitchFamily="18" charset="0"/>
              </a:rPr>
              <a:t>It stores frequently used instructions and data close to the CPU, allowing the processor to access them much faster than accessing main memory. </a:t>
            </a:r>
            <a:r>
              <a:rPr lang="en-US" sz="2000" dirty="0">
                <a:latin typeface="Times New Roman" panose="02020603050405020304" pitchFamily="18" charset="0"/>
                <a:ea typeface="Times New Roman"/>
                <a:cs typeface="Times New Roman" panose="02020603050405020304" pitchFamily="18" charset="0"/>
                <a:sym typeface="Times New Roman"/>
              </a:rPr>
              <a:t>Because SRAM is extremely fast, it helps reduce CPU waiting time and improve overall system performance.</a:t>
            </a: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algn="just" rtl="0">
              <a:lnSpc>
                <a:spcPct val="100000"/>
              </a:lnSpc>
              <a:spcBef>
                <a:spcPts val="360"/>
              </a:spcBef>
              <a:spcAft>
                <a:spcPts val="0"/>
              </a:spcAft>
              <a:buSzPts val="1800"/>
              <a:buNone/>
            </a:pPr>
            <a:endParaRPr sz="2000" dirty="0">
              <a:latin typeface="Times New Roman" panose="02020603050405020304" pitchFamily="18" charset="0"/>
              <a:cs typeface="Times New Roman" panose="02020603050405020304" pitchFamily="18" charset="0"/>
            </a:endParaRPr>
          </a:p>
          <a:p>
            <a:pPr marL="114300" lvl="0" indent="0" algn="just" rtl="0">
              <a:lnSpc>
                <a:spcPct val="100000"/>
              </a:lnSpc>
              <a:spcBef>
                <a:spcPts val="360"/>
              </a:spcBef>
              <a:spcAft>
                <a:spcPts val="0"/>
              </a:spcAft>
              <a:buSzPts val="1800"/>
              <a:buNone/>
            </a:pPr>
            <a:endParaRPr sz="2000" dirty="0">
              <a:latin typeface="Times New Roman" panose="02020603050405020304" pitchFamily="18" charset="0"/>
              <a:cs typeface="Times New Roman" panose="02020603050405020304" pitchFamily="18" charset="0"/>
            </a:endParaRPr>
          </a:p>
          <a:p>
            <a:pPr marL="114300" lvl="0" indent="0" algn="just" rtl="0">
              <a:lnSpc>
                <a:spcPct val="100000"/>
              </a:lnSpc>
              <a:spcBef>
                <a:spcPts val="360"/>
              </a:spcBef>
              <a:spcAft>
                <a:spcPts val="0"/>
              </a:spcAft>
              <a:buSzPts val="1800"/>
              <a:buNone/>
            </a:pPr>
            <a:endParaRPr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AE9821B-68F6-D4D2-82DE-8A055C586421}"/>
              </a:ext>
            </a:extLst>
          </p:cNvPr>
          <p:cNvSpPr txBox="1"/>
          <p:nvPr/>
        </p:nvSpPr>
        <p:spPr>
          <a:xfrm>
            <a:off x="242570" y="2651413"/>
            <a:ext cx="8658860" cy="3477875"/>
          </a:xfrm>
          <a:prstGeom prst="rect">
            <a:avLst/>
          </a:prstGeom>
          <a:noFill/>
        </p:spPr>
        <p:txBody>
          <a:bodyPr wrap="square">
            <a:spAutoFit/>
          </a:bodyPr>
          <a:lstStyle/>
          <a:p>
            <a:pPr marL="114300" lvl="0" indent="0" algn="just" rtl="0">
              <a:lnSpc>
                <a:spcPct val="100000"/>
              </a:lnSpc>
              <a:spcBef>
                <a:spcPts val="360"/>
              </a:spcBef>
              <a:spcAft>
                <a:spcPts val="0"/>
              </a:spcAft>
              <a:buSzPts val="1800"/>
              <a:buNone/>
            </a:pPr>
            <a:r>
              <a:rPr lang="en-US" sz="2000" b="1" dirty="0">
                <a:latin typeface="Times New Roman" panose="02020603050405020304" pitchFamily="18" charset="0"/>
                <a:cs typeface="Times New Roman" panose="02020603050405020304" pitchFamily="18" charset="0"/>
              </a:rPr>
              <a:t>Hard Disk and SSD Controllers: </a:t>
            </a:r>
            <a:r>
              <a:rPr lang="en-US" sz="2000" dirty="0">
                <a:latin typeface="Times New Roman" panose="02020603050405020304" pitchFamily="18" charset="0"/>
                <a:cs typeface="Times New Roman" panose="02020603050405020304" pitchFamily="18" charset="0"/>
              </a:rPr>
              <a:t>Storage controllers may use SRAM as a high-speed temporary buffer while reading, writing, or managing data.</a:t>
            </a:r>
          </a:p>
          <a:p>
            <a:pPr marL="114300" lvl="0" indent="0" algn="just" rtl="0">
              <a:lnSpc>
                <a:spcPct val="100000"/>
              </a:lnSpc>
              <a:spcBef>
                <a:spcPts val="360"/>
              </a:spcBef>
              <a:spcAft>
                <a:spcPts val="0"/>
              </a:spcAft>
              <a:buSzPts val="1800"/>
              <a:buNone/>
            </a:pPr>
            <a:endParaRPr lang="en-US" sz="2000" dirty="0">
              <a:latin typeface="Times New Roman" panose="02020603050405020304" pitchFamily="18" charset="0"/>
              <a:cs typeface="Times New Roman" panose="02020603050405020304" pitchFamily="18" charset="0"/>
            </a:endParaRPr>
          </a:p>
          <a:p>
            <a:pPr marL="114300" lvl="0" indent="0" algn="just" rtl="0">
              <a:lnSpc>
                <a:spcPct val="100000"/>
              </a:lnSpc>
              <a:spcBef>
                <a:spcPts val="360"/>
              </a:spcBef>
              <a:spcAft>
                <a:spcPts val="0"/>
              </a:spcAft>
              <a:buSzPts val="1800"/>
              <a:buNone/>
            </a:pPr>
            <a:r>
              <a:rPr lang="en-US" sz="2000" b="1" dirty="0">
                <a:latin typeface="Times New Roman" panose="02020603050405020304" pitchFamily="18" charset="0"/>
                <a:cs typeface="Times New Roman" panose="02020603050405020304" pitchFamily="18" charset="0"/>
              </a:rPr>
              <a:t>Embedded Systems: </a:t>
            </a:r>
            <a:r>
              <a:rPr lang="en-US" sz="2000" dirty="0">
                <a:latin typeface="Times New Roman" panose="02020603050405020304" pitchFamily="18" charset="0"/>
                <a:cs typeface="Times New Roman" panose="02020603050405020304" pitchFamily="18" charset="0"/>
              </a:rPr>
              <a:t>SRAM is commonly found in microcontrollers and embedded systems used in automobiles, industrial machines, medical equipment, and smart devices where quick access to small amounts of data is important.</a:t>
            </a:r>
          </a:p>
          <a:p>
            <a:pPr marL="114300" lvl="0" indent="0" algn="just" rtl="0">
              <a:lnSpc>
                <a:spcPct val="100000"/>
              </a:lnSpc>
              <a:spcBef>
                <a:spcPts val="360"/>
              </a:spcBef>
              <a:spcAft>
                <a:spcPts val="0"/>
              </a:spcAft>
              <a:buSzPts val="1800"/>
              <a:buNone/>
            </a:pPr>
            <a:endParaRPr lang="en-US" sz="2000" dirty="0">
              <a:latin typeface="Times New Roman" panose="02020603050405020304" pitchFamily="18" charset="0"/>
              <a:ea typeface="Times New Roman"/>
              <a:cs typeface="Times New Roman" panose="02020603050405020304" pitchFamily="18" charset="0"/>
              <a:sym typeface="Times New Roman"/>
            </a:endParaRPr>
          </a:p>
          <a:p>
            <a:pPr marL="114300" lvl="0" indent="0" algn="just" rtl="0">
              <a:lnSpc>
                <a:spcPct val="100000"/>
              </a:lnSpc>
              <a:spcBef>
                <a:spcPts val="360"/>
              </a:spcBef>
              <a:spcAft>
                <a:spcPts val="0"/>
              </a:spcAft>
              <a:buSzPts val="1800"/>
              <a:buNone/>
            </a:pPr>
            <a:r>
              <a:rPr lang="en-US" sz="2000" b="1" i="1" dirty="0">
                <a:latin typeface="Times New Roman" panose="02020603050405020304" pitchFamily="18" charset="0"/>
                <a:ea typeface="Times New Roman"/>
                <a:cs typeface="Times New Roman" panose="02020603050405020304" pitchFamily="18" charset="0"/>
                <a:sym typeface="Times New Roman"/>
              </a:rPr>
              <a:t>Important Point is </a:t>
            </a:r>
          </a:p>
          <a:p>
            <a:pPr marL="114300" lvl="0" indent="0" algn="just" rtl="0">
              <a:lnSpc>
                <a:spcPct val="100000"/>
              </a:lnSpc>
              <a:spcBef>
                <a:spcPts val="360"/>
              </a:spcBef>
              <a:spcAft>
                <a:spcPts val="0"/>
              </a:spcAft>
              <a:buSzPts val="1800"/>
              <a:buNone/>
            </a:pPr>
            <a:endParaRPr lang="en-US" sz="2000" dirty="0">
              <a:latin typeface="Times New Roman" panose="02020603050405020304" pitchFamily="18" charset="0"/>
              <a:ea typeface="Times New Roman"/>
              <a:cs typeface="Times New Roman" panose="02020603050405020304" pitchFamily="18" charset="0"/>
              <a:sym typeface="Times New Roman"/>
            </a:endParaRPr>
          </a:p>
          <a:p>
            <a:pPr marL="114300" lvl="0" indent="0" algn="just" rtl="0">
              <a:lnSpc>
                <a:spcPct val="100000"/>
              </a:lnSpc>
              <a:spcBef>
                <a:spcPts val="360"/>
              </a:spcBef>
              <a:spcAft>
                <a:spcPts val="0"/>
              </a:spcAft>
              <a:buSzPts val="1800"/>
              <a:buNone/>
            </a:pPr>
            <a:r>
              <a:rPr lang="en-US" sz="2000" dirty="0">
                <a:latin typeface="Times New Roman" panose="02020603050405020304" pitchFamily="18" charset="0"/>
                <a:ea typeface="Times New Roman"/>
                <a:cs typeface="Times New Roman" panose="02020603050405020304" pitchFamily="18" charset="0"/>
                <a:sym typeface="Times New Roman"/>
              </a:rPr>
              <a:t>SRAM = Very Fast + No Refresh Required + Volatile + Expensive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8"/>
          <p:cNvSpPr txBox="1">
            <a:spLocks noGrp="1"/>
          </p:cNvSpPr>
          <p:nvPr>
            <p:ph type="title"/>
          </p:nvPr>
        </p:nvSpPr>
        <p:spPr>
          <a:xfrm>
            <a:off x="0" y="0"/>
            <a:ext cx="656336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2400" dirty="0">
                <a:latin typeface="Times New Roman"/>
                <a:ea typeface="Times New Roman"/>
                <a:cs typeface="Times New Roman"/>
                <a:sym typeface="Times New Roman"/>
              </a:rPr>
              <a:t>DRAM (Dynamic Random Access Memory) </a:t>
            </a:r>
            <a:endParaRPr sz="2400" dirty="0"/>
          </a:p>
        </p:txBody>
      </p:sp>
      <p:sp>
        <p:nvSpPr>
          <p:cNvPr id="156" name="Google Shape;156;p18"/>
          <p:cNvSpPr txBox="1">
            <a:spLocks noGrp="1"/>
          </p:cNvSpPr>
          <p:nvPr>
            <p:ph type="body" idx="1"/>
          </p:nvPr>
        </p:nvSpPr>
        <p:spPr>
          <a:xfrm>
            <a:off x="356552" y="1132840"/>
            <a:ext cx="8430895" cy="4876800"/>
          </a:xfrm>
          <a:prstGeom prst="rect">
            <a:avLst/>
          </a:prstGeom>
          <a:noFill/>
          <a:ln>
            <a:noFill/>
          </a:ln>
        </p:spPr>
        <p:txBody>
          <a:bodyPr spcFirstLastPara="1" wrap="square" lIns="91425" tIns="45700" rIns="91425" bIns="45700" anchor="t" anchorCtr="0">
            <a:noAutofit/>
          </a:bodyPr>
          <a:lstStyle/>
          <a:p>
            <a:pPr marL="114300" lvl="0" indent="0" rtl="0">
              <a:lnSpc>
                <a:spcPct val="100000"/>
              </a:lnSpc>
              <a:spcBef>
                <a:spcPts val="360"/>
              </a:spcBef>
              <a:spcAft>
                <a:spcPts val="0"/>
              </a:spcAft>
              <a:buSzPts val="1800"/>
              <a:buNone/>
            </a:pPr>
            <a:r>
              <a:rPr lang="en-US" sz="2000" dirty="0">
                <a:latin typeface="Times New Roman" panose="02020603050405020304" pitchFamily="18" charset="0"/>
                <a:ea typeface="Times New Roman"/>
                <a:cs typeface="Times New Roman" panose="02020603050405020304" pitchFamily="18" charset="0"/>
                <a:sym typeface="Times New Roman"/>
              </a:rPr>
              <a:t>DRAM (Dynamic Random Access Memory)  is the most common type of main memory (RAM) in computers and electronic devices. It stores </a:t>
            </a:r>
            <a:r>
              <a:rPr lang="en-US" sz="2000" b="1" dirty="0">
                <a:latin typeface="Times New Roman" panose="02020603050405020304" pitchFamily="18" charset="0"/>
                <a:ea typeface="Times New Roman"/>
                <a:cs typeface="Times New Roman" panose="02020603050405020304" pitchFamily="18" charset="0"/>
                <a:sym typeface="Times New Roman"/>
              </a:rPr>
              <a:t>data temporarily and requires periodic refreshing</a:t>
            </a:r>
            <a:r>
              <a:rPr lang="en-US" sz="2000" dirty="0">
                <a:latin typeface="Times New Roman" panose="02020603050405020304" pitchFamily="18" charset="0"/>
                <a:ea typeface="Times New Roman"/>
                <a:cs typeface="Times New Roman" panose="02020603050405020304" pitchFamily="18" charset="0"/>
                <a:sym typeface="Times New Roman"/>
              </a:rPr>
              <a:t>.</a:t>
            </a: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r>
              <a:rPr lang="en-US" sz="2000" b="1" dirty="0">
                <a:latin typeface="Times New Roman" panose="02020603050405020304" pitchFamily="18" charset="0"/>
                <a:ea typeface="Times New Roman"/>
                <a:cs typeface="Times New Roman" panose="02020603050405020304" pitchFamily="18" charset="0"/>
                <a:sym typeface="Times New Roman"/>
              </a:rPr>
              <a:t>Real Life Applications </a:t>
            </a:r>
            <a:r>
              <a:rPr lang="en-US" sz="2000" b="1" dirty="0">
                <a:latin typeface="Times New Roman" panose="02020603050405020304" pitchFamily="18" charset="0"/>
                <a:cs typeface="Times New Roman" panose="02020603050405020304" pitchFamily="18" charset="0"/>
              </a:rPr>
              <a:t>of DRAM</a:t>
            </a:r>
            <a:endParaRPr sz="2000" b="1"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r>
              <a:rPr lang="en-US" sz="2000" b="1" dirty="0">
                <a:latin typeface="Times New Roman" panose="02020603050405020304" pitchFamily="18" charset="0"/>
                <a:ea typeface="Times New Roman"/>
                <a:cs typeface="Times New Roman" panose="02020603050405020304" pitchFamily="18" charset="0"/>
                <a:sym typeface="Times New Roman"/>
              </a:rPr>
              <a:t>Computers &amp; Laptops: </a:t>
            </a:r>
            <a:r>
              <a:rPr lang="en-US" sz="2000" dirty="0">
                <a:latin typeface="Times New Roman" panose="02020603050405020304" pitchFamily="18" charset="0"/>
                <a:ea typeface="Times New Roman"/>
                <a:cs typeface="Times New Roman" panose="02020603050405020304" pitchFamily="18" charset="0"/>
                <a:sym typeface="Times New Roman"/>
              </a:rPr>
              <a:t>Used as the main system RAM to store the operating system, applications, and active data.</a:t>
            </a: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r>
              <a:rPr lang="en-US" sz="2000" b="1" dirty="0">
                <a:latin typeface="Times New Roman" panose="02020603050405020304" pitchFamily="18" charset="0"/>
                <a:ea typeface="Times New Roman"/>
                <a:cs typeface="Times New Roman" panose="02020603050405020304" pitchFamily="18" charset="0"/>
                <a:sym typeface="Times New Roman"/>
              </a:rPr>
              <a:t>Smartphones &amp; Tablets: </a:t>
            </a:r>
            <a:r>
              <a:rPr lang="en-US" sz="2000" dirty="0">
                <a:latin typeface="Times New Roman" panose="02020603050405020304" pitchFamily="18" charset="0"/>
                <a:ea typeface="Times New Roman"/>
                <a:cs typeface="Times New Roman" panose="02020603050405020304" pitchFamily="18" charset="0"/>
                <a:sym typeface="Times New Roman"/>
              </a:rPr>
              <a:t>Provides working memory for running multiple applications and processes.</a:t>
            </a: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endParaRPr sz="2000" dirty="0">
              <a:latin typeface="Times New Roman" panose="02020603050405020304" pitchFamily="18" charset="0"/>
              <a:ea typeface="Times New Roman"/>
              <a:cs typeface="Times New Roman" panose="02020603050405020304" pitchFamily="18" charset="0"/>
              <a:sym typeface="Times New Roman"/>
            </a:endParaRPr>
          </a:p>
          <a:p>
            <a:pPr marL="114300" lvl="0" indent="0" rtl="0">
              <a:lnSpc>
                <a:spcPct val="100000"/>
              </a:lnSpc>
              <a:spcBef>
                <a:spcPts val="360"/>
              </a:spcBef>
              <a:spcAft>
                <a:spcPts val="0"/>
              </a:spcAft>
              <a:buSzPts val="1800"/>
              <a:buNone/>
            </a:pPr>
            <a:r>
              <a:rPr lang="en-US" sz="2000" b="1" dirty="0">
                <a:latin typeface="Times New Roman" panose="02020603050405020304" pitchFamily="18" charset="0"/>
                <a:ea typeface="Times New Roman"/>
                <a:cs typeface="Times New Roman" panose="02020603050405020304" pitchFamily="18" charset="0"/>
                <a:sym typeface="Times New Roman"/>
              </a:rPr>
              <a:t>Gaming Systems: </a:t>
            </a:r>
            <a:r>
              <a:rPr lang="en-US" sz="2000" dirty="0">
                <a:latin typeface="Times New Roman" panose="02020603050405020304" pitchFamily="18" charset="0"/>
                <a:ea typeface="Times New Roman"/>
                <a:cs typeface="Times New Roman" panose="02020603050405020304" pitchFamily="18" charset="0"/>
                <a:sym typeface="Times New Roman"/>
              </a:rPr>
              <a:t>Stores game data, textures, maps, and other information required during gameplay.</a:t>
            </a:r>
            <a:endParaRPr sz="20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4" name="Arrow: Right 3">
            <a:extLst>
              <a:ext uri="{FF2B5EF4-FFF2-40B4-BE49-F238E27FC236}">
                <a16:creationId xmlns:a16="http://schemas.microsoft.com/office/drawing/2014/main" id="{03700CAA-BCD4-8732-EF65-A2F739E3318C}"/>
              </a:ext>
            </a:extLst>
          </p:cNvPr>
          <p:cNvSpPr/>
          <p:nvPr/>
        </p:nvSpPr>
        <p:spPr>
          <a:xfrm>
            <a:off x="386080" y="5039360"/>
            <a:ext cx="2042160" cy="640080"/>
          </a:xfrm>
          <a:prstGeom prst="rightArrow">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2" name="Google Shape;162;p19"/>
          <p:cNvSpPr txBox="1">
            <a:spLocks noGrp="1"/>
          </p:cNvSpPr>
          <p:nvPr>
            <p:ph type="body" idx="1"/>
          </p:nvPr>
        </p:nvSpPr>
        <p:spPr>
          <a:xfrm>
            <a:off x="146685" y="1017905"/>
            <a:ext cx="8773795" cy="5301615"/>
          </a:xfrm>
          <a:prstGeom prst="rect">
            <a:avLst/>
          </a:prstGeom>
          <a:noFill/>
          <a:ln>
            <a:noFill/>
          </a:ln>
        </p:spPr>
        <p:txBody>
          <a:bodyPr spcFirstLastPara="1" wrap="square" lIns="91425" tIns="45700" rIns="91425" bIns="45700" anchor="t" anchorCtr="0">
            <a:noAutofit/>
          </a:bodyPr>
          <a:lstStyle/>
          <a:p>
            <a:pPr marL="114300" lvl="0" indent="0" algn="l" rtl="0">
              <a:lnSpc>
                <a:spcPct val="150000"/>
              </a:lnSpc>
              <a:spcBef>
                <a:spcPts val="360"/>
              </a:spcBef>
              <a:spcAft>
                <a:spcPts val="0"/>
              </a:spcAft>
              <a:buSzPts val="1800"/>
              <a:buNone/>
            </a:pPr>
            <a:r>
              <a:rPr lang="en-US" sz="2000" b="1" dirty="0">
                <a:latin typeface="Times New Roman"/>
                <a:ea typeface="Times New Roman"/>
                <a:cs typeface="Times New Roman"/>
                <a:sym typeface="Times New Roman"/>
              </a:rPr>
              <a:t>Smart TVs: </a:t>
            </a:r>
            <a:r>
              <a:rPr lang="en-US" sz="2000" dirty="0">
                <a:latin typeface="Times New Roman"/>
                <a:ea typeface="Times New Roman"/>
                <a:cs typeface="Times New Roman"/>
                <a:sym typeface="Times New Roman"/>
              </a:rPr>
              <a:t>Stores video-processing data, applications, and temporary operating data.</a:t>
            </a:r>
            <a:endParaRPr sz="2000" dirty="0">
              <a:latin typeface="Times New Roman"/>
              <a:ea typeface="Times New Roman"/>
              <a:cs typeface="Times New Roman"/>
              <a:sym typeface="Times New Roman"/>
            </a:endParaRPr>
          </a:p>
          <a:p>
            <a:pPr marL="114300" lvl="0" indent="0" algn="l" rtl="0">
              <a:lnSpc>
                <a:spcPct val="150000"/>
              </a:lnSpc>
              <a:spcBef>
                <a:spcPts val="360"/>
              </a:spcBef>
              <a:spcAft>
                <a:spcPts val="0"/>
              </a:spcAft>
              <a:buSzPts val="1800"/>
              <a:buNone/>
            </a:pPr>
            <a:r>
              <a:rPr lang="en-US" sz="2000" b="1" dirty="0">
                <a:latin typeface="Times New Roman"/>
                <a:ea typeface="Times New Roman"/>
                <a:cs typeface="Times New Roman"/>
                <a:sym typeface="Times New Roman"/>
              </a:rPr>
              <a:t>Automobiles: </a:t>
            </a:r>
            <a:r>
              <a:rPr lang="en-US" sz="2000" dirty="0">
                <a:latin typeface="Times New Roman"/>
                <a:ea typeface="Times New Roman"/>
                <a:cs typeface="Times New Roman"/>
                <a:sym typeface="Times New Roman"/>
              </a:rPr>
              <a:t>Used in infotainment systems, navigation, driver-assistance systems.</a:t>
            </a:r>
            <a:endParaRPr sz="2000" dirty="0">
              <a:latin typeface="Times New Roman"/>
              <a:ea typeface="Times New Roman"/>
              <a:cs typeface="Times New Roman"/>
              <a:sym typeface="Times New Roman"/>
            </a:endParaRPr>
          </a:p>
          <a:p>
            <a:pPr marL="114300" lvl="0" indent="0" algn="l" rtl="0">
              <a:lnSpc>
                <a:spcPct val="150000"/>
              </a:lnSpc>
              <a:spcBef>
                <a:spcPts val="360"/>
              </a:spcBef>
              <a:spcAft>
                <a:spcPts val="0"/>
              </a:spcAft>
              <a:buSzPts val="1800"/>
              <a:buNone/>
            </a:pPr>
            <a:r>
              <a:rPr lang="en-US" sz="2000" b="1" dirty="0">
                <a:latin typeface="Times New Roman"/>
                <a:ea typeface="Times New Roman"/>
                <a:cs typeface="Times New Roman"/>
                <a:sym typeface="Times New Roman"/>
              </a:rPr>
              <a:t>Digital Cameras: </a:t>
            </a:r>
            <a:r>
              <a:rPr lang="en-US" sz="2000" dirty="0">
                <a:latin typeface="Times New Roman"/>
                <a:ea typeface="Times New Roman"/>
                <a:cs typeface="Times New Roman"/>
                <a:sym typeface="Times New Roman"/>
              </a:rPr>
              <a:t>Temporarily stores image data during photo and video processing.</a:t>
            </a:r>
            <a:endParaRPr sz="2000" dirty="0">
              <a:latin typeface="Times New Roman"/>
              <a:ea typeface="Times New Roman"/>
              <a:cs typeface="Times New Roman"/>
              <a:sym typeface="Times New Roman"/>
            </a:endParaRPr>
          </a:p>
          <a:p>
            <a:pPr marL="114300" lvl="0" indent="0" algn="l" rtl="0">
              <a:lnSpc>
                <a:spcPct val="150000"/>
              </a:lnSpc>
              <a:spcBef>
                <a:spcPts val="360"/>
              </a:spcBef>
              <a:spcAft>
                <a:spcPts val="0"/>
              </a:spcAft>
              <a:buSzPts val="1800"/>
              <a:buNone/>
            </a:pPr>
            <a:r>
              <a:rPr lang="en-US" sz="2000" b="1" dirty="0">
                <a:latin typeface="Times New Roman"/>
                <a:ea typeface="Times New Roman"/>
                <a:cs typeface="Times New Roman"/>
                <a:sym typeface="Times New Roman"/>
              </a:rPr>
              <a:t>Printers &amp; Multifunction Devices: </a:t>
            </a:r>
            <a:r>
              <a:rPr lang="en-US" sz="2000" dirty="0">
                <a:latin typeface="Times New Roman"/>
                <a:ea typeface="Times New Roman"/>
                <a:cs typeface="Times New Roman"/>
                <a:sym typeface="Times New Roman"/>
              </a:rPr>
              <a:t>Holds documents and image data while printing or scanning.</a:t>
            </a:r>
          </a:p>
          <a:p>
            <a:pPr marL="114300" lvl="0" indent="0">
              <a:buNone/>
            </a:pPr>
            <a:r>
              <a:rPr lang="en-US" sz="2000" b="1" dirty="0">
                <a:latin typeface="Times New Roman"/>
                <a:ea typeface="Times New Roman"/>
                <a:cs typeface="Times New Roman"/>
                <a:sym typeface="Times New Roman"/>
              </a:rPr>
              <a:t>Graphics Systems: </a:t>
            </a:r>
            <a:r>
              <a:rPr lang="en-US" sz="2000" dirty="0">
                <a:latin typeface="Times New Roman"/>
                <a:ea typeface="Times New Roman"/>
                <a:cs typeface="Times New Roman"/>
                <a:sym typeface="Times New Roman"/>
              </a:rPr>
              <a:t>GDDR DRAM is used as graphics memory in GPUs for storing image, video, and gaming data.</a:t>
            </a:r>
          </a:p>
          <a:p>
            <a:pPr marL="114300" lvl="0" indent="0">
              <a:buNone/>
            </a:pPr>
            <a:r>
              <a:rPr lang="en-US" sz="2000" dirty="0">
                <a:latin typeface="Times New Roman"/>
                <a:ea typeface="Times New Roman"/>
                <a:cs typeface="Times New Roman"/>
                <a:sym typeface="Times New Roman"/>
              </a:rPr>
              <a:t> Important Point </a:t>
            </a:r>
          </a:p>
          <a:p>
            <a:pPr marL="114300" lvl="0" indent="0">
              <a:lnSpc>
                <a:spcPct val="150000"/>
              </a:lnSpc>
              <a:buNone/>
            </a:pPr>
            <a:r>
              <a:rPr lang="en-US" sz="2000" dirty="0">
                <a:latin typeface="Times New Roman"/>
                <a:ea typeface="Times New Roman"/>
                <a:cs typeface="Times New Roman"/>
                <a:sym typeface="Times New Roman"/>
              </a:rPr>
              <a:t>DRAM = Main Memory + High Capacity + Temporary Storage + Low Cost per Bit</a:t>
            </a:r>
          </a:p>
          <a:p>
            <a:pPr marL="114300" lvl="0" indent="0" algn="l" rtl="0">
              <a:lnSpc>
                <a:spcPct val="150000"/>
              </a:lnSpc>
              <a:spcBef>
                <a:spcPts val="360"/>
              </a:spcBef>
              <a:spcAft>
                <a:spcPts val="0"/>
              </a:spcAft>
              <a:buSzPts val="1800"/>
              <a:buNone/>
            </a:pPr>
            <a:endParaRPr sz="2000" dirty="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a:p>
            <a:pPr marL="114300" lvl="0" indent="0" algn="l" rtl="0">
              <a:lnSpc>
                <a:spcPct val="100000"/>
              </a:lnSpc>
              <a:spcBef>
                <a:spcPts val="360"/>
              </a:spcBef>
              <a:spcAft>
                <a:spcPts val="0"/>
              </a:spcAft>
              <a:buSzPts val="1800"/>
              <a:buNone/>
            </a:pPr>
            <a:endParaRPr sz="2000" dirty="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latin typeface="Times New Roman" panose="02020603050405020304" pitchFamily="18" charset="0"/>
                <a:cs typeface="Times New Roman" panose="02020603050405020304" pitchFamily="18" charset="0"/>
              </a:rPr>
              <a:t>Difference between SRAM and DRAM</a:t>
            </a:r>
            <a:endParaRPr dirty="0">
              <a:latin typeface="Times New Roman" panose="02020603050405020304" pitchFamily="18" charset="0"/>
              <a:cs typeface="Times New Roman" panose="02020603050405020304" pitchFamily="18" charset="0"/>
            </a:endParaRPr>
          </a:p>
        </p:txBody>
      </p:sp>
      <p:graphicFrame>
        <p:nvGraphicFramePr>
          <p:cNvPr id="175" name="Google Shape;175;p21"/>
          <p:cNvGraphicFramePr/>
          <p:nvPr>
            <p:extLst>
              <p:ext uri="{D42A27DB-BD31-4B8C-83A1-F6EECF244321}">
                <p14:modId xmlns:p14="http://schemas.microsoft.com/office/powerpoint/2010/main" val="3469461238"/>
              </p:ext>
            </p:extLst>
          </p:nvPr>
        </p:nvGraphicFramePr>
        <p:xfrm>
          <a:off x="997585" y="1130935"/>
          <a:ext cx="6733550" cy="4576046"/>
        </p:xfrm>
        <a:graphic>
          <a:graphicData uri="http://schemas.openxmlformats.org/drawingml/2006/table">
            <a:tbl>
              <a:tblPr>
                <a:noFill/>
              </a:tblPr>
              <a:tblGrid>
                <a:gridCol w="3364875">
                  <a:extLst>
                    <a:ext uri="{9D8B030D-6E8A-4147-A177-3AD203B41FA5}">
                      <a16:colId xmlns:a16="http://schemas.microsoft.com/office/drawing/2014/main" val="20000"/>
                    </a:ext>
                  </a:extLst>
                </a:gridCol>
                <a:gridCol w="3368675">
                  <a:extLst>
                    <a:ext uri="{9D8B030D-6E8A-4147-A177-3AD203B41FA5}">
                      <a16:colId xmlns:a16="http://schemas.microsoft.com/office/drawing/2014/main" val="20001"/>
                    </a:ext>
                  </a:extLst>
                </a:gridCol>
              </a:tblGrid>
              <a:tr h="813425">
                <a:tc>
                  <a:txBody>
                    <a:bodyPr/>
                    <a:lstStyle/>
                    <a:p>
                      <a:pPr marL="248285" marR="0" lvl="0" indent="0" algn="ctr" rtl="0">
                        <a:lnSpc>
                          <a:spcPct val="108750"/>
                        </a:lnSpc>
                        <a:spcBef>
                          <a:spcPts val="0"/>
                        </a:spcBef>
                        <a:spcAft>
                          <a:spcPts val="0"/>
                        </a:spcAft>
                        <a:buNone/>
                      </a:pPr>
                      <a:r>
                        <a:rPr lang="en-US" sz="2000" b="1" u="none" strike="noStrike" cap="none" dirty="0">
                          <a:solidFill>
                            <a:schemeClr val="dk1"/>
                          </a:solidFill>
                          <a:latin typeface="Times New Roman" panose="02020603050405020304" pitchFamily="18" charset="0"/>
                          <a:ea typeface="Cambria"/>
                          <a:cs typeface="Times New Roman" panose="02020603050405020304" pitchFamily="18" charset="0"/>
                          <a:sym typeface="Cambria"/>
                        </a:rPr>
                        <a:t>SRAM</a:t>
                      </a:r>
                      <a:endParaRPr sz="2000" b="1" u="none" strike="noStrike" cap="none" dirty="0">
                        <a:solidFill>
                          <a:schemeClr val="dk1"/>
                        </a:solidFill>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248285" marR="0" lvl="0" indent="0" algn="ctr" rtl="0">
                        <a:lnSpc>
                          <a:spcPct val="108750"/>
                        </a:lnSpc>
                        <a:spcBef>
                          <a:spcPts val="0"/>
                        </a:spcBef>
                        <a:spcAft>
                          <a:spcPts val="0"/>
                        </a:spcAft>
                        <a:buNone/>
                      </a:pPr>
                      <a:r>
                        <a:rPr lang="en-US" sz="2000" b="1" u="none" strike="noStrike" cap="none">
                          <a:solidFill>
                            <a:schemeClr val="dk1"/>
                          </a:solidFill>
                          <a:latin typeface="Times New Roman" panose="02020603050405020304" pitchFamily="18" charset="0"/>
                          <a:ea typeface="Cambria"/>
                          <a:cs typeface="Times New Roman" panose="02020603050405020304" pitchFamily="18" charset="0"/>
                          <a:sym typeface="Cambria"/>
                        </a:rPr>
                        <a:t>DRAM</a:t>
                      </a:r>
                      <a:endParaRPr sz="2000" b="1" u="none" strike="noStrike" cap="none">
                        <a:solidFill>
                          <a:schemeClr val="dk1"/>
                        </a:solidFill>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94050">
                <a:tc>
                  <a:txBody>
                    <a:bodyPr/>
                    <a:lstStyle/>
                    <a:p>
                      <a:pPr marL="248285" marR="0" lvl="0" indent="0" algn="l" rtl="0">
                        <a:lnSpc>
                          <a:spcPct val="108750"/>
                        </a:lnSpc>
                        <a:spcBef>
                          <a:spcPts val="0"/>
                        </a:spcBef>
                        <a:spcAft>
                          <a:spcPts val="0"/>
                        </a:spcAft>
                        <a:buNone/>
                      </a:pPr>
                      <a:r>
                        <a:rPr lang="en-US" sz="2000" b="0" u="none" strike="noStrike" cap="none">
                          <a:latin typeface="Times New Roman" panose="02020603050405020304" pitchFamily="18" charset="0"/>
                          <a:ea typeface="Cambria"/>
                          <a:cs typeface="Times New Roman" panose="02020603050405020304" pitchFamily="18" charset="0"/>
                          <a:sym typeface="Cambria"/>
                        </a:rPr>
                        <a:t>Transistors are used to store information in SRAM.</a:t>
                      </a:r>
                      <a:endParaRPr sz="2000" b="0" u="none" strike="noStrike" cap="none">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248285" marR="0" lvl="0" indent="0" algn="l" rtl="0">
                        <a:lnSpc>
                          <a:spcPct val="108750"/>
                        </a:lnSpc>
                        <a:spcBef>
                          <a:spcPts val="0"/>
                        </a:spcBef>
                        <a:spcAft>
                          <a:spcPts val="0"/>
                        </a:spcAft>
                        <a:buNone/>
                      </a:pPr>
                      <a:r>
                        <a:rPr lang="en-US" sz="2000" b="0" u="none" strike="noStrike" cap="none" dirty="0">
                          <a:latin typeface="Times New Roman" panose="02020603050405020304" pitchFamily="18" charset="0"/>
                          <a:ea typeface="Cambria"/>
                          <a:cs typeface="Times New Roman" panose="02020603050405020304" pitchFamily="18" charset="0"/>
                          <a:sym typeface="Cambria"/>
                        </a:rPr>
                        <a:t>Capacitors are used to store data in DRAM.</a:t>
                      </a:r>
                      <a:endParaRPr sz="2000" b="0" u="none" strike="noStrike" cap="none" dirty="0">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70550">
                <a:tc>
                  <a:txBody>
                    <a:bodyPr/>
                    <a:lstStyle/>
                    <a:p>
                      <a:pPr marL="248285" marR="0" lvl="0" indent="0" algn="l" rtl="0">
                        <a:lnSpc>
                          <a:spcPct val="108750"/>
                        </a:lnSpc>
                        <a:spcBef>
                          <a:spcPts val="0"/>
                        </a:spcBef>
                        <a:spcAft>
                          <a:spcPts val="0"/>
                        </a:spcAft>
                        <a:buNone/>
                      </a:pPr>
                      <a:r>
                        <a:rPr lang="en-US" sz="2000" b="0" u="none" strike="noStrike" cap="none">
                          <a:latin typeface="Times New Roman" panose="02020603050405020304" pitchFamily="18" charset="0"/>
                          <a:ea typeface="Cambria"/>
                          <a:cs typeface="Times New Roman" panose="02020603050405020304" pitchFamily="18" charset="0"/>
                          <a:sym typeface="Cambria"/>
                        </a:rPr>
                        <a:t>Capacitors are not used hence no refreshing is required.</a:t>
                      </a:r>
                      <a:endParaRPr sz="2000" b="0" u="none" strike="noStrike" cap="none">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248285" marR="0" lvl="0" indent="0" algn="l" rtl="0">
                        <a:lnSpc>
                          <a:spcPct val="117083"/>
                        </a:lnSpc>
                        <a:spcBef>
                          <a:spcPts val="0"/>
                        </a:spcBef>
                        <a:spcAft>
                          <a:spcPts val="0"/>
                        </a:spcAft>
                        <a:buNone/>
                      </a:pPr>
                      <a:r>
                        <a:rPr lang="en-US" sz="2000" b="0" u="none" strike="noStrike" cap="none" dirty="0">
                          <a:latin typeface="Times New Roman" panose="02020603050405020304" pitchFamily="18" charset="0"/>
                          <a:ea typeface="Cambria"/>
                          <a:cs typeface="Times New Roman" panose="02020603050405020304" pitchFamily="18" charset="0"/>
                          <a:sym typeface="Cambria"/>
                        </a:rPr>
                        <a:t>It needs to be refreshed periodically.</a:t>
                      </a:r>
                      <a:endParaRPr sz="2000" b="0" u="none" strike="noStrike" cap="none" dirty="0">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05775">
                <a:tc>
                  <a:txBody>
                    <a:bodyPr/>
                    <a:lstStyle/>
                    <a:p>
                      <a:pPr marL="248285" marR="0" lvl="0" indent="0" algn="l" rtl="0">
                        <a:lnSpc>
                          <a:spcPct val="117083"/>
                        </a:lnSpc>
                        <a:spcBef>
                          <a:spcPts val="0"/>
                        </a:spcBef>
                        <a:spcAft>
                          <a:spcPts val="0"/>
                        </a:spcAft>
                        <a:buNone/>
                      </a:pPr>
                      <a:r>
                        <a:rPr lang="en-US" sz="2000" b="0" u="none" strike="noStrike" cap="none">
                          <a:latin typeface="Times New Roman" panose="02020603050405020304" pitchFamily="18" charset="0"/>
                          <a:ea typeface="Cambria"/>
                          <a:cs typeface="Times New Roman" panose="02020603050405020304" pitchFamily="18" charset="0"/>
                          <a:sym typeface="Cambria"/>
                        </a:rPr>
                        <a:t>SRAM is faster</a:t>
                      </a:r>
                      <a:endParaRPr sz="2000" b="0" u="none" strike="noStrike" cap="none">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248285" marR="0" lvl="0" indent="0" algn="l" rtl="0">
                        <a:lnSpc>
                          <a:spcPct val="117083"/>
                        </a:lnSpc>
                        <a:spcBef>
                          <a:spcPts val="0"/>
                        </a:spcBef>
                        <a:spcAft>
                          <a:spcPts val="0"/>
                        </a:spcAft>
                        <a:buNone/>
                      </a:pPr>
                      <a:r>
                        <a:rPr lang="en-US" sz="2000" b="0" u="none" strike="noStrike" cap="none" dirty="0">
                          <a:latin typeface="Times New Roman" panose="02020603050405020304" pitchFamily="18" charset="0"/>
                          <a:ea typeface="Cambria"/>
                          <a:cs typeface="Times New Roman" panose="02020603050405020304" pitchFamily="18" charset="0"/>
                          <a:sym typeface="Cambria"/>
                        </a:rPr>
                        <a:t>DRAM is slower as compared to SRAM.</a:t>
                      </a:r>
                      <a:endParaRPr sz="2000" b="0" u="none" strike="noStrike" cap="none" dirty="0">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98450">
                <a:tc>
                  <a:txBody>
                    <a:bodyPr/>
                    <a:lstStyle/>
                    <a:p>
                      <a:pPr marL="248285" marR="0" lvl="0" indent="0" algn="l" rtl="0">
                        <a:lnSpc>
                          <a:spcPct val="117083"/>
                        </a:lnSpc>
                        <a:spcBef>
                          <a:spcPts val="0"/>
                        </a:spcBef>
                        <a:spcAft>
                          <a:spcPts val="0"/>
                        </a:spcAft>
                        <a:buNone/>
                      </a:pPr>
                      <a:r>
                        <a:rPr lang="en-US" sz="2000" b="0" u="none" strike="noStrike" cap="none">
                          <a:latin typeface="Times New Roman" panose="02020603050405020304" pitchFamily="18" charset="0"/>
                          <a:ea typeface="Cambria"/>
                          <a:cs typeface="Times New Roman" panose="02020603050405020304" pitchFamily="18" charset="0"/>
                          <a:sym typeface="Cambria"/>
                        </a:rPr>
                        <a:t>These are expensive.</a:t>
                      </a:r>
                      <a:endParaRPr sz="2000" b="0" u="none" strike="noStrike" cap="none">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248285" marR="0" lvl="0" indent="0" algn="l" rtl="0">
                        <a:lnSpc>
                          <a:spcPct val="117083"/>
                        </a:lnSpc>
                        <a:spcBef>
                          <a:spcPts val="0"/>
                        </a:spcBef>
                        <a:spcAft>
                          <a:spcPts val="0"/>
                        </a:spcAft>
                        <a:buNone/>
                      </a:pPr>
                      <a:r>
                        <a:rPr lang="en-US" sz="2000" b="0" u="none" strike="noStrike" cap="none">
                          <a:latin typeface="Times New Roman" panose="02020603050405020304" pitchFamily="18" charset="0"/>
                          <a:ea typeface="Cambria"/>
                          <a:cs typeface="Times New Roman" panose="02020603050405020304" pitchFamily="18" charset="0"/>
                          <a:sym typeface="Cambria"/>
                        </a:rPr>
                        <a:t>These are cheaper.</a:t>
                      </a:r>
                      <a:endParaRPr sz="2000" b="0" u="none" strike="noStrike" cap="none">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94350">
                <a:tc>
                  <a:txBody>
                    <a:bodyPr/>
                    <a:lstStyle/>
                    <a:p>
                      <a:pPr marL="248285" marR="0" lvl="0" indent="0" algn="l" rtl="0">
                        <a:lnSpc>
                          <a:spcPct val="117083"/>
                        </a:lnSpc>
                        <a:spcBef>
                          <a:spcPts val="0"/>
                        </a:spcBef>
                        <a:spcAft>
                          <a:spcPts val="0"/>
                        </a:spcAft>
                        <a:buNone/>
                      </a:pPr>
                      <a:r>
                        <a:rPr lang="en-US" sz="2000" b="0" u="none" strike="noStrike" cap="none">
                          <a:latin typeface="Times New Roman" panose="02020603050405020304" pitchFamily="18" charset="0"/>
                          <a:ea typeface="Cambria"/>
                          <a:cs typeface="Times New Roman" panose="02020603050405020304" pitchFamily="18" charset="0"/>
                          <a:sym typeface="Cambria"/>
                        </a:rPr>
                        <a:t>These are used in cache memories.</a:t>
                      </a:r>
                      <a:endParaRPr sz="2000" b="0" u="none" strike="noStrike" cap="none">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248285" marR="0" lvl="0" indent="0" algn="l" rtl="0">
                        <a:lnSpc>
                          <a:spcPct val="117083"/>
                        </a:lnSpc>
                        <a:spcBef>
                          <a:spcPts val="0"/>
                        </a:spcBef>
                        <a:spcAft>
                          <a:spcPts val="0"/>
                        </a:spcAft>
                        <a:buNone/>
                      </a:pPr>
                      <a:r>
                        <a:rPr lang="en-US" sz="2000" b="0" u="none" strike="noStrike" cap="none" dirty="0">
                          <a:latin typeface="Times New Roman" panose="02020603050405020304" pitchFamily="18" charset="0"/>
                          <a:ea typeface="Cambria"/>
                          <a:cs typeface="Times New Roman" panose="02020603050405020304" pitchFamily="18" charset="0"/>
                          <a:sym typeface="Cambria"/>
                        </a:rPr>
                        <a:t>These are used in main memories.</a:t>
                      </a:r>
                      <a:endParaRPr sz="2000" b="0" u="none" strike="noStrike" cap="none" dirty="0">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690875">
                <a:tc>
                  <a:txBody>
                    <a:bodyPr/>
                    <a:lstStyle/>
                    <a:p>
                      <a:pPr marL="248285" marR="0" lvl="0" indent="0" algn="l" rtl="0">
                        <a:lnSpc>
                          <a:spcPct val="117083"/>
                        </a:lnSpc>
                        <a:spcBef>
                          <a:spcPts val="0"/>
                        </a:spcBef>
                        <a:spcAft>
                          <a:spcPts val="0"/>
                        </a:spcAft>
                        <a:buNone/>
                      </a:pPr>
                      <a:r>
                        <a:rPr lang="en-US" sz="2000" b="0" u="none" strike="noStrike" cap="none" dirty="0">
                          <a:latin typeface="Times New Roman" panose="02020603050405020304" pitchFamily="18" charset="0"/>
                          <a:ea typeface="Cambria"/>
                          <a:cs typeface="Times New Roman" panose="02020603050405020304" pitchFamily="18" charset="0"/>
                          <a:sym typeface="Cambria"/>
                        </a:rPr>
                        <a:t>SRAMs are low density devices.</a:t>
                      </a:r>
                      <a:endParaRPr sz="2000" b="0" u="none" strike="noStrike" cap="none" dirty="0">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248285" marR="0" lvl="0" indent="0" algn="l" rtl="0">
                        <a:lnSpc>
                          <a:spcPct val="117083"/>
                        </a:lnSpc>
                        <a:spcBef>
                          <a:spcPts val="0"/>
                        </a:spcBef>
                        <a:spcAft>
                          <a:spcPts val="0"/>
                        </a:spcAft>
                        <a:buNone/>
                      </a:pPr>
                      <a:r>
                        <a:rPr lang="en-US" sz="2000" b="0" u="none" strike="noStrike" cap="none" dirty="0">
                          <a:latin typeface="Times New Roman" panose="02020603050405020304" pitchFamily="18" charset="0"/>
                          <a:ea typeface="Cambria"/>
                          <a:cs typeface="Times New Roman" panose="02020603050405020304" pitchFamily="18" charset="0"/>
                          <a:sym typeface="Cambria"/>
                        </a:rPr>
                        <a:t>DRAMs are high density devices.</a:t>
                      </a:r>
                      <a:endParaRPr sz="2000" b="0" u="none" strike="noStrike" cap="none" dirty="0">
                        <a:latin typeface="Times New Roman" panose="02020603050405020304" pitchFamily="18" charset="0"/>
                        <a:ea typeface="Cambria"/>
                        <a:cs typeface="Times New Roman" panose="02020603050405020304" pitchFamily="18" charset="0"/>
                        <a:sym typeface="Cambria"/>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1340B9B-A89E-BBAC-325D-9270CCD7FBFB}"/>
              </a:ext>
            </a:extLst>
          </p:cNvPr>
          <p:cNvSpPr>
            <a:spLocks noGrp="1"/>
          </p:cNvSpPr>
          <p:nvPr>
            <p:ph type="subTitle" idx="1"/>
          </p:nvPr>
        </p:nvSpPr>
        <p:spPr>
          <a:xfrm>
            <a:off x="995423" y="3756398"/>
            <a:ext cx="5868365" cy="2554545"/>
          </a:xfrm>
        </p:spPr>
        <p:txBody>
          <a:bodyPr/>
          <a:lstStyle/>
          <a:p>
            <a:pPr algn="just"/>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Following are types of ROM:</a:t>
            </a:r>
          </a:p>
          <a:p>
            <a:pPr lvl="0" algn="just">
              <a:buFont typeface="Wingdings" panose="05000000000000000000" pitchFamily="2" charset="2"/>
              <a:buChar char="§"/>
            </a:pP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MROM</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 Pre-programmed at manufacture</a:t>
            </a:r>
          </a:p>
          <a:p>
            <a:pPr lvl="0" algn="just">
              <a:buFont typeface="Wingdings" panose="05000000000000000000" pitchFamily="2" charset="2"/>
              <a:buChar char="§"/>
            </a:pP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PROM</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 User-programmable once</a:t>
            </a:r>
          </a:p>
          <a:p>
            <a:pPr lvl="0" algn="just">
              <a:buFont typeface="Wingdings" panose="05000000000000000000" pitchFamily="2" charset="2"/>
              <a:buChar char="§"/>
            </a:pP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EPROM</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 UV-erasable</a:t>
            </a:r>
          </a:p>
          <a:p>
            <a:pPr lvl="0" algn="just">
              <a:buFont typeface="Wingdings" panose="05000000000000000000" pitchFamily="2" charset="2"/>
              <a:buChar char="§"/>
            </a:pP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EEPROM</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 Electrically erasable</a:t>
            </a:r>
          </a:p>
          <a:p>
            <a:pPr lvl="0" algn="just">
              <a:buFont typeface="Wingdings" panose="05000000000000000000" pitchFamily="2" charset="2"/>
              <a:buChar char="§"/>
            </a:pP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Flash Memory</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 Fast, used in SSDs and USB drives</a:t>
            </a:r>
          </a:p>
          <a:p>
            <a:pPr algn="just"/>
            <a:endPar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A95D877-FF65-B3B0-3FC4-0B277EAA779C}"/>
              </a:ext>
            </a:extLst>
          </p:cNvPr>
          <p:cNvSpPr txBox="1"/>
          <p:nvPr/>
        </p:nvSpPr>
        <p:spPr>
          <a:xfrm>
            <a:off x="995423" y="1059613"/>
            <a:ext cx="7419372" cy="2554545"/>
          </a:xfrm>
          <a:prstGeom prst="rect">
            <a:avLst/>
          </a:prstGeom>
          <a:noFill/>
        </p:spPr>
        <p:txBody>
          <a:bodyPr wrap="square">
            <a:spAutoFit/>
          </a:bodyPr>
          <a:lstStyle/>
          <a:p>
            <a:pPr algn="just">
              <a:spcBef>
                <a:spcPts val="1200"/>
              </a:spcBef>
              <a:spcAft>
                <a:spcPts val="1200"/>
              </a:spcAft>
            </a:pP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ROM Read Only Memory (Non-volatile)</a:t>
            </a:r>
            <a:endPar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25400" algn="just">
              <a:spcBef>
                <a:spcPts val="1200"/>
              </a:spcBef>
              <a:spcAft>
                <a:spcPts val="1200"/>
              </a:spcAft>
              <a:tabLst>
                <a:tab pos="266700" algn="l"/>
              </a:tabLst>
            </a:pP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Read Only Memory, is non-volatile and is more like a permanent storage for information. It also stores the </a:t>
            </a: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bootstrap loader</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 program, to load and start the operating system when computer is turned on. </a:t>
            </a: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PROM </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(Programmable ROM), </a:t>
            </a: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EPROM </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(Erasable PROM) and </a:t>
            </a:r>
            <a:r>
              <a:rPr lang="en-IN" sz="2000" b="1" dirty="0">
                <a:solidFill>
                  <a:schemeClr val="tx1"/>
                </a:solidFill>
                <a:latin typeface="Calibri" panose="020F0502020204030204" pitchFamily="34" charset="0"/>
                <a:ea typeface="Calibri" panose="020F0502020204030204" pitchFamily="34" charset="0"/>
                <a:cs typeface="Calibri" panose="020F0502020204030204" pitchFamily="34" charset="0"/>
              </a:rPr>
              <a:t>EEPROM </a:t>
            </a:r>
            <a:r>
              <a:rPr lang="en-IN" sz="2000" dirty="0">
                <a:solidFill>
                  <a:schemeClr val="tx1"/>
                </a:solidFill>
                <a:latin typeface="Calibri" panose="020F0502020204030204" pitchFamily="34" charset="0"/>
                <a:ea typeface="Calibri" panose="020F0502020204030204" pitchFamily="34" charset="0"/>
                <a:cs typeface="Calibri" panose="020F0502020204030204" pitchFamily="34" charset="0"/>
              </a:rPr>
              <a:t>(Electrically Erasable PROM) are some commonly used ROMs.</a:t>
            </a:r>
          </a:p>
        </p:txBody>
      </p:sp>
    </p:spTree>
    <p:extLst>
      <p:ext uri="{BB962C8B-B14F-4D97-AF65-F5344CB8AC3E}">
        <p14:creationId xmlns:p14="http://schemas.microsoft.com/office/powerpoint/2010/main" val="816107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6"/>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200" b="1">
                <a:solidFill>
                  <a:schemeClr val="dk1"/>
                </a:solidFill>
                <a:latin typeface="Times New Roman"/>
                <a:ea typeface="Times New Roman"/>
                <a:cs typeface="Times New Roman"/>
                <a:sym typeface="Times New Roman"/>
              </a:rPr>
              <a:t>Types of ROM</a:t>
            </a:r>
            <a:endParaRPr sz="3200" b="1">
              <a:solidFill>
                <a:schemeClr val="dk1"/>
              </a:solidFill>
              <a:latin typeface="Times New Roman"/>
              <a:ea typeface="Times New Roman"/>
              <a:cs typeface="Times New Roman"/>
              <a:sym typeface="Times New Roman"/>
            </a:endParaRPr>
          </a:p>
        </p:txBody>
      </p:sp>
      <p:sp>
        <p:nvSpPr>
          <p:cNvPr id="206" name="Google Shape;206;p26"/>
          <p:cNvSpPr txBox="1">
            <a:spLocks noGrp="1"/>
          </p:cNvSpPr>
          <p:nvPr>
            <p:ph type="subTitle" idx="1"/>
          </p:nvPr>
        </p:nvSpPr>
        <p:spPr>
          <a:xfrm>
            <a:off x="572729" y="914401"/>
            <a:ext cx="8153400" cy="5427405"/>
          </a:xfrm>
          <a:prstGeom prst="rect">
            <a:avLst/>
          </a:prstGeom>
          <a:noFill/>
          <a:ln>
            <a:noFill/>
          </a:ln>
        </p:spPr>
        <p:txBody>
          <a:bodyPr spcFirstLastPara="1" wrap="square" lIns="91425" tIns="45700" rIns="91425" bIns="45700" anchor="t" anchorCtr="0">
            <a:noAutofit/>
          </a:bodyPr>
          <a:lstStyle/>
          <a:p>
            <a:pPr marL="457200" lvl="0" indent="-431800" algn="l" rtl="0">
              <a:lnSpc>
                <a:spcPct val="100000"/>
              </a:lnSpc>
              <a:spcBef>
                <a:spcPts val="640"/>
              </a:spcBef>
              <a:spcAft>
                <a:spcPts val="0"/>
              </a:spcAft>
              <a:buSzPts val="3200"/>
              <a:buNone/>
            </a:pPr>
            <a:r>
              <a:rPr lang="en-US"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PROM (Programmable ROM)</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Blank when manufactured.</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Can be programmed </a:t>
            </a:r>
            <a:r>
              <a:rPr lang="en-US"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once</a:t>
            </a: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 by the user.</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Data cannot be changed later.</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100000"/>
              </a:lnSpc>
              <a:spcBef>
                <a:spcPts val="640"/>
              </a:spcBef>
              <a:spcAft>
                <a:spcPts val="0"/>
              </a:spcAft>
              <a:buSzPts val="3200"/>
              <a:buNone/>
            </a:pPr>
            <a:r>
              <a:rPr lang="en-US"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EPROM (Erasable Programmable ROM)</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Can be erased by </a:t>
            </a:r>
            <a:r>
              <a:rPr lang="en-US"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ultraviolet (UV) light</a:t>
            </a: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Can be reprogrammed after erasing.</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100000"/>
              </a:lnSpc>
              <a:spcBef>
                <a:spcPts val="640"/>
              </a:spcBef>
              <a:spcAft>
                <a:spcPts val="0"/>
              </a:spcAft>
              <a:buSzPts val="3200"/>
              <a:buNone/>
            </a:pPr>
            <a:r>
              <a:rPr lang="en-US"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EEPROM (Electrically Erasable Programmable ROM)</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Can be erased and reprogrammed electrically.</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Allows selective byte-by-byte erasing.</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100000"/>
              </a:lnSpc>
              <a:spcBef>
                <a:spcPts val="640"/>
              </a:spcBef>
              <a:spcAft>
                <a:spcPts val="0"/>
              </a:spcAft>
              <a:buSzPts val="3200"/>
              <a:buNone/>
            </a:pPr>
            <a:r>
              <a:rPr lang="en-US" sz="2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Flash Memory</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Fast, reprogrammable.</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Used in SSDs, USB drives, memory cards.</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914400" lvl="1" indent="-406400" algn="l" rtl="0">
              <a:lnSpc>
                <a:spcPct val="100000"/>
              </a:lnSpc>
              <a:spcBef>
                <a:spcPts val="560"/>
              </a:spcBef>
              <a:spcAft>
                <a:spcPts val="0"/>
              </a:spcAft>
              <a:buSzPts val="2800"/>
              <a:buNone/>
            </a:pPr>
            <a:r>
              <a:rPr lang="en-U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rPr>
              <a:t>Can erase and write in blocks.</a:t>
            </a: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a:p>
            <a:pPr marL="457200" lvl="0" indent="-431800" algn="l" rtl="0">
              <a:lnSpc>
                <a:spcPct val="100000"/>
              </a:lnSpc>
              <a:spcBef>
                <a:spcPts val="640"/>
              </a:spcBef>
              <a:spcAft>
                <a:spcPts val="0"/>
              </a:spcAft>
              <a:buSzPts val="3200"/>
              <a:buNone/>
            </a:pPr>
            <a:endParaRPr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BB8CF-8E4C-46CE-3817-292D5EEBBE69}"/>
              </a:ext>
            </a:extLst>
          </p:cNvPr>
          <p:cNvSpPr>
            <a:spLocks noGrp="1"/>
          </p:cNvSpPr>
          <p:nvPr>
            <p:ph type="ctrTitle"/>
          </p:nvPr>
        </p:nvSpPr>
        <p:spPr>
          <a:xfrm>
            <a:off x="-115746" y="0"/>
            <a:ext cx="6724890" cy="914400"/>
          </a:xfrm>
        </p:spPr>
        <p:txBody>
          <a:bodyPr/>
          <a:lstStyle/>
          <a:p>
            <a:r>
              <a:rPr lang="en-IN" b="1" dirty="0">
                <a:latin typeface="Calibri" panose="020F0502020204030204" pitchFamily="34" charset="0"/>
                <a:ea typeface="Calibri" panose="020F0502020204030204" pitchFamily="34" charset="0"/>
                <a:cs typeface="Calibri" panose="020F0502020204030204" pitchFamily="34" charset="0"/>
              </a:rPr>
              <a:t>Types of Memory in a Computer System</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3C7E2DC-2564-2A69-B8AC-6F5BA0A12822}"/>
              </a:ext>
            </a:extLst>
          </p:cNvPr>
          <p:cNvSpPr txBox="1"/>
          <p:nvPr/>
        </p:nvSpPr>
        <p:spPr>
          <a:xfrm>
            <a:off x="578734" y="1122745"/>
            <a:ext cx="7986532" cy="5324535"/>
          </a:xfrm>
          <a:prstGeom prst="rect">
            <a:avLst/>
          </a:prstGeom>
          <a:noFill/>
        </p:spPr>
        <p:txBody>
          <a:bodyPr wrap="square">
            <a:spAutoFit/>
          </a:bodyPr>
          <a:lstStyle/>
          <a:p>
            <a:pPr algn="just">
              <a:spcBef>
                <a:spcPts val="1200"/>
              </a:spcBef>
              <a:spcAft>
                <a:spcPts val="1200"/>
              </a:spcAft>
              <a:buNone/>
            </a:pPr>
            <a:r>
              <a:rPr lang="en-IN" sz="2000" b="1" dirty="0">
                <a:effectLst/>
                <a:latin typeface="Calibri" panose="020F0502020204030204" pitchFamily="34" charset="0"/>
                <a:ea typeface="Calibri" panose="020F0502020204030204" pitchFamily="34" charset="0"/>
                <a:cs typeface="Calibri" panose="020F0502020204030204" pitchFamily="34" charset="0"/>
              </a:rPr>
              <a:t>Auxiliary Memory (Non-Volatile)</a:t>
            </a:r>
          </a:p>
          <a:p>
            <a:pPr algn="just" rtl="0">
              <a:spcBef>
                <a:spcPts val="1200"/>
              </a:spcBef>
              <a:spcAft>
                <a:spcPts val="1200"/>
              </a:spcAft>
              <a:buNone/>
            </a:pPr>
            <a:r>
              <a:rPr lang="en-IN" sz="2000" dirty="0">
                <a:effectLst/>
                <a:latin typeface="Calibri" panose="020F0502020204030204" pitchFamily="34" charset="0"/>
                <a:ea typeface="Calibri" panose="020F0502020204030204" pitchFamily="34" charset="0"/>
                <a:cs typeface="Calibri" panose="020F0502020204030204" pitchFamily="34" charset="0"/>
              </a:rPr>
              <a:t>Devices that provide secondary or backup storage are called auxiliary memory. For example, Magnetic disks and tapes are commonly used auxiliary devices. It is not directly accessible to the CPU, is accessed using the Input/Output channels.</a:t>
            </a:r>
          </a:p>
          <a:p>
            <a:pPr marL="342900" lvl="0" indent="-342900" algn="just">
              <a:spcBef>
                <a:spcPts val="1200"/>
              </a:spcBef>
              <a:spcAft>
                <a:spcPts val="1200"/>
              </a:spcAft>
              <a:buFont typeface="Arial" panose="020B0604020202020204" pitchFamily="34" charset="0"/>
              <a:buChar char="•"/>
            </a:pPr>
            <a:r>
              <a:rPr lang="en-IN" sz="2000" b="1" dirty="0">
                <a:latin typeface="Calibri" panose="020F0502020204030204" pitchFamily="34" charset="0"/>
                <a:ea typeface="Calibri" panose="020F0502020204030204" pitchFamily="34" charset="0"/>
                <a:cs typeface="Calibri" panose="020F0502020204030204" pitchFamily="34" charset="0"/>
              </a:rPr>
              <a:t>Hard Disk Drive (HDD)</a:t>
            </a:r>
            <a:r>
              <a:rPr lang="en-IN" sz="2000" dirty="0">
                <a:latin typeface="Calibri" panose="020F0502020204030204" pitchFamily="34" charset="0"/>
                <a:ea typeface="Calibri" panose="020F0502020204030204" pitchFamily="34" charset="0"/>
                <a:cs typeface="Calibri" panose="020F0502020204030204" pitchFamily="34" charset="0"/>
              </a:rPr>
              <a:t>: A permanent storage device that holds large amounts of data even when the computer is turned off. It is slower than RAM but offers much more capacity.</a:t>
            </a:r>
          </a:p>
          <a:p>
            <a:pPr marL="342900" lvl="0" indent="-342900" algn="just">
              <a:spcBef>
                <a:spcPts val="1200"/>
              </a:spcBef>
              <a:spcAft>
                <a:spcPts val="1200"/>
              </a:spcAft>
              <a:buFont typeface="Arial" panose="020B0604020202020204" pitchFamily="34" charset="0"/>
              <a:buChar char="•"/>
            </a:pPr>
            <a:r>
              <a:rPr lang="en-IN" sz="2000" b="1" dirty="0">
                <a:latin typeface="Calibri" panose="020F0502020204030204" pitchFamily="34" charset="0"/>
                <a:ea typeface="Calibri" panose="020F0502020204030204" pitchFamily="34" charset="0"/>
                <a:cs typeface="Calibri" panose="020F0502020204030204" pitchFamily="34" charset="0"/>
              </a:rPr>
              <a:t>Solid-State Drive (SSD)</a:t>
            </a:r>
            <a:r>
              <a:rPr lang="en-IN" sz="2000" dirty="0">
                <a:latin typeface="Calibri" panose="020F0502020204030204" pitchFamily="34" charset="0"/>
                <a:ea typeface="Calibri" panose="020F0502020204030204" pitchFamily="34" charset="0"/>
                <a:cs typeface="Calibri" panose="020F0502020204030204" pitchFamily="34" charset="0"/>
              </a:rPr>
              <a:t>: A faster alternative to HDDs with no moving parts. SSDs provide faster read/write speeds compared to HDDs.</a:t>
            </a:r>
          </a:p>
          <a:p>
            <a:pPr marL="342900" lvl="0" indent="-342900" algn="just">
              <a:spcBef>
                <a:spcPts val="1200"/>
              </a:spcBef>
              <a:spcAft>
                <a:spcPts val="1200"/>
              </a:spcAft>
              <a:buFont typeface="Arial" panose="020B0604020202020204" pitchFamily="34" charset="0"/>
              <a:buChar char="•"/>
            </a:pPr>
            <a:r>
              <a:rPr lang="en-IN" sz="2000" b="1" dirty="0">
                <a:latin typeface="Calibri" panose="020F0502020204030204" pitchFamily="34" charset="0"/>
                <a:ea typeface="Calibri" panose="020F0502020204030204" pitchFamily="34" charset="0"/>
                <a:cs typeface="Calibri" panose="020F0502020204030204" pitchFamily="34" charset="0"/>
              </a:rPr>
              <a:t>Optical Discs and USB Flash Drives</a:t>
            </a:r>
            <a:r>
              <a:rPr lang="en-IN" sz="2000" dirty="0">
                <a:latin typeface="Calibri" panose="020F0502020204030204" pitchFamily="34" charset="0"/>
                <a:ea typeface="Calibri" panose="020F0502020204030204" pitchFamily="34" charset="0"/>
                <a:cs typeface="Calibri" panose="020F0502020204030204" pitchFamily="34" charset="0"/>
              </a:rPr>
              <a:t>: Optical discs and USB flash drives are other forms of secondary memory used for storage, though they are less common in modern high-speed systems.</a:t>
            </a:r>
          </a:p>
        </p:txBody>
      </p:sp>
    </p:spTree>
    <p:extLst>
      <p:ext uri="{BB962C8B-B14F-4D97-AF65-F5344CB8AC3E}">
        <p14:creationId xmlns:p14="http://schemas.microsoft.com/office/powerpoint/2010/main" val="4198293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2743CF-74BF-37B5-6645-5DD7D79B6E32}"/>
              </a:ext>
            </a:extLst>
          </p:cNvPr>
          <p:cNvSpPr txBox="1"/>
          <p:nvPr/>
        </p:nvSpPr>
        <p:spPr>
          <a:xfrm>
            <a:off x="578735" y="860088"/>
            <a:ext cx="8345346" cy="2632003"/>
          </a:xfrm>
          <a:prstGeom prst="rect">
            <a:avLst/>
          </a:prstGeom>
          <a:noFill/>
        </p:spPr>
        <p:txBody>
          <a:bodyPr wrap="square">
            <a:spAutoFit/>
          </a:bodyPr>
          <a:lstStyle/>
          <a:p>
            <a:pPr algn="just">
              <a:lnSpc>
                <a:spcPct val="150000"/>
              </a:lnSpc>
            </a:pPr>
            <a:r>
              <a:rPr lang="en-IN" sz="1600" b="1" dirty="0">
                <a:solidFill>
                  <a:schemeClr val="tx1"/>
                </a:solidFill>
              </a:rPr>
              <a:t>Cache Memory</a:t>
            </a:r>
            <a:endParaRPr lang="en-IN" sz="1600" dirty="0">
              <a:solidFill>
                <a:schemeClr val="tx1"/>
              </a:solidFill>
            </a:endParaRPr>
          </a:p>
          <a:p>
            <a:pPr marL="0" indent="25400" algn="just">
              <a:lnSpc>
                <a:spcPct val="150000"/>
              </a:lnSpc>
            </a:pPr>
            <a:r>
              <a:rPr lang="en-IN" sz="1600" dirty="0">
                <a:solidFill>
                  <a:schemeClr val="tx1"/>
                </a:solidFill>
              </a:rPr>
              <a:t>The </a:t>
            </a:r>
            <a:r>
              <a:rPr lang="en-IN" sz="1600" b="1" dirty="0">
                <a:solidFill>
                  <a:schemeClr val="tx1"/>
                </a:solidFill>
              </a:rPr>
              <a:t>cache memory</a:t>
            </a:r>
            <a:r>
              <a:rPr lang="en-IN" sz="1600" dirty="0">
                <a:solidFill>
                  <a:schemeClr val="tx1"/>
                </a:solidFill>
              </a:rPr>
              <a:t> is used to store program data that is currently being executed in the CPU. Whenever the CPU needs to access memory, it first checks the cache memory. If the data is not found in cache memory then the CPU moves onto the main memory. </a:t>
            </a:r>
          </a:p>
          <a:p>
            <a:pPr algn="just">
              <a:lnSpc>
                <a:spcPct val="150000"/>
              </a:lnSpc>
            </a:pPr>
            <a:r>
              <a:rPr lang="en-IN" sz="1600" b="1" dirty="0">
                <a:solidFill>
                  <a:schemeClr val="tx1"/>
                </a:solidFill>
              </a:rPr>
              <a:t>Registers</a:t>
            </a:r>
            <a:r>
              <a:rPr lang="en-IN" sz="1600" dirty="0">
                <a:solidFill>
                  <a:schemeClr val="tx1"/>
                </a:solidFill>
              </a:rPr>
              <a:t> </a:t>
            </a:r>
          </a:p>
          <a:p>
            <a:pPr marL="0" indent="25400" algn="just">
              <a:lnSpc>
                <a:spcPct val="150000"/>
              </a:lnSpc>
            </a:pPr>
            <a:r>
              <a:rPr lang="en-IN" sz="1600" dirty="0">
                <a:solidFill>
                  <a:schemeClr val="tx1"/>
                </a:solidFill>
              </a:rPr>
              <a:t>These are small, ultra-fast memory locations within the CPU used to hold data that is being processed. Registers are crucial for executing instructions efficiently.</a:t>
            </a:r>
          </a:p>
        </p:txBody>
      </p:sp>
      <p:pic>
        <p:nvPicPr>
          <p:cNvPr id="7" name="Picture 6">
            <a:extLst>
              <a:ext uri="{FF2B5EF4-FFF2-40B4-BE49-F238E27FC236}">
                <a16:creationId xmlns:a16="http://schemas.microsoft.com/office/drawing/2014/main" id="{F9F603E7-2A5F-E2B2-3C0C-88CF70C3C922}"/>
              </a:ext>
            </a:extLst>
          </p:cNvPr>
          <p:cNvPicPr>
            <a:picLocks noChangeAspect="1"/>
          </p:cNvPicPr>
          <p:nvPr/>
        </p:nvPicPr>
        <p:blipFill>
          <a:blip r:embed="rId2"/>
          <a:stretch>
            <a:fillRect/>
          </a:stretch>
        </p:blipFill>
        <p:spPr>
          <a:xfrm>
            <a:off x="750425" y="3699121"/>
            <a:ext cx="5418881" cy="2709441"/>
          </a:xfrm>
          <a:prstGeom prst="rect">
            <a:avLst/>
          </a:prstGeom>
        </p:spPr>
      </p:pic>
    </p:spTree>
    <p:extLst>
      <p:ext uri="{BB962C8B-B14F-4D97-AF65-F5344CB8AC3E}">
        <p14:creationId xmlns:p14="http://schemas.microsoft.com/office/powerpoint/2010/main" val="529474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08FD2-96EC-C3CA-2C1A-02DFBE14F878}"/>
              </a:ext>
            </a:extLst>
          </p:cNvPr>
          <p:cNvSpPr>
            <a:spLocks noGrp="1"/>
          </p:cNvSpPr>
          <p:nvPr>
            <p:ph type="ctrTitle"/>
          </p:nvPr>
        </p:nvSpPr>
        <p:spPr/>
        <p:txBody>
          <a:bodyPr/>
          <a:lstStyle/>
          <a:p>
            <a:r>
              <a:rPr lang="en-IN" b="1" dirty="0"/>
              <a:t>Hard Disk Drive (HDD) vs Solid State Drive (SSD)</a:t>
            </a:r>
          </a:p>
        </p:txBody>
      </p:sp>
      <p:sp>
        <p:nvSpPr>
          <p:cNvPr id="7" name="TextBox 6">
            <a:extLst>
              <a:ext uri="{FF2B5EF4-FFF2-40B4-BE49-F238E27FC236}">
                <a16:creationId xmlns:a16="http://schemas.microsoft.com/office/drawing/2014/main" id="{D8E55276-F3DA-F6F5-844B-25126D077206}"/>
              </a:ext>
            </a:extLst>
          </p:cNvPr>
          <p:cNvSpPr txBox="1"/>
          <p:nvPr/>
        </p:nvSpPr>
        <p:spPr>
          <a:xfrm>
            <a:off x="457199" y="1117628"/>
            <a:ext cx="8327985" cy="2262671"/>
          </a:xfrm>
          <a:prstGeom prst="rect">
            <a:avLst/>
          </a:prstGeom>
          <a:noFill/>
        </p:spPr>
        <p:txBody>
          <a:bodyPr wrap="square">
            <a:spAutoFit/>
          </a:bodyPr>
          <a:lstStyle/>
          <a:p>
            <a:pPr algn="just">
              <a:lnSpc>
                <a:spcPct val="150000"/>
              </a:lnSpc>
            </a:pPr>
            <a:r>
              <a:rPr lang="en-IN" sz="1600" b="1" dirty="0"/>
              <a:t>Storage devices </a:t>
            </a:r>
            <a:r>
              <a:rPr lang="en-IN" sz="1600" dirty="0"/>
              <a:t>play a crucial role in determining a computer’s </a:t>
            </a:r>
            <a:r>
              <a:rPr lang="en-IN" sz="1600" b="1" i="1" dirty="0"/>
              <a:t>speed</a:t>
            </a:r>
            <a:r>
              <a:rPr lang="en-IN" sz="1600" dirty="0"/>
              <a:t>, </a:t>
            </a:r>
            <a:r>
              <a:rPr lang="en-IN" sz="1600" b="1" i="1" dirty="0"/>
              <a:t>performance</a:t>
            </a:r>
            <a:r>
              <a:rPr lang="en-IN" sz="1600" dirty="0"/>
              <a:t>, and </a:t>
            </a:r>
            <a:r>
              <a:rPr lang="en-IN" sz="1600" b="1" i="1" dirty="0"/>
              <a:t>data access efficiency</a:t>
            </a:r>
            <a:r>
              <a:rPr lang="en-IN" sz="1600" dirty="0"/>
              <a:t>. Among them, </a:t>
            </a:r>
            <a:r>
              <a:rPr lang="en-IN" sz="1600" b="1" i="1" dirty="0"/>
              <a:t>Hard Disk Drives (HDD</a:t>
            </a:r>
            <a:r>
              <a:rPr lang="en-IN" sz="1600" i="1" dirty="0"/>
              <a:t>)</a:t>
            </a:r>
            <a:r>
              <a:rPr lang="en-IN" sz="1600" dirty="0"/>
              <a:t> and </a:t>
            </a:r>
            <a:r>
              <a:rPr lang="en-IN" sz="1600" b="1" i="1" dirty="0"/>
              <a:t>Solid State Drives (SSD)</a:t>
            </a:r>
            <a:r>
              <a:rPr lang="en-IN" sz="1600" dirty="0"/>
              <a:t> are widely used storage technologies that differ in their working mechanisms. </a:t>
            </a:r>
          </a:p>
          <a:p>
            <a:pPr algn="just">
              <a:lnSpc>
                <a:spcPct val="150000"/>
              </a:lnSpc>
            </a:pPr>
            <a:r>
              <a:rPr lang="en-IN" sz="1600" dirty="0"/>
              <a:t>HDDs using </a:t>
            </a:r>
            <a:r>
              <a:rPr lang="en-IN" sz="1600" b="1" i="1" dirty="0"/>
              <a:t>mechanical parts</a:t>
            </a:r>
            <a:r>
              <a:rPr lang="en-IN" sz="1600" dirty="0"/>
              <a:t> and SSDs relying on </a:t>
            </a:r>
            <a:r>
              <a:rPr lang="en-IN" sz="1600" b="1" i="1" dirty="0"/>
              <a:t>flash memory</a:t>
            </a:r>
            <a:r>
              <a:rPr lang="en-IN" sz="1600" dirty="0"/>
              <a:t>. These differences impact their </a:t>
            </a:r>
            <a:r>
              <a:rPr lang="en-IN" sz="1600" b="1" i="1" dirty="0"/>
              <a:t>speed, durability, cost, and overall performance.</a:t>
            </a:r>
          </a:p>
        </p:txBody>
      </p:sp>
      <p:pic>
        <p:nvPicPr>
          <p:cNvPr id="9" name="Picture 8">
            <a:extLst>
              <a:ext uri="{FF2B5EF4-FFF2-40B4-BE49-F238E27FC236}">
                <a16:creationId xmlns:a16="http://schemas.microsoft.com/office/drawing/2014/main" id="{3B70A532-685B-3443-1BCE-3D14DEC87DC0}"/>
              </a:ext>
            </a:extLst>
          </p:cNvPr>
          <p:cNvPicPr>
            <a:picLocks noChangeAspect="1"/>
          </p:cNvPicPr>
          <p:nvPr/>
        </p:nvPicPr>
        <p:blipFill>
          <a:blip r:embed="rId2"/>
          <a:stretch>
            <a:fillRect/>
          </a:stretch>
        </p:blipFill>
        <p:spPr>
          <a:xfrm>
            <a:off x="1424649" y="3380299"/>
            <a:ext cx="6596606" cy="3306549"/>
          </a:xfrm>
          <a:prstGeom prst="rect">
            <a:avLst/>
          </a:prstGeom>
        </p:spPr>
      </p:pic>
    </p:spTree>
    <p:extLst>
      <p:ext uri="{BB962C8B-B14F-4D97-AF65-F5344CB8AC3E}">
        <p14:creationId xmlns:p14="http://schemas.microsoft.com/office/powerpoint/2010/main" val="1087878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79CB764-6C83-247D-C351-75E7F4DA1344}"/>
              </a:ext>
            </a:extLst>
          </p:cNvPr>
          <p:cNvSpPr>
            <a:spLocks noGrp="1"/>
          </p:cNvSpPr>
          <p:nvPr>
            <p:ph type="subTitle" idx="1"/>
          </p:nvPr>
        </p:nvSpPr>
        <p:spPr>
          <a:xfrm>
            <a:off x="495300" y="1180619"/>
            <a:ext cx="8153400" cy="5034986"/>
          </a:xfrm>
        </p:spPr>
        <p:txBody>
          <a:bodyPr/>
          <a:lstStyle/>
          <a:p>
            <a:pPr algn="just">
              <a:lnSpc>
                <a:spcPct val="150000"/>
              </a:lnSpc>
              <a:spcBef>
                <a:spcPts val="0"/>
              </a:spcBef>
            </a:pPr>
            <a:r>
              <a:rPr lang="en-IN" sz="1800" b="1" dirty="0">
                <a:solidFill>
                  <a:schemeClr val="tx1"/>
                </a:solidFill>
                <a:latin typeface="+mj-lt"/>
              </a:rPr>
              <a:t>Hard Disk Drive(HDD)</a:t>
            </a:r>
          </a:p>
          <a:p>
            <a:pPr marL="92075" indent="-66675" algn="just">
              <a:lnSpc>
                <a:spcPct val="150000"/>
              </a:lnSpc>
              <a:spcBef>
                <a:spcPts val="0"/>
              </a:spcBef>
            </a:pPr>
            <a:r>
              <a:rPr lang="en-IN" sz="1800" dirty="0">
                <a:solidFill>
                  <a:schemeClr val="tx1"/>
                </a:solidFill>
                <a:latin typeface="+mj-lt"/>
                <a:hlinkClick r:id="rId2">
                  <a:extLst>
                    <a:ext uri="{A12FA001-AC4F-418D-AE19-62706E023703}">
                      <ahyp:hlinkClr xmlns:ahyp="http://schemas.microsoft.com/office/drawing/2018/hyperlinkcolor" val="tx"/>
                    </a:ext>
                  </a:extLst>
                </a:hlinkClick>
              </a:rPr>
              <a:t>Hard Disk Drive (HDD)</a:t>
            </a:r>
            <a:r>
              <a:rPr lang="en-IN" sz="1800" dirty="0">
                <a:solidFill>
                  <a:schemeClr val="tx1"/>
                </a:solidFill>
                <a:latin typeface="+mj-lt"/>
              </a:rPr>
              <a:t>, which </a:t>
            </a:r>
            <a:r>
              <a:rPr lang="en-IN" sz="1800" b="1" dirty="0">
                <a:solidFill>
                  <a:schemeClr val="tx1"/>
                </a:solidFill>
                <a:latin typeface="+mj-lt"/>
              </a:rPr>
              <a:t>stores data on spinning magnetic platters and uses a read/write head to access information</a:t>
            </a:r>
            <a:r>
              <a:rPr lang="en-IN" sz="1800" dirty="0">
                <a:solidFill>
                  <a:schemeClr val="tx1"/>
                </a:solidFill>
                <a:latin typeface="+mj-lt"/>
              </a:rPr>
              <a:t>. It is widely used in desktops, laptops, and servers due to its ability to handle large amounts of data efficiently. </a:t>
            </a:r>
          </a:p>
          <a:p>
            <a:pPr algn="just">
              <a:lnSpc>
                <a:spcPct val="150000"/>
              </a:lnSpc>
              <a:spcBef>
                <a:spcPts val="0"/>
              </a:spcBef>
            </a:pPr>
            <a:r>
              <a:rPr lang="en-IN" sz="1800" b="1" dirty="0">
                <a:solidFill>
                  <a:schemeClr val="tx1"/>
                </a:solidFill>
                <a:latin typeface="+mj-lt"/>
              </a:rPr>
              <a:t>Solid State Drive(SSD)</a:t>
            </a:r>
          </a:p>
          <a:p>
            <a:pPr marL="92075" indent="-66675" algn="just">
              <a:lnSpc>
                <a:spcPct val="150000"/>
              </a:lnSpc>
              <a:spcBef>
                <a:spcPts val="0"/>
              </a:spcBef>
            </a:pPr>
            <a:r>
              <a:rPr lang="en-IN" sz="1800" dirty="0">
                <a:solidFill>
                  <a:schemeClr val="tx1"/>
                </a:solidFill>
                <a:latin typeface="+mj-lt"/>
              </a:rPr>
              <a:t>Modern storage devices use electronic memory to deliver faster and more efficient data access. One such technology is the Solid State Drive (SSD), which stores data using flash memory instead of moving parts. This allows quicker read/write operations and improved system performance. SSDs are commonly used in laptops and high-performance systems due to their speed and reliability. </a:t>
            </a:r>
          </a:p>
          <a:p>
            <a:pPr algn="just">
              <a:lnSpc>
                <a:spcPct val="150000"/>
              </a:lnSpc>
              <a:spcBef>
                <a:spcPts val="0"/>
              </a:spcBef>
            </a:pPr>
            <a:endParaRPr lang="en-IN" sz="1800" dirty="0">
              <a:solidFill>
                <a:schemeClr val="tx1"/>
              </a:solidFill>
              <a:latin typeface="+mj-lt"/>
            </a:endParaRPr>
          </a:p>
        </p:txBody>
      </p:sp>
    </p:spTree>
    <p:extLst>
      <p:ext uri="{BB962C8B-B14F-4D97-AF65-F5344CB8AC3E}">
        <p14:creationId xmlns:p14="http://schemas.microsoft.com/office/powerpoint/2010/main" val="3483227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Every SSD Type You Should Know Before Upgrading Your PC Not sure which SSD to buy? From SATA to NVMe, this quick guide shows the most common SSD types and how they differ. Save this before your next PC upgrade : r/RigBuild">
            <a:extLst>
              <a:ext uri="{FF2B5EF4-FFF2-40B4-BE49-F238E27FC236}">
                <a16:creationId xmlns:a16="http://schemas.microsoft.com/office/drawing/2014/main" id="{96D22BAE-F460-9394-70C3-1BE5B7CFA343}"/>
              </a:ext>
            </a:extLst>
          </p:cNvPr>
          <p:cNvPicPr>
            <a:picLocks noChangeAspect="1"/>
          </p:cNvPicPr>
          <p:nvPr/>
        </p:nvPicPr>
        <p:blipFill>
          <a:blip r:embed="rId2"/>
          <a:stretch>
            <a:fillRect/>
          </a:stretch>
        </p:blipFill>
        <p:spPr>
          <a:xfrm>
            <a:off x="1718945" y="938530"/>
            <a:ext cx="5706110" cy="5706110"/>
          </a:xfrm>
          <a:prstGeom prst="rect">
            <a:avLst/>
          </a:prstGeom>
        </p:spPr>
      </p:pic>
      <p:sp>
        <p:nvSpPr>
          <p:cNvPr id="11" name="TextBox 10">
            <a:extLst>
              <a:ext uri="{FF2B5EF4-FFF2-40B4-BE49-F238E27FC236}">
                <a16:creationId xmlns:a16="http://schemas.microsoft.com/office/drawing/2014/main" id="{7CAB2C21-E2F7-59E1-EB17-DBCF845B10D3}"/>
              </a:ext>
            </a:extLst>
          </p:cNvPr>
          <p:cNvSpPr txBox="1"/>
          <p:nvPr/>
        </p:nvSpPr>
        <p:spPr>
          <a:xfrm>
            <a:off x="619760" y="121920"/>
            <a:ext cx="4602480" cy="584775"/>
          </a:xfrm>
          <a:prstGeom prst="rect">
            <a:avLst/>
          </a:prstGeom>
          <a:noFill/>
        </p:spPr>
        <p:txBody>
          <a:bodyPr wrap="square" rtlCol="0">
            <a:spAutoFit/>
          </a:bodyPr>
          <a:lstStyle/>
          <a:p>
            <a:r>
              <a:rPr lang="en-IN" sz="3200" b="1" dirty="0">
                <a:latin typeface="Calibri" panose="020F0502020204030204" pitchFamily="34" charset="0"/>
                <a:ea typeface="Calibri" panose="020F0502020204030204" pitchFamily="34" charset="0"/>
                <a:cs typeface="Calibri" panose="020F0502020204030204" pitchFamily="34" charset="0"/>
              </a:rPr>
              <a:t>Types of SSD’S</a:t>
            </a:r>
          </a:p>
        </p:txBody>
      </p:sp>
    </p:spTree>
    <p:extLst>
      <p:ext uri="{BB962C8B-B14F-4D97-AF65-F5344CB8AC3E}">
        <p14:creationId xmlns:p14="http://schemas.microsoft.com/office/powerpoint/2010/main" val="2715183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6565F3F-43D7-394A-4987-63E2E0954295}"/>
              </a:ext>
            </a:extLst>
          </p:cNvPr>
          <p:cNvSpPr>
            <a:spLocks noGrp="1"/>
          </p:cNvSpPr>
          <p:nvPr>
            <p:ph type="subTitle" idx="1"/>
          </p:nvPr>
        </p:nvSpPr>
        <p:spPr>
          <a:xfrm>
            <a:off x="452120" y="1774408"/>
            <a:ext cx="4178300" cy="1654592"/>
          </a:xfrm>
        </p:spPr>
        <p:txBody>
          <a:bodyPr/>
          <a:lstStyle/>
          <a:p>
            <a:pPr lvl="0" algn="just">
              <a:buFont typeface="Wingdings" panose="05000000000000000000" pitchFamily="2" charset="2"/>
              <a:buChar char="§"/>
            </a:pPr>
            <a:r>
              <a:rPr lang="en-IN" sz="1600" dirty="0">
                <a:solidFill>
                  <a:schemeClr val="tx1"/>
                </a:solidFill>
              </a:rPr>
              <a:t>The oldest SSD format. </a:t>
            </a:r>
          </a:p>
          <a:p>
            <a:pPr lvl="0" algn="just">
              <a:buFont typeface="Wingdings" panose="05000000000000000000" pitchFamily="2" charset="2"/>
              <a:buChar char="§"/>
            </a:pPr>
            <a:r>
              <a:rPr lang="en-IN" sz="1600" dirty="0">
                <a:solidFill>
                  <a:schemeClr val="tx1"/>
                </a:solidFill>
              </a:rPr>
              <a:t>Connected in </a:t>
            </a:r>
            <a:r>
              <a:rPr lang="en-IN" sz="1600" b="1" dirty="0">
                <a:solidFill>
                  <a:schemeClr val="tx1"/>
                </a:solidFill>
              </a:rPr>
              <a:t>SATA III </a:t>
            </a:r>
            <a:r>
              <a:rPr lang="en-IN" sz="1600" dirty="0">
                <a:solidFill>
                  <a:schemeClr val="tx1"/>
                </a:solidFill>
              </a:rPr>
              <a:t>(max speed ~550 MB/s). </a:t>
            </a:r>
          </a:p>
          <a:p>
            <a:pPr lvl="0" algn="just">
              <a:buFont typeface="Wingdings" panose="05000000000000000000" pitchFamily="2" charset="2"/>
              <a:buChar char="§"/>
            </a:pPr>
            <a:r>
              <a:rPr lang="en-IN" sz="1600" dirty="0">
                <a:solidFill>
                  <a:schemeClr val="tx1"/>
                </a:solidFill>
              </a:rPr>
              <a:t>Compatible with almost all desktop and laptop PCs. </a:t>
            </a:r>
          </a:p>
          <a:p>
            <a:pPr lvl="0" algn="just">
              <a:buFont typeface="Wingdings" panose="05000000000000000000" pitchFamily="2" charset="2"/>
              <a:buChar char="§"/>
            </a:pPr>
            <a:r>
              <a:rPr lang="en-IN" sz="1600" dirty="0">
                <a:solidFill>
                  <a:schemeClr val="tx1"/>
                </a:solidFill>
              </a:rPr>
              <a:t>Perfect for a </a:t>
            </a:r>
            <a:r>
              <a:rPr lang="en-IN" sz="1600" b="1" dirty="0">
                <a:solidFill>
                  <a:schemeClr val="tx1"/>
                </a:solidFill>
              </a:rPr>
              <a:t>cheap upgrade </a:t>
            </a:r>
            <a:r>
              <a:rPr lang="en-IN" sz="1600" dirty="0">
                <a:solidFill>
                  <a:schemeClr val="tx1"/>
                </a:solidFill>
              </a:rPr>
              <a:t>. </a:t>
            </a:r>
          </a:p>
          <a:p>
            <a:pPr marL="482600" indent="-457200">
              <a:buFont typeface="Wingdings" panose="05000000000000000000" pitchFamily="2" charset="2"/>
              <a:buChar char="§"/>
            </a:pPr>
            <a:endParaRPr lang="en-IN" dirty="0">
              <a:solidFill>
                <a:schemeClr val="tx1"/>
              </a:solidFill>
            </a:endParaRPr>
          </a:p>
        </p:txBody>
      </p:sp>
      <p:sp>
        <p:nvSpPr>
          <p:cNvPr id="5" name="TextBox 4">
            <a:extLst>
              <a:ext uri="{FF2B5EF4-FFF2-40B4-BE49-F238E27FC236}">
                <a16:creationId xmlns:a16="http://schemas.microsoft.com/office/drawing/2014/main" id="{7956EC24-B5D6-27BB-F3D1-6F3D0FFB9A8C}"/>
              </a:ext>
            </a:extLst>
          </p:cNvPr>
          <p:cNvSpPr txBox="1"/>
          <p:nvPr/>
        </p:nvSpPr>
        <p:spPr>
          <a:xfrm>
            <a:off x="452120" y="1371600"/>
            <a:ext cx="4582160" cy="307777"/>
          </a:xfrm>
          <a:prstGeom prst="rect">
            <a:avLst/>
          </a:prstGeom>
          <a:noFill/>
        </p:spPr>
        <p:txBody>
          <a:bodyPr wrap="square">
            <a:spAutoFit/>
          </a:bodyPr>
          <a:lstStyle/>
          <a:p>
            <a:pPr>
              <a:buNone/>
            </a:pPr>
            <a:r>
              <a:rPr lang="en-IN" b="1" dirty="0"/>
              <a:t>a) SSD SATA 2.5" </a:t>
            </a:r>
          </a:p>
        </p:txBody>
      </p:sp>
      <p:pic>
        <p:nvPicPr>
          <p:cNvPr id="9" name="Picture 8" descr="SATA SSDs—which is short for serial ATA solid-state drives—serve as an accessible gateway into the realm of solid-state storage. These drives leverage the SATA interface, a standard connection protocol ubiquitous in PCs and laptops, making them compatible with most existing systems. While SATA SSDs have revolutionized storage by delivering noticeable speed enhancements when compared to traditional hard drives, they fall short in sheer performance compared to newer SSD technologies, such as NVMe.">
            <a:extLst>
              <a:ext uri="{FF2B5EF4-FFF2-40B4-BE49-F238E27FC236}">
                <a16:creationId xmlns:a16="http://schemas.microsoft.com/office/drawing/2014/main" id="{2763EA7F-18C9-C272-8C0F-8D1A0FC223EA}"/>
              </a:ext>
            </a:extLst>
          </p:cNvPr>
          <p:cNvPicPr>
            <a:picLocks noChangeAspect="1"/>
          </p:cNvPicPr>
          <p:nvPr/>
        </p:nvPicPr>
        <p:blipFill>
          <a:blip r:embed="rId2"/>
          <a:srcRect l="31670" t="28832" r="31227" b="29542"/>
          <a:stretch>
            <a:fillRect/>
          </a:stretch>
        </p:blipFill>
        <p:spPr>
          <a:xfrm>
            <a:off x="5201920" y="1371600"/>
            <a:ext cx="2895600" cy="2030382"/>
          </a:xfrm>
          <a:prstGeom prst="rect">
            <a:avLst/>
          </a:prstGeom>
        </p:spPr>
      </p:pic>
      <p:sp>
        <p:nvSpPr>
          <p:cNvPr id="11" name="TextBox 10">
            <a:extLst>
              <a:ext uri="{FF2B5EF4-FFF2-40B4-BE49-F238E27FC236}">
                <a16:creationId xmlns:a16="http://schemas.microsoft.com/office/drawing/2014/main" id="{1345D9B5-1819-38AB-2165-65F70B9B9A7B}"/>
              </a:ext>
            </a:extLst>
          </p:cNvPr>
          <p:cNvSpPr txBox="1"/>
          <p:nvPr/>
        </p:nvSpPr>
        <p:spPr>
          <a:xfrm>
            <a:off x="452120" y="3761611"/>
            <a:ext cx="4582160" cy="307777"/>
          </a:xfrm>
          <a:prstGeom prst="rect">
            <a:avLst/>
          </a:prstGeom>
          <a:noFill/>
        </p:spPr>
        <p:txBody>
          <a:bodyPr wrap="square">
            <a:spAutoFit/>
          </a:bodyPr>
          <a:lstStyle/>
          <a:p>
            <a:pPr>
              <a:buNone/>
            </a:pPr>
            <a:r>
              <a:rPr lang="en-IN" b="1" dirty="0"/>
              <a:t>b) SSD M.2 SATA </a:t>
            </a:r>
          </a:p>
        </p:txBody>
      </p:sp>
      <p:pic>
        <p:nvPicPr>
          <p:cNvPr id="13" name="Picture 12">
            <a:extLst>
              <a:ext uri="{FF2B5EF4-FFF2-40B4-BE49-F238E27FC236}">
                <a16:creationId xmlns:a16="http://schemas.microsoft.com/office/drawing/2014/main" id="{88E3B46F-3CFC-25F1-2C30-47D48FA4E17F}"/>
              </a:ext>
            </a:extLst>
          </p:cNvPr>
          <p:cNvPicPr>
            <a:picLocks noChangeAspect="1"/>
          </p:cNvPicPr>
          <p:nvPr/>
        </p:nvPicPr>
        <p:blipFill>
          <a:blip r:embed="rId3"/>
          <a:srcRect l="20222" t="30954" r="19778" b="32856"/>
          <a:stretch>
            <a:fillRect/>
          </a:stretch>
        </p:blipFill>
        <p:spPr>
          <a:xfrm>
            <a:off x="4734560" y="5231501"/>
            <a:ext cx="4246880" cy="1280777"/>
          </a:xfrm>
          <a:prstGeom prst="rect">
            <a:avLst/>
          </a:prstGeom>
        </p:spPr>
      </p:pic>
      <p:sp>
        <p:nvSpPr>
          <p:cNvPr id="15" name="TextBox 14">
            <a:extLst>
              <a:ext uri="{FF2B5EF4-FFF2-40B4-BE49-F238E27FC236}">
                <a16:creationId xmlns:a16="http://schemas.microsoft.com/office/drawing/2014/main" id="{84498404-2196-2A02-DEFA-38CA96F4759B}"/>
              </a:ext>
            </a:extLst>
          </p:cNvPr>
          <p:cNvSpPr txBox="1"/>
          <p:nvPr/>
        </p:nvSpPr>
        <p:spPr>
          <a:xfrm>
            <a:off x="452120" y="4069388"/>
            <a:ext cx="7305040" cy="1162113"/>
          </a:xfrm>
          <a:prstGeom prst="rect">
            <a:avLst/>
          </a:prstGeom>
          <a:noFill/>
        </p:spPr>
        <p:txBody>
          <a:bodyPr wrap="square">
            <a:spAutoFit/>
          </a:bodyPr>
          <a:lstStyle/>
          <a:p>
            <a:pPr marL="342900" lvl="0" indent="-342900">
              <a:lnSpc>
                <a:spcPct val="150000"/>
              </a:lnSpc>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Use the format </a:t>
            </a:r>
            <a:r>
              <a:rPr lang="en-IN" sz="1600" b="1" dirty="0">
                <a:latin typeface="Calibri" panose="020F0502020204030204" pitchFamily="34" charset="0"/>
                <a:ea typeface="Calibri" panose="020F0502020204030204" pitchFamily="34" charset="0"/>
                <a:cs typeface="Calibri" panose="020F0502020204030204" pitchFamily="34" charset="0"/>
              </a:rPr>
              <a:t>M.2 </a:t>
            </a:r>
            <a:r>
              <a:rPr lang="en-IN" sz="1600" dirty="0">
                <a:latin typeface="Calibri" panose="020F0502020204030204" pitchFamily="34" charset="0"/>
                <a:ea typeface="Calibri" panose="020F0502020204030204" pitchFamily="34" charset="0"/>
                <a:cs typeface="Calibri" panose="020F0502020204030204" pitchFamily="34" charset="0"/>
              </a:rPr>
              <a:t>, smaller than the 2.5". </a:t>
            </a:r>
          </a:p>
          <a:p>
            <a:pPr marL="342900" lvl="0" indent="-342900">
              <a:lnSpc>
                <a:spcPct val="150000"/>
              </a:lnSpc>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But limited by the SATA interface, so same speeds (≈ 550 MB/s). </a:t>
            </a:r>
          </a:p>
          <a:p>
            <a:pPr marL="342900" lvl="0" indent="-342900">
              <a:lnSpc>
                <a:spcPct val="150000"/>
              </a:lnSpc>
              <a:buFont typeface="Wingdings" panose="05000000000000000000" pitchFamily="2" charset="2"/>
              <a:buChar char="§"/>
            </a:pPr>
            <a:r>
              <a:rPr lang="en-IN" sz="1600" b="1" dirty="0">
                <a:latin typeface="Calibri" panose="020F0502020204030204" pitchFamily="34" charset="0"/>
                <a:ea typeface="Calibri" panose="020F0502020204030204" pitchFamily="34" charset="0"/>
                <a:cs typeface="Calibri" panose="020F0502020204030204" pitchFamily="34" charset="0"/>
              </a:rPr>
              <a:t>Running on laptops and recent motherboards </a:t>
            </a:r>
            <a:r>
              <a:rPr lang="en-IN" sz="1600"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450459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A18C-9254-3792-2B96-32EE5AF4F939}"/>
              </a:ext>
            </a:extLst>
          </p:cNvPr>
          <p:cNvSpPr>
            <a:spLocks noGrp="1"/>
          </p:cNvSpPr>
          <p:nvPr>
            <p:ph type="ctrTitle"/>
          </p:nvPr>
        </p:nvSpPr>
        <p:spPr/>
        <p:txBody>
          <a:bodyPr/>
          <a:lstStyle/>
          <a:p>
            <a:endParaRPr lang="en-IN"/>
          </a:p>
        </p:txBody>
      </p:sp>
      <p:sp>
        <p:nvSpPr>
          <p:cNvPr id="5" name="TextBox 4">
            <a:extLst>
              <a:ext uri="{FF2B5EF4-FFF2-40B4-BE49-F238E27FC236}">
                <a16:creationId xmlns:a16="http://schemas.microsoft.com/office/drawing/2014/main" id="{42E6728A-6ECC-6C94-B8EF-9200BE62202D}"/>
              </a:ext>
            </a:extLst>
          </p:cNvPr>
          <p:cNvSpPr txBox="1"/>
          <p:nvPr/>
        </p:nvSpPr>
        <p:spPr>
          <a:xfrm>
            <a:off x="574040" y="1425992"/>
            <a:ext cx="4582160" cy="307777"/>
          </a:xfrm>
          <a:prstGeom prst="rect">
            <a:avLst/>
          </a:prstGeom>
          <a:noFill/>
        </p:spPr>
        <p:txBody>
          <a:bodyPr wrap="square">
            <a:spAutoFit/>
          </a:bodyPr>
          <a:lstStyle/>
          <a:p>
            <a:pPr>
              <a:buNone/>
            </a:pPr>
            <a:r>
              <a:rPr lang="en-IN" b="1" dirty="0"/>
              <a:t>c) SSD M.2 </a:t>
            </a:r>
            <a:r>
              <a:rPr lang="en-IN" b="1" dirty="0" err="1"/>
              <a:t>NVMe</a:t>
            </a:r>
            <a:r>
              <a:rPr lang="en-IN" b="1" dirty="0"/>
              <a:t> </a:t>
            </a:r>
          </a:p>
        </p:txBody>
      </p:sp>
      <p:pic>
        <p:nvPicPr>
          <p:cNvPr id="7" name="Picture 6" descr="NVMe SSDs redefined storage performance with blistering speeds and ultra-low latency. Unlike SATA interfaces, NVMe utilizes the PCIe interface designed specifically for flash-based SSD storage, unlocking the full potential of solid-state technology. This storage type can be applied through various form factors such as NVMe M.2.">
            <a:extLst>
              <a:ext uri="{FF2B5EF4-FFF2-40B4-BE49-F238E27FC236}">
                <a16:creationId xmlns:a16="http://schemas.microsoft.com/office/drawing/2014/main" id="{930D350D-A3E2-BAD0-4356-DD15C1F9166F}"/>
              </a:ext>
            </a:extLst>
          </p:cNvPr>
          <p:cNvPicPr>
            <a:picLocks noChangeAspect="1"/>
          </p:cNvPicPr>
          <p:nvPr/>
        </p:nvPicPr>
        <p:blipFill>
          <a:blip r:embed="rId2"/>
          <a:srcRect l="26054" t="37111" r="25758" b="38056"/>
          <a:stretch>
            <a:fillRect/>
          </a:stretch>
        </p:blipFill>
        <p:spPr>
          <a:xfrm>
            <a:off x="5323840" y="1884680"/>
            <a:ext cx="3312162" cy="1066801"/>
          </a:xfrm>
          <a:prstGeom prst="rect">
            <a:avLst/>
          </a:prstGeom>
        </p:spPr>
      </p:pic>
      <p:sp>
        <p:nvSpPr>
          <p:cNvPr id="9" name="TextBox 8">
            <a:extLst>
              <a:ext uri="{FF2B5EF4-FFF2-40B4-BE49-F238E27FC236}">
                <a16:creationId xmlns:a16="http://schemas.microsoft.com/office/drawing/2014/main" id="{B8BAAA3A-096D-F3B5-0E30-B063F781CA67}"/>
              </a:ext>
            </a:extLst>
          </p:cNvPr>
          <p:cNvSpPr txBox="1"/>
          <p:nvPr/>
        </p:nvSpPr>
        <p:spPr>
          <a:xfrm>
            <a:off x="574040" y="1682131"/>
            <a:ext cx="4749800" cy="2270109"/>
          </a:xfrm>
          <a:prstGeom prst="rect">
            <a:avLst/>
          </a:prstGeom>
          <a:noFill/>
        </p:spPr>
        <p:txBody>
          <a:bodyPr wrap="square">
            <a:spAutoFit/>
          </a:bodyPr>
          <a:lstStyle/>
          <a:p>
            <a:pPr marL="342900" lvl="0" indent="-342900">
              <a:lnSpc>
                <a:spcPct val="150000"/>
              </a:lnSpc>
              <a:buFont typeface="Wingdings" panose="05000000000000000000" pitchFamily="2" charset="2"/>
              <a:buChar char="§"/>
            </a:pPr>
            <a:r>
              <a:rPr lang="en-IN" sz="1600" b="1" dirty="0">
                <a:latin typeface="Calibri" panose="020F0502020204030204" pitchFamily="34" charset="0"/>
                <a:ea typeface="Calibri" panose="020F0502020204030204" pitchFamily="34" charset="0"/>
                <a:cs typeface="Calibri" panose="020F0502020204030204" pitchFamily="34" charset="0"/>
              </a:rPr>
              <a:t>The most popular today </a:t>
            </a:r>
            <a:r>
              <a:rPr lang="en-IN" sz="1600" dirty="0">
                <a:latin typeface="Calibri" panose="020F0502020204030204" pitchFamily="34" charset="0"/>
                <a:ea typeface="Calibri" panose="020F0502020204030204" pitchFamily="34" charset="0"/>
                <a:cs typeface="Calibri" panose="020F0502020204030204" pitchFamily="34" charset="0"/>
              </a:rPr>
              <a:t>. </a:t>
            </a:r>
          </a:p>
          <a:p>
            <a:pPr marL="342900" lvl="0" indent="-342900">
              <a:lnSpc>
                <a:spcPct val="150000"/>
              </a:lnSpc>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Use the PCIe bus via the M.2 format. </a:t>
            </a:r>
          </a:p>
          <a:p>
            <a:pPr marL="342900" lvl="0" indent="-342900">
              <a:lnSpc>
                <a:spcPct val="150000"/>
              </a:lnSpc>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Speeds ranging from 2000 MB/s to over 7000 MB/s depending on the generation (PCIe 3.0, 4.0, 5.0). </a:t>
            </a:r>
          </a:p>
          <a:p>
            <a:pPr marL="342900" lvl="0" indent="-342900">
              <a:lnSpc>
                <a:spcPct val="150000"/>
              </a:lnSpc>
              <a:buFont typeface="Wingdings" panose="05000000000000000000" pitchFamily="2" charset="2"/>
              <a:buChar char="§"/>
            </a:pPr>
            <a:r>
              <a:rPr lang="en-IN" sz="1600" b="1" dirty="0">
                <a:latin typeface="Calibri" panose="020F0502020204030204" pitchFamily="34" charset="0"/>
                <a:ea typeface="Calibri" panose="020F0502020204030204" pitchFamily="34" charset="0"/>
                <a:cs typeface="Calibri" panose="020F0502020204030204" pitchFamily="34" charset="0"/>
              </a:rPr>
              <a:t>Ideal for gamers </a:t>
            </a:r>
            <a:r>
              <a:rPr lang="en-IN" sz="1600" dirty="0">
                <a:latin typeface="Calibri" panose="020F0502020204030204" pitchFamily="34" charset="0"/>
                <a:ea typeface="Calibri" panose="020F0502020204030204" pitchFamily="34" charset="0"/>
                <a:cs typeface="Calibri" panose="020F0502020204030204" pitchFamily="34" charset="0"/>
              </a:rPr>
              <a:t>and content creators. </a:t>
            </a:r>
          </a:p>
        </p:txBody>
      </p:sp>
      <p:sp>
        <p:nvSpPr>
          <p:cNvPr id="11" name="TextBox 10">
            <a:extLst>
              <a:ext uri="{FF2B5EF4-FFF2-40B4-BE49-F238E27FC236}">
                <a16:creationId xmlns:a16="http://schemas.microsoft.com/office/drawing/2014/main" id="{3EEC9ECA-120D-A386-0221-9964D1A53DD8}"/>
              </a:ext>
            </a:extLst>
          </p:cNvPr>
          <p:cNvSpPr txBox="1"/>
          <p:nvPr/>
        </p:nvSpPr>
        <p:spPr>
          <a:xfrm>
            <a:off x="574040" y="4203037"/>
            <a:ext cx="4582160" cy="307777"/>
          </a:xfrm>
          <a:prstGeom prst="rect">
            <a:avLst/>
          </a:prstGeom>
          <a:noFill/>
        </p:spPr>
        <p:txBody>
          <a:bodyPr wrap="square">
            <a:spAutoFit/>
          </a:bodyPr>
          <a:lstStyle/>
          <a:p>
            <a:pPr>
              <a:buNone/>
            </a:pPr>
            <a:r>
              <a:rPr lang="en-IN" b="1" dirty="0"/>
              <a:t>d) SSD PCIe (Add-in Card) </a:t>
            </a:r>
          </a:p>
        </p:txBody>
      </p:sp>
      <p:pic>
        <p:nvPicPr>
          <p:cNvPr id="13" name="Picture 12" descr="PCIe SSDs leverage the high-bandwidth PCIe interface to deliver exceptional storage performance. By directly interfacing with the PCIe bus, these SSDs can achieve remarkable data transfer rates, making them ideal for applications demanding maximum speed.">
            <a:extLst>
              <a:ext uri="{FF2B5EF4-FFF2-40B4-BE49-F238E27FC236}">
                <a16:creationId xmlns:a16="http://schemas.microsoft.com/office/drawing/2014/main" id="{46E08EA1-CAC7-F586-D37B-806EDD860E80}"/>
              </a:ext>
            </a:extLst>
          </p:cNvPr>
          <p:cNvPicPr>
            <a:picLocks noChangeAspect="1"/>
          </p:cNvPicPr>
          <p:nvPr/>
        </p:nvPicPr>
        <p:blipFill>
          <a:blip r:embed="rId3"/>
          <a:srcRect l="26054" t="37347" r="25758" b="37819"/>
          <a:stretch>
            <a:fillRect/>
          </a:stretch>
        </p:blipFill>
        <p:spPr>
          <a:xfrm>
            <a:off x="5323840" y="4424619"/>
            <a:ext cx="3312162" cy="1066802"/>
          </a:xfrm>
          <a:prstGeom prst="rect">
            <a:avLst/>
          </a:prstGeom>
        </p:spPr>
      </p:pic>
      <p:sp>
        <p:nvSpPr>
          <p:cNvPr id="15" name="TextBox 14">
            <a:extLst>
              <a:ext uri="{FF2B5EF4-FFF2-40B4-BE49-F238E27FC236}">
                <a16:creationId xmlns:a16="http://schemas.microsoft.com/office/drawing/2014/main" id="{FE7CB2F5-9DA4-5D0D-C639-21A7B92594B4}"/>
              </a:ext>
            </a:extLst>
          </p:cNvPr>
          <p:cNvSpPr txBox="1"/>
          <p:nvPr/>
        </p:nvSpPr>
        <p:spPr>
          <a:xfrm>
            <a:off x="657860" y="4503345"/>
            <a:ext cx="4582160" cy="1345048"/>
          </a:xfrm>
          <a:prstGeom prst="rect">
            <a:avLst/>
          </a:prstGeom>
          <a:noFill/>
        </p:spPr>
        <p:txBody>
          <a:bodyPr wrap="square">
            <a:spAutoFit/>
          </a:bodyPr>
          <a:lstStyle/>
          <a:p>
            <a:pPr marL="342900" lvl="0" indent="-342900">
              <a:lnSpc>
                <a:spcPct val="150000"/>
              </a:lnSpc>
              <a:buFont typeface="Wingdings" panose="05000000000000000000" pitchFamily="2" charset="2"/>
              <a:buChar char="§"/>
            </a:pPr>
            <a:r>
              <a:rPr lang="en-IN" dirty="0">
                <a:latin typeface="Calibri" panose="020F0502020204030204" pitchFamily="34" charset="0"/>
                <a:ea typeface="Calibri" panose="020F0502020204030204" pitchFamily="34" charset="0"/>
                <a:cs typeface="Calibri" panose="020F0502020204030204" pitchFamily="34" charset="0"/>
              </a:rPr>
              <a:t>Presents itself in the form of a PCIe card plugged directly into a PCIe x4 or x16 port. </a:t>
            </a:r>
          </a:p>
          <a:p>
            <a:pPr marL="342900" lvl="0" indent="-342900">
              <a:lnSpc>
                <a:spcPct val="150000"/>
              </a:lnSpc>
              <a:buFont typeface="Wingdings" panose="05000000000000000000" pitchFamily="2" charset="2"/>
              <a:buChar char="§"/>
            </a:pPr>
            <a:r>
              <a:rPr lang="en-IN" dirty="0">
                <a:latin typeface="Calibri" panose="020F0502020204030204" pitchFamily="34" charset="0"/>
                <a:ea typeface="Calibri" panose="020F0502020204030204" pitchFamily="34" charset="0"/>
                <a:cs typeface="Calibri" panose="020F0502020204030204" pitchFamily="34" charset="0"/>
              </a:rPr>
              <a:t>Mainly used in servers and workstations. </a:t>
            </a:r>
          </a:p>
          <a:p>
            <a:pPr marL="342900" lvl="0" indent="-342900">
              <a:lnSpc>
                <a:spcPct val="150000"/>
              </a:lnSpc>
              <a:buFont typeface="Wingdings" panose="05000000000000000000" pitchFamily="2" charset="2"/>
              <a:buChar char="§"/>
            </a:pPr>
            <a:r>
              <a:rPr lang="en-IN" b="1" dirty="0">
                <a:latin typeface="Calibri" panose="020F0502020204030204" pitchFamily="34" charset="0"/>
                <a:ea typeface="Calibri" panose="020F0502020204030204" pitchFamily="34" charset="0"/>
                <a:cs typeface="Calibri" panose="020F0502020204030204" pitchFamily="34" charset="0"/>
              </a:rPr>
              <a:t>Very high performance</a:t>
            </a:r>
            <a:r>
              <a:rPr lang="en-IN" dirty="0">
                <a:latin typeface="Calibri" panose="020F0502020204030204" pitchFamily="34" charset="0"/>
                <a:ea typeface="Calibri" panose="020F0502020204030204" pitchFamily="34" charset="0"/>
                <a:cs typeface="Calibri" panose="020F0502020204030204" pitchFamily="34" charset="0"/>
              </a:rPr>
              <a:t>, but bulky. </a:t>
            </a:r>
          </a:p>
        </p:txBody>
      </p:sp>
    </p:spTree>
    <p:extLst>
      <p:ext uri="{BB962C8B-B14F-4D97-AF65-F5344CB8AC3E}">
        <p14:creationId xmlns:p14="http://schemas.microsoft.com/office/powerpoint/2010/main" val="446944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D2E3D3-CDAD-83DA-8C8F-1DF059C81435}"/>
              </a:ext>
            </a:extLst>
          </p:cNvPr>
          <p:cNvSpPr txBox="1"/>
          <p:nvPr/>
        </p:nvSpPr>
        <p:spPr>
          <a:xfrm>
            <a:off x="452120" y="1415343"/>
            <a:ext cx="4582160" cy="307777"/>
          </a:xfrm>
          <a:prstGeom prst="rect">
            <a:avLst/>
          </a:prstGeom>
          <a:noFill/>
        </p:spPr>
        <p:txBody>
          <a:bodyPr wrap="square">
            <a:spAutoFit/>
          </a:bodyPr>
          <a:lstStyle/>
          <a:p>
            <a:pPr>
              <a:buNone/>
            </a:pPr>
            <a:r>
              <a:rPr lang="en-IN" b="1" dirty="0">
                <a:latin typeface="Calibri" panose="020F0502020204030204" pitchFamily="34" charset="0"/>
                <a:ea typeface="Calibri" panose="020F0502020204030204" pitchFamily="34" charset="0"/>
                <a:cs typeface="Calibri" panose="020F0502020204030204" pitchFamily="34" charset="0"/>
              </a:rPr>
              <a:t>e) External SSD </a:t>
            </a:r>
          </a:p>
        </p:txBody>
      </p:sp>
      <p:sp>
        <p:nvSpPr>
          <p:cNvPr id="7" name="TextBox 6">
            <a:extLst>
              <a:ext uri="{FF2B5EF4-FFF2-40B4-BE49-F238E27FC236}">
                <a16:creationId xmlns:a16="http://schemas.microsoft.com/office/drawing/2014/main" id="{EF0BE746-69EA-844F-1369-38C2E81DAEE3}"/>
              </a:ext>
            </a:extLst>
          </p:cNvPr>
          <p:cNvSpPr txBox="1"/>
          <p:nvPr/>
        </p:nvSpPr>
        <p:spPr>
          <a:xfrm>
            <a:off x="594360" y="1723120"/>
            <a:ext cx="4582160" cy="1162113"/>
          </a:xfrm>
          <a:prstGeom prst="rect">
            <a:avLst/>
          </a:prstGeom>
          <a:noFill/>
        </p:spPr>
        <p:txBody>
          <a:bodyPr wrap="square">
            <a:spAutoFit/>
          </a:bodyPr>
          <a:lstStyle/>
          <a:p>
            <a:pPr marL="342900" lvl="0" indent="-342900">
              <a:lnSpc>
                <a:spcPct val="150000"/>
              </a:lnSpc>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Connected via USB 3.2, USB 4, or Thunderbolt. </a:t>
            </a:r>
          </a:p>
          <a:p>
            <a:pPr marL="342900" lvl="0" indent="-342900">
              <a:lnSpc>
                <a:spcPct val="150000"/>
              </a:lnSpc>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Variable speed depending on the interface. </a:t>
            </a:r>
          </a:p>
          <a:p>
            <a:pPr marL="342900" lvl="0" indent="-342900">
              <a:lnSpc>
                <a:spcPct val="150000"/>
              </a:lnSpc>
              <a:buFont typeface="Wingdings" panose="05000000000000000000" pitchFamily="2" charset="2"/>
              <a:buChar char="§"/>
            </a:pPr>
            <a:r>
              <a:rPr lang="en-IN" sz="1600" dirty="0">
                <a:latin typeface="Calibri" panose="020F0502020204030204" pitchFamily="34" charset="0"/>
                <a:ea typeface="Calibri" panose="020F0502020204030204" pitchFamily="34" charset="0"/>
                <a:cs typeface="Calibri" panose="020F0502020204030204" pitchFamily="34" charset="0"/>
              </a:rPr>
              <a:t>Convenient for backing up and transporting data. </a:t>
            </a:r>
          </a:p>
        </p:txBody>
      </p:sp>
      <p:pic>
        <p:nvPicPr>
          <p:cNvPr id="9" name="Picture 8">
            <a:extLst>
              <a:ext uri="{FF2B5EF4-FFF2-40B4-BE49-F238E27FC236}">
                <a16:creationId xmlns:a16="http://schemas.microsoft.com/office/drawing/2014/main" id="{E9CA42B9-2368-200B-F47E-08D788073993}"/>
              </a:ext>
            </a:extLst>
          </p:cNvPr>
          <p:cNvPicPr>
            <a:picLocks noChangeAspect="1"/>
          </p:cNvPicPr>
          <p:nvPr/>
        </p:nvPicPr>
        <p:blipFill>
          <a:blip r:embed="rId2"/>
          <a:srcRect l="20111" t="8778" r="19889" b="13000"/>
          <a:stretch>
            <a:fillRect/>
          </a:stretch>
        </p:blipFill>
        <p:spPr>
          <a:xfrm>
            <a:off x="5709920" y="1324392"/>
            <a:ext cx="2702560" cy="1761669"/>
          </a:xfrm>
          <a:prstGeom prst="rect">
            <a:avLst/>
          </a:prstGeom>
        </p:spPr>
      </p:pic>
      <p:sp>
        <p:nvSpPr>
          <p:cNvPr id="11" name="TextBox 10">
            <a:extLst>
              <a:ext uri="{FF2B5EF4-FFF2-40B4-BE49-F238E27FC236}">
                <a16:creationId xmlns:a16="http://schemas.microsoft.com/office/drawing/2014/main" id="{16B57B5F-7007-78A8-EA26-306754624A8B}"/>
              </a:ext>
            </a:extLst>
          </p:cNvPr>
          <p:cNvSpPr txBox="1"/>
          <p:nvPr/>
        </p:nvSpPr>
        <p:spPr>
          <a:xfrm>
            <a:off x="523240" y="2885233"/>
            <a:ext cx="5186680" cy="1997919"/>
          </a:xfrm>
          <a:prstGeom prst="rect">
            <a:avLst/>
          </a:prstGeom>
          <a:noFill/>
        </p:spPr>
        <p:txBody>
          <a:bodyPr wrap="square">
            <a:spAutoFit/>
          </a:bodyPr>
          <a:lstStyle/>
          <a:p>
            <a:pPr>
              <a:lnSpc>
                <a:spcPct val="150000"/>
              </a:lnSpc>
            </a:pPr>
            <a:r>
              <a:rPr lang="en-IN" b="1" dirty="0">
                <a:latin typeface="Calibri" panose="020F0502020204030204" pitchFamily="34" charset="0"/>
                <a:ea typeface="Calibri" panose="020F0502020204030204" pitchFamily="34" charset="0"/>
                <a:cs typeface="Calibri" panose="020F0502020204030204" pitchFamily="34" charset="0"/>
              </a:rPr>
              <a:t>SSD Speed </a:t>
            </a:r>
          </a:p>
          <a:p>
            <a:pPr marL="285750" indent="-285750">
              <a:lnSpc>
                <a:spcPct val="150000"/>
              </a:lnSpc>
              <a:buFont typeface="Wingdings" panose="05000000000000000000" pitchFamily="2" charset="2"/>
              <a:buChar char="§"/>
            </a:pPr>
            <a:r>
              <a:rPr lang="en-IN" dirty="0">
                <a:latin typeface="Calibri" panose="020F0502020204030204" pitchFamily="34" charset="0"/>
                <a:ea typeface="Calibri" panose="020F0502020204030204" pitchFamily="34" charset="0"/>
                <a:cs typeface="Calibri" panose="020F0502020204030204" pitchFamily="34" charset="0"/>
              </a:rPr>
              <a:t>A key point that differentiates types of SSDs is their speed. </a:t>
            </a:r>
          </a:p>
          <a:p>
            <a:pPr marL="342900" lvl="0" indent="-342900">
              <a:lnSpc>
                <a:spcPct val="150000"/>
              </a:lnSpc>
              <a:buFont typeface="Wingdings" panose="05000000000000000000" pitchFamily="2" charset="2"/>
              <a:buChar char="§"/>
            </a:pPr>
            <a:r>
              <a:rPr lang="en-IN" b="1" dirty="0">
                <a:latin typeface="Calibri" panose="020F0502020204030204" pitchFamily="34" charset="0"/>
                <a:ea typeface="Calibri" panose="020F0502020204030204" pitchFamily="34" charset="0"/>
                <a:cs typeface="Calibri" panose="020F0502020204030204" pitchFamily="34" charset="0"/>
              </a:rPr>
              <a:t>SATA III </a:t>
            </a:r>
            <a:r>
              <a:rPr lang="en-IN" dirty="0">
                <a:latin typeface="Calibri" panose="020F0502020204030204" pitchFamily="34" charset="0"/>
                <a:ea typeface="Calibri" panose="020F0502020204030204" pitchFamily="34" charset="0"/>
                <a:cs typeface="Calibri" panose="020F0502020204030204" pitchFamily="34" charset="0"/>
              </a:rPr>
              <a:t>→ ≈ 500–550 MB/s </a:t>
            </a:r>
          </a:p>
          <a:p>
            <a:pPr marL="342900" lvl="0" indent="-342900">
              <a:lnSpc>
                <a:spcPct val="150000"/>
              </a:lnSpc>
              <a:buFont typeface="Wingdings" panose="05000000000000000000" pitchFamily="2" charset="2"/>
              <a:buChar char="§"/>
            </a:pPr>
            <a:r>
              <a:rPr lang="en-IN" b="1" dirty="0" err="1">
                <a:latin typeface="Calibri" panose="020F0502020204030204" pitchFamily="34" charset="0"/>
                <a:ea typeface="Calibri" panose="020F0502020204030204" pitchFamily="34" charset="0"/>
                <a:cs typeface="Calibri" panose="020F0502020204030204" pitchFamily="34" charset="0"/>
              </a:rPr>
              <a:t>NVMe</a:t>
            </a:r>
            <a:r>
              <a:rPr lang="en-IN" b="1" dirty="0">
                <a:latin typeface="Calibri" panose="020F0502020204030204" pitchFamily="34" charset="0"/>
                <a:ea typeface="Calibri" panose="020F0502020204030204" pitchFamily="34" charset="0"/>
                <a:cs typeface="Calibri" panose="020F0502020204030204" pitchFamily="34" charset="0"/>
              </a:rPr>
              <a:t> PCIe 3.0 </a:t>
            </a:r>
            <a:r>
              <a:rPr lang="en-IN" dirty="0">
                <a:latin typeface="Calibri" panose="020F0502020204030204" pitchFamily="34" charset="0"/>
                <a:ea typeface="Calibri" panose="020F0502020204030204" pitchFamily="34" charset="0"/>
                <a:cs typeface="Calibri" panose="020F0502020204030204" pitchFamily="34" charset="0"/>
              </a:rPr>
              <a:t>→ 2000 to 3500 MB/s </a:t>
            </a:r>
          </a:p>
          <a:p>
            <a:pPr marL="342900" lvl="0" indent="-342900">
              <a:lnSpc>
                <a:spcPct val="150000"/>
              </a:lnSpc>
              <a:buFont typeface="Wingdings" panose="05000000000000000000" pitchFamily="2" charset="2"/>
              <a:buChar char="§"/>
            </a:pPr>
            <a:r>
              <a:rPr lang="en-IN" b="1" dirty="0" err="1">
                <a:latin typeface="Calibri" panose="020F0502020204030204" pitchFamily="34" charset="0"/>
                <a:ea typeface="Calibri" panose="020F0502020204030204" pitchFamily="34" charset="0"/>
                <a:cs typeface="Calibri" panose="020F0502020204030204" pitchFamily="34" charset="0"/>
              </a:rPr>
              <a:t>NVMe</a:t>
            </a:r>
            <a:r>
              <a:rPr lang="en-IN" b="1" dirty="0">
                <a:latin typeface="Calibri" panose="020F0502020204030204" pitchFamily="34" charset="0"/>
                <a:ea typeface="Calibri" panose="020F0502020204030204" pitchFamily="34" charset="0"/>
                <a:cs typeface="Calibri" panose="020F0502020204030204" pitchFamily="34" charset="0"/>
              </a:rPr>
              <a:t> PCIe 4.0 </a:t>
            </a:r>
            <a:r>
              <a:rPr lang="en-IN" dirty="0">
                <a:latin typeface="Calibri" panose="020F0502020204030204" pitchFamily="34" charset="0"/>
                <a:ea typeface="Calibri" panose="020F0502020204030204" pitchFamily="34" charset="0"/>
                <a:cs typeface="Calibri" panose="020F0502020204030204" pitchFamily="34" charset="0"/>
              </a:rPr>
              <a:t>→ 5000 to 7500 MB/s </a:t>
            </a:r>
          </a:p>
          <a:p>
            <a:pPr marL="342900" lvl="0" indent="-342900">
              <a:lnSpc>
                <a:spcPct val="150000"/>
              </a:lnSpc>
              <a:buFont typeface="Wingdings" panose="05000000000000000000" pitchFamily="2" charset="2"/>
              <a:buChar char="§"/>
            </a:pPr>
            <a:r>
              <a:rPr lang="en-IN" b="1" dirty="0" err="1">
                <a:latin typeface="Calibri" panose="020F0502020204030204" pitchFamily="34" charset="0"/>
                <a:ea typeface="Calibri" panose="020F0502020204030204" pitchFamily="34" charset="0"/>
                <a:cs typeface="Calibri" panose="020F0502020204030204" pitchFamily="34" charset="0"/>
              </a:rPr>
              <a:t>NVMe</a:t>
            </a:r>
            <a:r>
              <a:rPr lang="en-IN" b="1" dirty="0">
                <a:latin typeface="Calibri" panose="020F0502020204030204" pitchFamily="34" charset="0"/>
                <a:ea typeface="Calibri" panose="020F0502020204030204" pitchFamily="34" charset="0"/>
                <a:cs typeface="Calibri" panose="020F0502020204030204" pitchFamily="34" charset="0"/>
              </a:rPr>
              <a:t> PCIe 5.0 </a:t>
            </a:r>
            <a:r>
              <a:rPr lang="en-IN" dirty="0">
                <a:latin typeface="Calibri" panose="020F0502020204030204" pitchFamily="34" charset="0"/>
                <a:ea typeface="Calibri" panose="020F0502020204030204" pitchFamily="34" charset="0"/>
                <a:cs typeface="Calibri" panose="020F0502020204030204" pitchFamily="34" charset="0"/>
              </a:rPr>
              <a:t>→ can exceed 10,000 MB/s </a:t>
            </a:r>
          </a:p>
        </p:txBody>
      </p:sp>
      <p:sp>
        <p:nvSpPr>
          <p:cNvPr id="13" name="TextBox 12">
            <a:extLst>
              <a:ext uri="{FF2B5EF4-FFF2-40B4-BE49-F238E27FC236}">
                <a16:creationId xmlns:a16="http://schemas.microsoft.com/office/drawing/2014/main" id="{70D199D6-50D1-7DAC-4BB1-6ED43294E997}"/>
              </a:ext>
            </a:extLst>
          </p:cNvPr>
          <p:cNvSpPr txBox="1"/>
          <p:nvPr/>
        </p:nvSpPr>
        <p:spPr>
          <a:xfrm>
            <a:off x="523240" y="4883152"/>
            <a:ext cx="4582160" cy="1443152"/>
          </a:xfrm>
          <a:prstGeom prst="rect">
            <a:avLst/>
          </a:prstGeom>
          <a:noFill/>
        </p:spPr>
        <p:txBody>
          <a:bodyPr wrap="square">
            <a:spAutoFit/>
          </a:bodyPr>
          <a:lstStyle/>
          <a:p>
            <a:pPr>
              <a:lnSpc>
                <a:spcPct val="150000"/>
              </a:lnSpc>
            </a:pPr>
            <a:r>
              <a:rPr lang="en-IN" sz="1200" b="1" dirty="0"/>
              <a:t>SSD size </a:t>
            </a:r>
          </a:p>
          <a:p>
            <a:pPr marL="171450" indent="-171450">
              <a:lnSpc>
                <a:spcPct val="150000"/>
              </a:lnSpc>
              <a:buFont typeface="Wingdings" panose="05000000000000000000" pitchFamily="2" charset="2"/>
              <a:buChar char="§"/>
            </a:pPr>
            <a:r>
              <a:rPr lang="en-IN" sz="1200" dirty="0"/>
              <a:t>The SSD size (capacity) is also an important criterion. </a:t>
            </a:r>
          </a:p>
          <a:p>
            <a:pPr marL="342900" lvl="0" indent="-342900">
              <a:lnSpc>
                <a:spcPct val="150000"/>
              </a:lnSpc>
              <a:buFont typeface="Wingdings" panose="05000000000000000000" pitchFamily="2" charset="2"/>
              <a:buChar char="§"/>
            </a:pPr>
            <a:r>
              <a:rPr lang="en-IN" sz="1200" b="1" dirty="0"/>
              <a:t>250 GB - 500 GB </a:t>
            </a:r>
            <a:r>
              <a:rPr lang="en-IN" sz="1200" dirty="0"/>
              <a:t>→ sufficient for Windows and a few apps. </a:t>
            </a:r>
          </a:p>
          <a:p>
            <a:pPr marL="342900" lvl="0" indent="-342900">
              <a:lnSpc>
                <a:spcPct val="150000"/>
              </a:lnSpc>
              <a:buFont typeface="Wingdings" panose="05000000000000000000" pitchFamily="2" charset="2"/>
              <a:buChar char="§"/>
            </a:pPr>
            <a:r>
              <a:rPr lang="en-IN" sz="1200" b="1" dirty="0"/>
              <a:t>1 To </a:t>
            </a:r>
            <a:r>
              <a:rPr lang="en-IN" sz="1200" dirty="0"/>
              <a:t>→ the best compromise for OS + software + games. </a:t>
            </a:r>
          </a:p>
          <a:p>
            <a:pPr marL="342900" lvl="0" indent="-342900">
              <a:lnSpc>
                <a:spcPct val="150000"/>
              </a:lnSpc>
              <a:buFont typeface="Wingdings" panose="05000000000000000000" pitchFamily="2" charset="2"/>
              <a:buChar char="§"/>
            </a:pPr>
            <a:r>
              <a:rPr lang="en-IN" sz="1200" b="1" dirty="0"/>
              <a:t>2 To and more </a:t>
            </a:r>
            <a:r>
              <a:rPr lang="en-IN" sz="1200" dirty="0"/>
              <a:t>→ perfect for big gamers or video creators. </a:t>
            </a:r>
          </a:p>
        </p:txBody>
      </p:sp>
    </p:spTree>
    <p:extLst>
      <p:ext uri="{BB962C8B-B14F-4D97-AF65-F5344CB8AC3E}">
        <p14:creationId xmlns:p14="http://schemas.microsoft.com/office/powerpoint/2010/main" val="2569472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09802BF-7653-CD6A-70B4-912C28ABFE3E}"/>
              </a:ext>
            </a:extLst>
          </p:cNvPr>
          <p:cNvGraphicFramePr>
            <a:graphicFrameLocks noGrp="1"/>
          </p:cNvGraphicFramePr>
          <p:nvPr>
            <p:extLst>
              <p:ext uri="{D42A27DB-BD31-4B8C-83A1-F6EECF244321}">
                <p14:modId xmlns:p14="http://schemas.microsoft.com/office/powerpoint/2010/main" val="945663135"/>
              </p:ext>
            </p:extLst>
          </p:nvPr>
        </p:nvGraphicFramePr>
        <p:xfrm>
          <a:off x="812800" y="934720"/>
          <a:ext cx="7650480" cy="5628643"/>
        </p:xfrm>
        <a:graphic>
          <a:graphicData uri="http://schemas.openxmlformats.org/drawingml/2006/table">
            <a:tbl>
              <a:tblPr>
                <a:tableStyleId>{EB344D84-9AFB-497E-A393-DC336BA19D2E}</a:tableStyleId>
              </a:tblPr>
              <a:tblGrid>
                <a:gridCol w="1856914">
                  <a:extLst>
                    <a:ext uri="{9D8B030D-6E8A-4147-A177-3AD203B41FA5}">
                      <a16:colId xmlns:a16="http://schemas.microsoft.com/office/drawing/2014/main" val="1033700183"/>
                    </a:ext>
                  </a:extLst>
                </a:gridCol>
                <a:gridCol w="3034726">
                  <a:extLst>
                    <a:ext uri="{9D8B030D-6E8A-4147-A177-3AD203B41FA5}">
                      <a16:colId xmlns:a16="http://schemas.microsoft.com/office/drawing/2014/main" val="1460308701"/>
                    </a:ext>
                  </a:extLst>
                </a:gridCol>
                <a:gridCol w="2758840">
                  <a:extLst>
                    <a:ext uri="{9D8B030D-6E8A-4147-A177-3AD203B41FA5}">
                      <a16:colId xmlns:a16="http://schemas.microsoft.com/office/drawing/2014/main" val="1214975654"/>
                    </a:ext>
                  </a:extLst>
                </a:gridCol>
              </a:tblGrid>
              <a:tr h="302253">
                <a:tc>
                  <a:txBody>
                    <a:bodyPr/>
                    <a:lstStyle/>
                    <a:p>
                      <a:pPr algn="l">
                        <a:buNone/>
                      </a:pPr>
                      <a:r>
                        <a:rPr lang="en-IN" sz="1400" b="1">
                          <a:effectLst/>
                        </a:rPr>
                        <a:t>Feature</a:t>
                      </a:r>
                      <a:endParaRPr lang="en-IN" sz="1400">
                        <a:effectLst/>
                      </a:endParaRPr>
                    </a:p>
                  </a:txBody>
                  <a:tcPr marL="66558" marR="66558" marT="33279" marB="33279" anchor="ctr"/>
                </a:tc>
                <a:tc>
                  <a:txBody>
                    <a:bodyPr/>
                    <a:lstStyle/>
                    <a:p>
                      <a:pPr algn="l">
                        <a:buNone/>
                      </a:pPr>
                      <a:r>
                        <a:rPr lang="en-IN" sz="1400" b="1">
                          <a:effectLst/>
                        </a:rPr>
                        <a:t>HDD (Hard Disk Drive)</a:t>
                      </a:r>
                      <a:endParaRPr lang="en-IN" sz="1400">
                        <a:effectLst/>
                      </a:endParaRPr>
                    </a:p>
                  </a:txBody>
                  <a:tcPr marL="66558" marR="66558" marT="33279" marB="33279" anchor="ctr"/>
                </a:tc>
                <a:tc>
                  <a:txBody>
                    <a:bodyPr/>
                    <a:lstStyle/>
                    <a:p>
                      <a:pPr algn="l">
                        <a:buNone/>
                      </a:pPr>
                      <a:r>
                        <a:rPr lang="en-IN" sz="1400" b="1">
                          <a:effectLst/>
                        </a:rPr>
                        <a:t>SSD (Solid State Drive)</a:t>
                      </a:r>
                      <a:endParaRPr lang="en-IN" sz="1400">
                        <a:effectLst/>
                      </a:endParaRPr>
                    </a:p>
                  </a:txBody>
                  <a:tcPr marL="66558" marR="66558" marT="33279" marB="33279" anchor="ctr"/>
                </a:tc>
                <a:extLst>
                  <a:ext uri="{0D108BD9-81ED-4DB2-BD59-A6C34878D82A}">
                    <a16:rowId xmlns:a16="http://schemas.microsoft.com/office/drawing/2014/main" val="2614082915"/>
                  </a:ext>
                </a:extLst>
              </a:tr>
              <a:tr h="532639">
                <a:tc>
                  <a:txBody>
                    <a:bodyPr/>
                    <a:lstStyle/>
                    <a:p>
                      <a:pPr rtl="0">
                        <a:buNone/>
                      </a:pPr>
                      <a:r>
                        <a:rPr lang="en-IN" sz="1400" b="1"/>
                        <a:t>Definition</a:t>
                      </a:r>
                      <a:endParaRPr lang="en-IN" sz="1400"/>
                    </a:p>
                  </a:txBody>
                  <a:tcPr marL="66558" marR="66558" marT="33279" marB="33279" anchor="ctr"/>
                </a:tc>
                <a:tc>
                  <a:txBody>
                    <a:bodyPr/>
                    <a:lstStyle/>
                    <a:p>
                      <a:pPr rtl="0">
                        <a:buNone/>
                      </a:pPr>
                      <a:r>
                        <a:rPr lang="en-IN" sz="1400"/>
                        <a:t>Uses spinning disks and mechanical parts</a:t>
                      </a:r>
                    </a:p>
                  </a:txBody>
                  <a:tcPr marL="66558" marR="66558" marT="33279" marB="33279" anchor="ctr"/>
                </a:tc>
                <a:tc>
                  <a:txBody>
                    <a:bodyPr/>
                    <a:lstStyle/>
                    <a:p>
                      <a:pPr rtl="0">
                        <a:buNone/>
                      </a:pPr>
                      <a:r>
                        <a:rPr lang="en-IN" sz="1400" dirty="0"/>
                        <a:t>Uses electronic components (no moving parts)</a:t>
                      </a:r>
                    </a:p>
                  </a:txBody>
                  <a:tcPr marL="66558" marR="66558" marT="33279" marB="33279" anchor="ctr"/>
                </a:tc>
                <a:extLst>
                  <a:ext uri="{0D108BD9-81ED-4DB2-BD59-A6C34878D82A}">
                    <a16:rowId xmlns:a16="http://schemas.microsoft.com/office/drawing/2014/main" val="3092281591"/>
                  </a:ext>
                </a:extLst>
              </a:tr>
              <a:tr h="532639">
                <a:tc>
                  <a:txBody>
                    <a:bodyPr/>
                    <a:lstStyle/>
                    <a:p>
                      <a:pPr>
                        <a:buNone/>
                      </a:pPr>
                      <a:r>
                        <a:rPr lang="en-IN" sz="1400" b="1"/>
                        <a:t>Storage Technology</a:t>
                      </a:r>
                      <a:endParaRPr lang="en-IN" sz="1400"/>
                    </a:p>
                  </a:txBody>
                  <a:tcPr marL="66558" marR="66558" marT="33279" marB="33279" anchor="ctr"/>
                </a:tc>
                <a:tc>
                  <a:txBody>
                    <a:bodyPr/>
                    <a:lstStyle/>
                    <a:p>
                      <a:pPr>
                        <a:buNone/>
                      </a:pPr>
                      <a:r>
                        <a:rPr lang="en-IN" sz="1400"/>
                        <a:t>Uses spinning magnetic disks for storage.</a:t>
                      </a:r>
                    </a:p>
                  </a:txBody>
                  <a:tcPr marL="66558" marR="66558" marT="33279" marB="33279" anchor="ctr"/>
                </a:tc>
                <a:tc>
                  <a:txBody>
                    <a:bodyPr/>
                    <a:lstStyle/>
                    <a:p>
                      <a:pPr>
                        <a:buNone/>
                      </a:pPr>
                      <a:r>
                        <a:rPr lang="en-IN" sz="1400"/>
                        <a:t>Uses NAND flash memory with no moving parts.</a:t>
                      </a:r>
                    </a:p>
                  </a:txBody>
                  <a:tcPr marL="66558" marR="66558" marT="33279" marB="33279" anchor="ctr"/>
                </a:tc>
                <a:extLst>
                  <a:ext uri="{0D108BD9-81ED-4DB2-BD59-A6C34878D82A}">
                    <a16:rowId xmlns:a16="http://schemas.microsoft.com/office/drawing/2014/main" val="2284201243"/>
                  </a:ext>
                </a:extLst>
              </a:tr>
              <a:tr h="532639">
                <a:tc>
                  <a:txBody>
                    <a:bodyPr/>
                    <a:lstStyle/>
                    <a:p>
                      <a:pPr>
                        <a:buNone/>
                      </a:pPr>
                      <a:r>
                        <a:rPr lang="en-IN" sz="1400" b="1"/>
                        <a:t>Speed</a:t>
                      </a:r>
                      <a:endParaRPr lang="en-IN" sz="1400"/>
                    </a:p>
                  </a:txBody>
                  <a:tcPr marL="66558" marR="66558" marT="33279" marB="33279" anchor="ctr"/>
                </a:tc>
                <a:tc>
                  <a:txBody>
                    <a:bodyPr/>
                    <a:lstStyle/>
                    <a:p>
                      <a:pPr>
                        <a:buNone/>
                      </a:pPr>
                      <a:r>
                        <a:rPr lang="en-IN" sz="1400"/>
                        <a:t>Slower boot times and file access.</a:t>
                      </a:r>
                    </a:p>
                  </a:txBody>
                  <a:tcPr marL="66558" marR="66558" marT="33279" marB="33279" anchor="ctr"/>
                </a:tc>
                <a:tc>
                  <a:txBody>
                    <a:bodyPr/>
                    <a:lstStyle/>
                    <a:p>
                      <a:pPr>
                        <a:buNone/>
                      </a:pPr>
                      <a:r>
                        <a:rPr lang="en-IN" sz="1400"/>
                        <a:t>Much faster boot times and file access.</a:t>
                      </a:r>
                    </a:p>
                  </a:txBody>
                  <a:tcPr marL="66558" marR="66558" marT="33279" marB="33279" anchor="ctr"/>
                </a:tc>
                <a:extLst>
                  <a:ext uri="{0D108BD9-81ED-4DB2-BD59-A6C34878D82A}">
                    <a16:rowId xmlns:a16="http://schemas.microsoft.com/office/drawing/2014/main" val="4153096711"/>
                  </a:ext>
                </a:extLst>
              </a:tr>
              <a:tr h="532639">
                <a:tc>
                  <a:txBody>
                    <a:bodyPr/>
                    <a:lstStyle/>
                    <a:p>
                      <a:pPr>
                        <a:buNone/>
                      </a:pPr>
                      <a:r>
                        <a:rPr lang="en-IN" sz="1400" b="1"/>
                        <a:t>Durability</a:t>
                      </a:r>
                      <a:endParaRPr lang="en-IN" sz="1400"/>
                    </a:p>
                  </a:txBody>
                  <a:tcPr marL="66558" marR="66558" marT="33279" marB="33279" anchor="ctr"/>
                </a:tc>
                <a:tc>
                  <a:txBody>
                    <a:bodyPr/>
                    <a:lstStyle/>
                    <a:p>
                      <a:pPr>
                        <a:buNone/>
                      </a:pPr>
                      <a:r>
                        <a:rPr lang="en-IN" sz="1400"/>
                        <a:t>Has moving parts, making it prone to damage.</a:t>
                      </a:r>
                    </a:p>
                  </a:txBody>
                  <a:tcPr marL="66558" marR="66558" marT="33279" marB="33279" anchor="ctr"/>
                </a:tc>
                <a:tc>
                  <a:txBody>
                    <a:bodyPr/>
                    <a:lstStyle/>
                    <a:p>
                      <a:pPr>
                        <a:buNone/>
                      </a:pPr>
                      <a:r>
                        <a:rPr lang="en-IN" sz="1400"/>
                        <a:t>More durable and shock-resistant.</a:t>
                      </a:r>
                    </a:p>
                  </a:txBody>
                  <a:tcPr marL="66558" marR="66558" marT="33279" marB="33279" anchor="ctr"/>
                </a:tc>
                <a:extLst>
                  <a:ext uri="{0D108BD9-81ED-4DB2-BD59-A6C34878D82A}">
                    <a16:rowId xmlns:a16="http://schemas.microsoft.com/office/drawing/2014/main" val="107811204"/>
                  </a:ext>
                </a:extLst>
              </a:tr>
              <a:tr h="532639">
                <a:tc>
                  <a:txBody>
                    <a:bodyPr/>
                    <a:lstStyle/>
                    <a:p>
                      <a:pPr>
                        <a:buNone/>
                      </a:pPr>
                      <a:r>
                        <a:rPr lang="en-IN" sz="1400" b="1"/>
                        <a:t>Noise</a:t>
                      </a:r>
                      <a:endParaRPr lang="en-IN" sz="1400"/>
                    </a:p>
                  </a:txBody>
                  <a:tcPr marL="66558" marR="66558" marT="33279" marB="33279" anchor="ctr"/>
                </a:tc>
                <a:tc>
                  <a:txBody>
                    <a:bodyPr/>
                    <a:lstStyle/>
                    <a:p>
                      <a:pPr>
                        <a:buNone/>
                      </a:pPr>
                      <a:r>
                        <a:rPr lang="en-IN" sz="1400"/>
                        <a:t>Produces noise due to spinning disks.</a:t>
                      </a:r>
                    </a:p>
                  </a:txBody>
                  <a:tcPr marL="66558" marR="66558" marT="33279" marB="33279" anchor="ctr"/>
                </a:tc>
                <a:tc>
                  <a:txBody>
                    <a:bodyPr/>
                    <a:lstStyle/>
                    <a:p>
                      <a:pPr>
                        <a:buNone/>
                      </a:pPr>
                      <a:r>
                        <a:rPr lang="en-IN" sz="1400"/>
                        <a:t>Operates silently.</a:t>
                      </a:r>
                    </a:p>
                  </a:txBody>
                  <a:tcPr marL="66558" marR="66558" marT="33279" marB="33279" anchor="ctr"/>
                </a:tc>
                <a:extLst>
                  <a:ext uri="{0D108BD9-81ED-4DB2-BD59-A6C34878D82A}">
                    <a16:rowId xmlns:a16="http://schemas.microsoft.com/office/drawing/2014/main" val="292454436"/>
                  </a:ext>
                </a:extLst>
              </a:tr>
              <a:tr h="532639">
                <a:tc>
                  <a:txBody>
                    <a:bodyPr/>
                    <a:lstStyle/>
                    <a:p>
                      <a:pPr>
                        <a:buNone/>
                      </a:pPr>
                      <a:r>
                        <a:rPr lang="en-IN" sz="1400" b="1" dirty="0"/>
                        <a:t>Power Consumption</a:t>
                      </a:r>
                      <a:endParaRPr lang="en-IN" sz="1400" dirty="0"/>
                    </a:p>
                  </a:txBody>
                  <a:tcPr marL="66558" marR="66558" marT="33279" marB="33279" anchor="ctr"/>
                </a:tc>
                <a:tc>
                  <a:txBody>
                    <a:bodyPr/>
                    <a:lstStyle/>
                    <a:p>
                      <a:pPr>
                        <a:buNone/>
                      </a:pPr>
                      <a:r>
                        <a:rPr lang="en-IN" sz="1400"/>
                        <a:t>Consumes more power.</a:t>
                      </a:r>
                    </a:p>
                  </a:txBody>
                  <a:tcPr marL="66558" marR="66558" marT="33279" marB="33279" anchor="ctr"/>
                </a:tc>
                <a:tc>
                  <a:txBody>
                    <a:bodyPr/>
                    <a:lstStyle/>
                    <a:p>
                      <a:pPr>
                        <a:buNone/>
                      </a:pPr>
                      <a:r>
                        <a:rPr lang="en-IN" sz="1400"/>
                        <a:t>Uses less power, improving battery life.</a:t>
                      </a:r>
                    </a:p>
                  </a:txBody>
                  <a:tcPr marL="66558" marR="66558" marT="33279" marB="33279" anchor="ctr"/>
                </a:tc>
                <a:extLst>
                  <a:ext uri="{0D108BD9-81ED-4DB2-BD59-A6C34878D82A}">
                    <a16:rowId xmlns:a16="http://schemas.microsoft.com/office/drawing/2014/main" val="3254849641"/>
                  </a:ext>
                </a:extLst>
              </a:tr>
              <a:tr h="532639">
                <a:tc>
                  <a:txBody>
                    <a:bodyPr/>
                    <a:lstStyle/>
                    <a:p>
                      <a:pPr>
                        <a:buNone/>
                      </a:pPr>
                      <a:r>
                        <a:rPr lang="en-IN" sz="1400" b="1"/>
                        <a:t>Lifespan</a:t>
                      </a:r>
                      <a:endParaRPr lang="en-IN" sz="1400"/>
                    </a:p>
                  </a:txBody>
                  <a:tcPr marL="66558" marR="66558" marT="33279" marB="33279" anchor="ctr"/>
                </a:tc>
                <a:tc>
                  <a:txBody>
                    <a:bodyPr/>
                    <a:lstStyle/>
                    <a:p>
                      <a:pPr>
                        <a:buNone/>
                      </a:pPr>
                      <a:r>
                        <a:rPr lang="en-IN" sz="1400"/>
                        <a:t>Wears out over time due to mechanical movement.</a:t>
                      </a:r>
                    </a:p>
                  </a:txBody>
                  <a:tcPr marL="66558" marR="66558" marT="33279" marB="33279" anchor="ctr"/>
                </a:tc>
                <a:tc>
                  <a:txBody>
                    <a:bodyPr/>
                    <a:lstStyle/>
                    <a:p>
                      <a:pPr>
                        <a:buNone/>
                      </a:pPr>
                      <a:r>
                        <a:rPr lang="en-IN" sz="1400"/>
                        <a:t>Lasts longer but has limited write cycles.</a:t>
                      </a:r>
                    </a:p>
                  </a:txBody>
                  <a:tcPr marL="66558" marR="66558" marT="33279" marB="33279" anchor="ctr"/>
                </a:tc>
                <a:extLst>
                  <a:ext uri="{0D108BD9-81ED-4DB2-BD59-A6C34878D82A}">
                    <a16:rowId xmlns:a16="http://schemas.microsoft.com/office/drawing/2014/main" val="1060061662"/>
                  </a:ext>
                </a:extLst>
              </a:tr>
              <a:tr h="532639">
                <a:tc>
                  <a:txBody>
                    <a:bodyPr/>
                    <a:lstStyle/>
                    <a:p>
                      <a:pPr>
                        <a:buNone/>
                      </a:pPr>
                      <a:r>
                        <a:rPr lang="en-IN" sz="1400" b="1"/>
                        <a:t>Cost</a:t>
                      </a:r>
                      <a:endParaRPr lang="en-IN" sz="1400"/>
                    </a:p>
                  </a:txBody>
                  <a:tcPr marL="66558" marR="66558" marT="33279" marB="33279" anchor="ctr"/>
                </a:tc>
                <a:tc>
                  <a:txBody>
                    <a:bodyPr/>
                    <a:lstStyle/>
                    <a:p>
                      <a:pPr>
                        <a:buNone/>
                      </a:pPr>
                      <a:r>
                        <a:rPr lang="en-IN" sz="1400"/>
                        <a:t>More affordable per GB, cost-effective for large storage.</a:t>
                      </a:r>
                    </a:p>
                  </a:txBody>
                  <a:tcPr marL="66558" marR="66558" marT="33279" marB="33279" anchor="ctr"/>
                </a:tc>
                <a:tc>
                  <a:txBody>
                    <a:bodyPr/>
                    <a:lstStyle/>
                    <a:p>
                      <a:pPr>
                        <a:buNone/>
                      </a:pPr>
                      <a:r>
                        <a:rPr lang="en-IN" sz="1400"/>
                        <a:t>More expensive per GB but offers better performance.</a:t>
                      </a:r>
                    </a:p>
                  </a:txBody>
                  <a:tcPr marL="66558" marR="66558" marT="33279" marB="33279" anchor="ctr"/>
                </a:tc>
                <a:extLst>
                  <a:ext uri="{0D108BD9-81ED-4DB2-BD59-A6C34878D82A}">
                    <a16:rowId xmlns:a16="http://schemas.microsoft.com/office/drawing/2014/main" val="2825918377"/>
                  </a:ext>
                </a:extLst>
              </a:tr>
              <a:tr h="532639">
                <a:tc>
                  <a:txBody>
                    <a:bodyPr/>
                    <a:lstStyle/>
                    <a:p>
                      <a:pPr rtl="0">
                        <a:buNone/>
                      </a:pPr>
                      <a:r>
                        <a:rPr lang="en-IN" sz="1400" b="1"/>
                        <a:t>Reliability</a:t>
                      </a:r>
                      <a:endParaRPr lang="en-IN" sz="1400"/>
                    </a:p>
                  </a:txBody>
                  <a:tcPr marL="66558" marR="66558" marT="33279" marB="33279" anchor="ctr"/>
                </a:tc>
                <a:tc>
                  <a:txBody>
                    <a:bodyPr/>
                    <a:lstStyle/>
                    <a:p>
                      <a:pPr rtl="0">
                        <a:buNone/>
                      </a:pPr>
                      <a:r>
                        <a:rPr lang="en-IN" sz="1400" dirty="0"/>
                        <a:t>Less reliable due to moving parts (e.g., head crash)</a:t>
                      </a:r>
                    </a:p>
                  </a:txBody>
                  <a:tcPr marL="66558" marR="66558" marT="33279" marB="33279" anchor="ctr"/>
                </a:tc>
                <a:tc>
                  <a:txBody>
                    <a:bodyPr/>
                    <a:lstStyle/>
                    <a:p>
                      <a:pPr rtl="0">
                        <a:buNone/>
                      </a:pPr>
                      <a:r>
                        <a:rPr lang="en-IN" sz="1400" dirty="0"/>
                        <a:t>More reliable (no moving parts, less risk of failure)</a:t>
                      </a:r>
                    </a:p>
                  </a:txBody>
                  <a:tcPr marL="66558" marR="66558" marT="33279" marB="33279" anchor="ctr"/>
                </a:tc>
                <a:extLst>
                  <a:ext uri="{0D108BD9-81ED-4DB2-BD59-A6C34878D82A}">
                    <a16:rowId xmlns:a16="http://schemas.microsoft.com/office/drawing/2014/main" val="1750085566"/>
                  </a:ext>
                </a:extLst>
              </a:tr>
              <a:tr h="532639">
                <a:tc>
                  <a:txBody>
                    <a:bodyPr/>
                    <a:lstStyle/>
                    <a:p>
                      <a:pPr rtl="0">
                        <a:buNone/>
                      </a:pPr>
                      <a:r>
                        <a:rPr lang="en-IN" sz="1400" b="1" dirty="0"/>
                        <a:t>Data Fragmentation</a:t>
                      </a:r>
                      <a:endParaRPr lang="en-IN" sz="1400" dirty="0"/>
                    </a:p>
                  </a:txBody>
                  <a:tcPr marL="66558" marR="66558" marT="33279" marB="33279" anchor="ctr"/>
                </a:tc>
                <a:tc>
                  <a:txBody>
                    <a:bodyPr/>
                    <a:lstStyle/>
                    <a:p>
                      <a:pPr rtl="0">
                        <a:buNone/>
                      </a:pPr>
                      <a:r>
                        <a:rPr lang="en-IN" sz="1400"/>
                        <a:t>Performance can suffer from fragmentation</a:t>
                      </a:r>
                    </a:p>
                  </a:txBody>
                  <a:tcPr marL="66558" marR="66558" marT="33279" marB="33279" anchor="ctr"/>
                </a:tc>
                <a:tc>
                  <a:txBody>
                    <a:bodyPr/>
                    <a:lstStyle/>
                    <a:p>
                      <a:pPr rtl="0">
                        <a:buNone/>
                      </a:pPr>
                      <a:r>
                        <a:rPr lang="en-IN" sz="1400" dirty="0"/>
                        <a:t>No fragmentation; performance remains consistent</a:t>
                      </a:r>
                    </a:p>
                  </a:txBody>
                  <a:tcPr marL="66558" marR="66558" marT="33279" marB="33279" anchor="ctr"/>
                </a:tc>
                <a:extLst>
                  <a:ext uri="{0D108BD9-81ED-4DB2-BD59-A6C34878D82A}">
                    <a16:rowId xmlns:a16="http://schemas.microsoft.com/office/drawing/2014/main" val="3407769177"/>
                  </a:ext>
                </a:extLst>
              </a:tr>
            </a:tbl>
          </a:graphicData>
        </a:graphic>
      </p:graphicFrame>
    </p:spTree>
    <p:extLst>
      <p:ext uri="{BB962C8B-B14F-4D97-AF65-F5344CB8AC3E}">
        <p14:creationId xmlns:p14="http://schemas.microsoft.com/office/powerpoint/2010/main" val="1250605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5FB1FA1-E601-5129-CA6D-93B1C9D4FC73}"/>
              </a:ext>
            </a:extLst>
          </p:cNvPr>
          <p:cNvSpPr>
            <a:spLocks noGrp="1"/>
          </p:cNvSpPr>
          <p:nvPr>
            <p:ph type="subTitle" idx="1"/>
          </p:nvPr>
        </p:nvSpPr>
        <p:spPr>
          <a:xfrm>
            <a:off x="495300" y="885463"/>
            <a:ext cx="8153400" cy="5422740"/>
          </a:xfrm>
        </p:spPr>
        <p:txBody>
          <a:bodyPr/>
          <a:lstStyle/>
          <a:p>
            <a:pPr algn="just"/>
            <a:r>
              <a:rPr lang="en-IN" sz="2000" b="1" dirty="0">
                <a:solidFill>
                  <a:schemeClr val="tx1"/>
                </a:solidFill>
              </a:rPr>
              <a:t>What is the main difference between HDD and SSD?</a:t>
            </a:r>
          </a:p>
          <a:p>
            <a:pPr algn="just"/>
            <a:endParaRPr lang="en-IN" sz="2000" dirty="0">
              <a:solidFill>
                <a:schemeClr val="tx1"/>
              </a:solidFill>
            </a:endParaRPr>
          </a:p>
          <a:p>
            <a:pPr lvl="0" algn="just"/>
            <a:r>
              <a:rPr lang="en-IN" sz="2000" dirty="0">
                <a:solidFill>
                  <a:schemeClr val="tx1"/>
                </a:solidFill>
              </a:rPr>
              <a:t>A HDD uses flash memory, SSD uses magnetic disks</a:t>
            </a:r>
          </a:p>
          <a:p>
            <a:pPr lvl="0" algn="just"/>
            <a:r>
              <a:rPr lang="en-IN" sz="2000" dirty="0">
                <a:solidFill>
                  <a:schemeClr val="tx1"/>
                </a:solidFill>
              </a:rPr>
              <a:t>B HDD uses mechanical parts, SSD uses electronic memory</a:t>
            </a:r>
          </a:p>
          <a:p>
            <a:pPr lvl="0" algn="just"/>
            <a:r>
              <a:rPr lang="en-IN" sz="2000" dirty="0">
                <a:solidFill>
                  <a:schemeClr val="tx1"/>
                </a:solidFill>
              </a:rPr>
              <a:t>C Both use mechanical parts</a:t>
            </a:r>
          </a:p>
          <a:p>
            <a:pPr lvl="0" algn="just"/>
            <a:r>
              <a:rPr lang="en-IN" sz="2000" dirty="0">
                <a:solidFill>
                  <a:schemeClr val="tx1"/>
                </a:solidFill>
              </a:rPr>
              <a:t>D Both use magnetic storage</a:t>
            </a:r>
          </a:p>
          <a:p>
            <a:pPr lvl="0" algn="just"/>
            <a:endParaRPr lang="en-IN" sz="2000" dirty="0">
              <a:solidFill>
                <a:schemeClr val="tx1"/>
              </a:solidFill>
            </a:endParaRPr>
          </a:p>
          <a:p>
            <a:pPr marL="92075" indent="-66675" algn="just"/>
            <a:r>
              <a:rPr lang="en-IN" sz="2000" b="1" dirty="0">
                <a:solidFill>
                  <a:schemeClr val="tx1"/>
                </a:solidFill>
              </a:rPr>
              <a:t>Which storage device provides faster data access and boot time?</a:t>
            </a:r>
          </a:p>
          <a:p>
            <a:pPr marL="92075" indent="-66675" algn="just"/>
            <a:endParaRPr lang="en-IN" sz="2000" dirty="0">
              <a:solidFill>
                <a:schemeClr val="tx1"/>
              </a:solidFill>
            </a:endParaRPr>
          </a:p>
          <a:p>
            <a:pPr lvl="0" algn="just"/>
            <a:r>
              <a:rPr lang="en-IN" sz="2000" dirty="0">
                <a:solidFill>
                  <a:schemeClr val="tx1"/>
                </a:solidFill>
              </a:rPr>
              <a:t>A HDD</a:t>
            </a:r>
          </a:p>
          <a:p>
            <a:pPr lvl="0" algn="just"/>
            <a:r>
              <a:rPr lang="en-IN" sz="2000" dirty="0">
                <a:solidFill>
                  <a:schemeClr val="tx1"/>
                </a:solidFill>
              </a:rPr>
              <a:t>B SSD</a:t>
            </a:r>
          </a:p>
          <a:p>
            <a:pPr lvl="0" algn="just"/>
            <a:r>
              <a:rPr lang="en-IN" sz="2000" dirty="0">
                <a:solidFill>
                  <a:schemeClr val="tx1"/>
                </a:solidFill>
              </a:rPr>
              <a:t>C CD-ROM</a:t>
            </a:r>
          </a:p>
          <a:p>
            <a:pPr lvl="0" algn="just"/>
            <a:r>
              <a:rPr lang="en-IN" sz="2000" dirty="0">
                <a:solidFill>
                  <a:schemeClr val="tx1"/>
                </a:solidFill>
              </a:rPr>
              <a:t>D Floppy Disk</a:t>
            </a:r>
          </a:p>
          <a:p>
            <a:pPr lvl="0" algn="just"/>
            <a:endParaRPr lang="en-IN" sz="2000" dirty="0">
              <a:solidFill>
                <a:schemeClr val="tx1"/>
              </a:solidFill>
            </a:endParaRPr>
          </a:p>
          <a:p>
            <a:pPr algn="just"/>
            <a:endParaRPr lang="en-IN" sz="2000" dirty="0">
              <a:solidFill>
                <a:schemeClr val="tx1"/>
              </a:solidFill>
            </a:endParaRPr>
          </a:p>
        </p:txBody>
      </p:sp>
    </p:spTree>
    <p:extLst>
      <p:ext uri="{BB962C8B-B14F-4D97-AF65-F5344CB8AC3E}">
        <p14:creationId xmlns:p14="http://schemas.microsoft.com/office/powerpoint/2010/main" val="2424179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A7274D-6D4B-C76D-16BF-A242E2E4B3AA}"/>
              </a:ext>
            </a:extLst>
          </p:cNvPr>
          <p:cNvSpPr txBox="1"/>
          <p:nvPr/>
        </p:nvSpPr>
        <p:spPr>
          <a:xfrm>
            <a:off x="694479" y="811385"/>
            <a:ext cx="7095281" cy="1893339"/>
          </a:xfrm>
          <a:prstGeom prst="rect">
            <a:avLst/>
          </a:prstGeom>
          <a:noFill/>
        </p:spPr>
        <p:txBody>
          <a:bodyPr wrap="square">
            <a:spAutoFit/>
          </a:bodyPr>
          <a:lstStyle/>
          <a:p>
            <a:pPr rtl="0">
              <a:lnSpc>
                <a:spcPct val="150000"/>
              </a:lnSpc>
            </a:pPr>
            <a:r>
              <a:rPr lang="en-IN" sz="1600" b="1" dirty="0">
                <a:solidFill>
                  <a:srgbClr val="273329"/>
                </a:solidFill>
                <a:effectLst/>
              </a:rPr>
              <a:t>Why is SSD considered more durable than HDD</a:t>
            </a:r>
            <a:r>
              <a:rPr lang="en-IN" sz="1600" dirty="0">
                <a:solidFill>
                  <a:srgbClr val="273329"/>
                </a:solidFill>
                <a:effectLst/>
              </a:rPr>
              <a:t>?</a:t>
            </a:r>
          </a:p>
          <a:p>
            <a:pPr lvl="0">
              <a:lnSpc>
                <a:spcPct val="150000"/>
              </a:lnSpc>
            </a:pPr>
            <a:r>
              <a:rPr lang="en-IN" sz="1600" dirty="0"/>
              <a:t>A </a:t>
            </a:r>
            <a:r>
              <a:rPr lang="en-IN" sz="1600" dirty="0">
                <a:effectLst/>
              </a:rPr>
              <a:t>It uses magnetic disks</a:t>
            </a:r>
          </a:p>
          <a:p>
            <a:pPr lvl="0">
              <a:lnSpc>
                <a:spcPct val="150000"/>
              </a:lnSpc>
            </a:pPr>
            <a:r>
              <a:rPr lang="en-IN" sz="1600" dirty="0"/>
              <a:t>B </a:t>
            </a:r>
            <a:r>
              <a:rPr lang="en-IN" sz="1600" dirty="0">
                <a:effectLst/>
              </a:rPr>
              <a:t>It has larger storage</a:t>
            </a:r>
          </a:p>
          <a:p>
            <a:pPr lvl="0">
              <a:lnSpc>
                <a:spcPct val="150000"/>
              </a:lnSpc>
            </a:pPr>
            <a:r>
              <a:rPr lang="en-IN" sz="1600" dirty="0"/>
              <a:t>C </a:t>
            </a:r>
            <a:r>
              <a:rPr lang="en-IN" sz="1600" dirty="0">
                <a:effectLst/>
              </a:rPr>
              <a:t>It has no moving parts</a:t>
            </a:r>
          </a:p>
          <a:p>
            <a:pPr lvl="0">
              <a:lnSpc>
                <a:spcPct val="150000"/>
              </a:lnSpc>
            </a:pPr>
            <a:r>
              <a:rPr lang="en-IN" sz="1600" dirty="0"/>
              <a:t>D </a:t>
            </a:r>
            <a:r>
              <a:rPr lang="en-IN" sz="1600" dirty="0">
                <a:effectLst/>
              </a:rPr>
              <a:t>It is cheaper</a:t>
            </a:r>
          </a:p>
        </p:txBody>
      </p:sp>
      <p:sp>
        <p:nvSpPr>
          <p:cNvPr id="7" name="TextBox 6">
            <a:extLst>
              <a:ext uri="{FF2B5EF4-FFF2-40B4-BE49-F238E27FC236}">
                <a16:creationId xmlns:a16="http://schemas.microsoft.com/office/drawing/2014/main" id="{A6D7B2A9-D752-ABF7-D9BE-69FD42981404}"/>
              </a:ext>
            </a:extLst>
          </p:cNvPr>
          <p:cNvSpPr txBox="1"/>
          <p:nvPr/>
        </p:nvSpPr>
        <p:spPr>
          <a:xfrm>
            <a:off x="694480" y="2704724"/>
            <a:ext cx="7095280" cy="1893339"/>
          </a:xfrm>
          <a:prstGeom prst="rect">
            <a:avLst/>
          </a:prstGeom>
          <a:noFill/>
        </p:spPr>
        <p:txBody>
          <a:bodyPr wrap="square">
            <a:spAutoFit/>
          </a:bodyPr>
          <a:lstStyle/>
          <a:p>
            <a:pPr rtl="0">
              <a:lnSpc>
                <a:spcPct val="150000"/>
              </a:lnSpc>
            </a:pPr>
            <a:r>
              <a:rPr lang="en-IN" sz="1600" b="1" dirty="0">
                <a:solidFill>
                  <a:srgbClr val="273329"/>
                </a:solidFill>
                <a:effectLst/>
              </a:rPr>
              <a:t>Which device is more cost-effective for large data storage?</a:t>
            </a:r>
          </a:p>
          <a:p>
            <a:pPr lvl="0">
              <a:lnSpc>
                <a:spcPct val="150000"/>
              </a:lnSpc>
            </a:pPr>
            <a:r>
              <a:rPr lang="en-IN" sz="1600" dirty="0"/>
              <a:t>A </a:t>
            </a:r>
            <a:r>
              <a:rPr lang="en-IN" sz="1600" dirty="0">
                <a:effectLst/>
              </a:rPr>
              <a:t>SSD</a:t>
            </a:r>
          </a:p>
          <a:p>
            <a:pPr lvl="0">
              <a:lnSpc>
                <a:spcPct val="150000"/>
              </a:lnSpc>
            </a:pPr>
            <a:r>
              <a:rPr lang="en-IN" sz="1600" dirty="0"/>
              <a:t>B </a:t>
            </a:r>
            <a:r>
              <a:rPr lang="en-IN" sz="1600" dirty="0">
                <a:effectLst/>
              </a:rPr>
              <a:t>HDD</a:t>
            </a:r>
          </a:p>
          <a:p>
            <a:pPr lvl="0">
              <a:lnSpc>
                <a:spcPct val="150000"/>
              </a:lnSpc>
            </a:pPr>
            <a:r>
              <a:rPr lang="en-IN" sz="1600" dirty="0"/>
              <a:t>C </a:t>
            </a:r>
            <a:r>
              <a:rPr lang="en-IN" sz="1600" dirty="0">
                <a:effectLst/>
              </a:rPr>
              <a:t>Both are equal</a:t>
            </a:r>
          </a:p>
          <a:p>
            <a:pPr lvl="0">
              <a:lnSpc>
                <a:spcPct val="150000"/>
              </a:lnSpc>
            </a:pPr>
            <a:r>
              <a:rPr lang="en-IN" sz="1600" dirty="0"/>
              <a:t>D </a:t>
            </a:r>
            <a:r>
              <a:rPr lang="en-IN" sz="1600" dirty="0">
                <a:effectLst/>
              </a:rPr>
              <a:t>Optical Disk</a:t>
            </a:r>
          </a:p>
        </p:txBody>
      </p:sp>
      <p:sp>
        <p:nvSpPr>
          <p:cNvPr id="9" name="TextBox 8">
            <a:extLst>
              <a:ext uri="{FF2B5EF4-FFF2-40B4-BE49-F238E27FC236}">
                <a16:creationId xmlns:a16="http://schemas.microsoft.com/office/drawing/2014/main" id="{F49BDAF1-8C27-0A80-282D-9F975ECE479F}"/>
              </a:ext>
            </a:extLst>
          </p:cNvPr>
          <p:cNvSpPr txBox="1"/>
          <p:nvPr/>
        </p:nvSpPr>
        <p:spPr>
          <a:xfrm>
            <a:off x="694479" y="4598063"/>
            <a:ext cx="6597570" cy="1893339"/>
          </a:xfrm>
          <a:prstGeom prst="rect">
            <a:avLst/>
          </a:prstGeom>
          <a:noFill/>
        </p:spPr>
        <p:txBody>
          <a:bodyPr wrap="square">
            <a:spAutoFit/>
          </a:bodyPr>
          <a:lstStyle/>
          <a:p>
            <a:pPr rtl="0">
              <a:lnSpc>
                <a:spcPct val="150000"/>
              </a:lnSpc>
            </a:pPr>
            <a:r>
              <a:rPr lang="en-IN" sz="1600" b="1" dirty="0">
                <a:solidFill>
                  <a:srgbClr val="273329"/>
                </a:solidFill>
                <a:effectLst/>
              </a:rPr>
              <a:t>What is a disadvantage of HDD compared to SSD?</a:t>
            </a:r>
          </a:p>
          <a:p>
            <a:pPr lvl="0">
              <a:lnSpc>
                <a:spcPct val="150000"/>
              </a:lnSpc>
            </a:pPr>
            <a:r>
              <a:rPr lang="en-IN" sz="1600" dirty="0"/>
              <a:t>A </a:t>
            </a:r>
            <a:r>
              <a:rPr lang="en-IN" sz="1600" dirty="0">
                <a:effectLst/>
              </a:rPr>
              <a:t>Higher power consumption</a:t>
            </a:r>
          </a:p>
          <a:p>
            <a:pPr lvl="0">
              <a:lnSpc>
                <a:spcPct val="150000"/>
              </a:lnSpc>
            </a:pPr>
            <a:r>
              <a:rPr lang="en-IN" sz="1600" dirty="0"/>
              <a:t>B </a:t>
            </a:r>
            <a:r>
              <a:rPr lang="en-IN" sz="1600" dirty="0">
                <a:effectLst/>
              </a:rPr>
              <a:t>Silent operation</a:t>
            </a:r>
          </a:p>
          <a:p>
            <a:pPr lvl="0">
              <a:lnSpc>
                <a:spcPct val="150000"/>
              </a:lnSpc>
            </a:pPr>
            <a:r>
              <a:rPr lang="en-IN" sz="1600" dirty="0"/>
              <a:t>C </a:t>
            </a:r>
            <a:r>
              <a:rPr lang="en-IN" sz="1600" dirty="0">
                <a:effectLst/>
              </a:rPr>
              <a:t>Faster performance</a:t>
            </a:r>
          </a:p>
          <a:p>
            <a:pPr lvl="0">
              <a:lnSpc>
                <a:spcPct val="150000"/>
              </a:lnSpc>
            </a:pPr>
            <a:r>
              <a:rPr lang="en-IN" sz="1600" dirty="0"/>
              <a:t>D </a:t>
            </a:r>
            <a:r>
              <a:rPr lang="en-IN" sz="1600" dirty="0">
                <a:effectLst/>
              </a:rPr>
              <a:t>No fragmentation</a:t>
            </a:r>
          </a:p>
        </p:txBody>
      </p:sp>
    </p:spTree>
    <p:extLst>
      <p:ext uri="{BB962C8B-B14F-4D97-AF65-F5344CB8AC3E}">
        <p14:creationId xmlns:p14="http://schemas.microsoft.com/office/powerpoint/2010/main" val="3873242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2FC37C4-27F3-7D5C-8E67-B53F0C75A5A7}"/>
              </a:ext>
            </a:extLst>
          </p:cNvPr>
          <p:cNvSpPr>
            <a:spLocks noGrp="1"/>
          </p:cNvSpPr>
          <p:nvPr>
            <p:ph type="subTitle" idx="1"/>
          </p:nvPr>
        </p:nvSpPr>
        <p:spPr>
          <a:xfrm>
            <a:off x="533400" y="2306320"/>
            <a:ext cx="8153400" cy="3789680"/>
          </a:xfrm>
        </p:spPr>
        <p:txBody>
          <a:bodyPr/>
          <a:lstStyle/>
          <a:p>
            <a:endParaRPr lang="en-IN" sz="4000" b="1" dirty="0">
              <a:solidFill>
                <a:schemeClr val="accent6"/>
              </a:solidFill>
            </a:endParaRPr>
          </a:p>
          <a:p>
            <a:r>
              <a:rPr lang="en-IN" sz="4000" b="1" dirty="0">
                <a:solidFill>
                  <a:schemeClr val="accent6"/>
                </a:solidFill>
              </a:rPr>
              <a:t>Thank You</a:t>
            </a:r>
          </a:p>
        </p:txBody>
      </p:sp>
    </p:spTree>
    <p:extLst>
      <p:ext uri="{BB962C8B-B14F-4D97-AF65-F5344CB8AC3E}">
        <p14:creationId xmlns:p14="http://schemas.microsoft.com/office/powerpoint/2010/main" val="121753538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2903</TotalTime>
  <Words>2440</Words>
  <Application>Microsoft Office PowerPoint</Application>
  <PresentationFormat>On-screen Show (4:3)</PresentationFormat>
  <Paragraphs>237</Paragraphs>
  <Slides>26</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Times New Roman</vt:lpstr>
      <vt:lpstr>Wingdings</vt:lpstr>
      <vt:lpstr>Office Theme</vt:lpstr>
      <vt:lpstr>PowerPoint Presentation</vt:lpstr>
      <vt:lpstr>UNIT-2 -Memory Hierarchy and Classification </vt:lpstr>
      <vt:lpstr>Introduction to Memory and Memory Units</vt:lpstr>
      <vt:lpstr>Memory Unit</vt:lpstr>
      <vt:lpstr>PowerPoint Presentation</vt:lpstr>
      <vt:lpstr>Volatile and Non-Volatile Memory</vt:lpstr>
      <vt:lpstr>PowerPoint Presentation</vt:lpstr>
      <vt:lpstr>SRAM (Static RAM) </vt:lpstr>
      <vt:lpstr>Real life applications of SRAM</vt:lpstr>
      <vt:lpstr>DRAM (Dynamic Random Access Memory) </vt:lpstr>
      <vt:lpstr>PowerPoint Presentation</vt:lpstr>
      <vt:lpstr>Difference between SRAM and DRAM</vt:lpstr>
      <vt:lpstr>PowerPoint Presentation</vt:lpstr>
      <vt:lpstr>Types of ROM</vt:lpstr>
      <vt:lpstr>Types of Memory in a Computer System</vt:lpstr>
      <vt:lpstr>PowerPoint Presentation</vt:lpstr>
      <vt:lpstr>Hard Disk Drive (HDD) vs Solid State Drive (SSD)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dc:creator>
  <cp:lastModifiedBy>TAJINDER KAUR</cp:lastModifiedBy>
  <cp:revision>52</cp:revision>
  <dcterms:created xsi:type="dcterms:W3CDTF">2010-04-09T07:36:00Z</dcterms:created>
  <dcterms:modified xsi:type="dcterms:W3CDTF">2026-09-08T09:16:29Z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E902465EB90644BEAC40B33CBD587F7A_13</vt:lpwstr>
  </property>
  <property fmtid="{D5CDD505-2E9C-101B-9397-08002B2CF9AE}" pid="3" name="KSOProductBuildVer">
    <vt:lpwstr>1033-12.2.0.17562</vt:lpwstr>
  </property>
</Properties>
</file>